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4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5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6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7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5a76cadc69440b" /><Relationship Type="http://schemas.openxmlformats.org/officeDocument/2006/relationships/extended-properties" Target="/docProps/app.xml" Id="Rffc270adb4e24c89" /><Relationship Type="http://schemas.openxmlformats.org/officeDocument/2006/relationships/officeDocument" Target="/ppt/presentation.xml" Id="R9495c5e50ec84a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5811ae15c6451f"/>
  </p:sldMasterIdLst>
  <p:notesMasterIdLst>
    <p:notesMasterId xmlns:r="http://schemas.openxmlformats.org/officeDocument/2006/relationships" r:id="R27279fa52d4548b3"/>
  </p:notesMasterIdLst>
  <p:sldIdLst>
    <p:sldId xmlns:r="http://schemas.openxmlformats.org/officeDocument/2006/relationships" id="256" r:id="R809e8428ea6c4018"/>
    <p:sldId xmlns:r="http://schemas.openxmlformats.org/officeDocument/2006/relationships" id="257" r:id="R0b147cf32ca04f9f"/>
    <p:sldId xmlns:r="http://schemas.openxmlformats.org/officeDocument/2006/relationships" id="258" r:id="R0039f8b8f8694ec9"/>
    <p:sldId xmlns:r="http://schemas.openxmlformats.org/officeDocument/2006/relationships" id="259" r:id="R685ca0b27b04459e"/>
    <p:sldId xmlns:r="http://schemas.openxmlformats.org/officeDocument/2006/relationships" id="260" r:id="R0277be93e9ef4ed0"/>
    <p:sldId xmlns:r="http://schemas.openxmlformats.org/officeDocument/2006/relationships" id="261" r:id="R9a80d3a1a73f4295"/>
    <p:sldId xmlns:r="http://schemas.openxmlformats.org/officeDocument/2006/relationships" id="262" r:id="R19b69c08ff9d47e5"/>
    <p:sldId xmlns:r="http://schemas.openxmlformats.org/officeDocument/2006/relationships" id="263" r:id="Rb9401e873b2e4906"/>
    <p:sldId xmlns:r="http://schemas.openxmlformats.org/officeDocument/2006/relationships" id="264" r:id="R77f9858cdd7e4627"/>
    <p:sldId xmlns:r="http://schemas.openxmlformats.org/officeDocument/2006/relationships" id="265" r:id="Rd64f535530ae422b"/>
    <p:sldId xmlns:r="http://schemas.openxmlformats.org/officeDocument/2006/relationships" id="266" r:id="R67efbb6c0f3744a5"/>
    <p:sldId xmlns:r="http://schemas.openxmlformats.org/officeDocument/2006/relationships" id="267" r:id="R4a024c0c12f14b34"/>
    <p:sldId xmlns:r="http://schemas.openxmlformats.org/officeDocument/2006/relationships" id="268" r:id="R57fc743e33984689"/>
    <p:sldId xmlns:r="http://schemas.openxmlformats.org/officeDocument/2006/relationships" id="269" r:id="R556208d9157e481f"/>
    <p:sldId xmlns:r="http://schemas.openxmlformats.org/officeDocument/2006/relationships" id="270" r:id="Rc3cb8663825144dc"/>
    <p:sldId xmlns:r="http://schemas.openxmlformats.org/officeDocument/2006/relationships" id="271" r:id="Rc0ee047c9a2e46bd"/>
    <p:sldId xmlns:r="http://schemas.openxmlformats.org/officeDocument/2006/relationships" id="272" r:id="R0ef6a32c93a34aaa"/>
    <p:sldId xmlns:r="http://schemas.openxmlformats.org/officeDocument/2006/relationships" id="273" r:id="Re5f1a8f5a4014104"/>
    <p:sldId xmlns:r="http://schemas.openxmlformats.org/officeDocument/2006/relationships" id="274" r:id="R1913e136d4e641d4"/>
    <p:sldId xmlns:r="http://schemas.openxmlformats.org/officeDocument/2006/relationships" id="275" r:id="Re5f31eb0de0642f0"/>
    <p:sldId xmlns:r="http://schemas.openxmlformats.org/officeDocument/2006/relationships" id="276" r:id="Ra9040d1917ee4da8"/>
    <p:sldId xmlns:r="http://schemas.openxmlformats.org/officeDocument/2006/relationships" id="277" r:id="Rdda7baf81e7b4c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7a5842a4f04de8" /><Relationship Type="http://schemas.openxmlformats.org/officeDocument/2006/relationships/slideMaster" Target="/ppt/slideMasters/slideMaster1.xml" Id="R025811ae15c6451f" /><Relationship Type="http://schemas.openxmlformats.org/officeDocument/2006/relationships/notesMaster" Target="/ppt/notesMasters/notesMaster1.xml" Id="R27279fa52d4548b3" /><Relationship Type="http://schemas.openxmlformats.org/officeDocument/2006/relationships/presProps" Target="/ppt/presProps.xml" Id="R77a7ba3f66b64967" /><Relationship Type="http://schemas.openxmlformats.org/officeDocument/2006/relationships/tableStyles" Target="/ppt/tableStyles.xml" Id="R0eaef51b391f4bc1" /><Relationship Type="http://schemas.openxmlformats.org/officeDocument/2006/relationships/slide" Target="/ppt/slides/slide1.xml" Id="R809e8428ea6c4018" /><Relationship Type="http://schemas.openxmlformats.org/officeDocument/2006/relationships/slide" Target="/ppt/slides/slide2.xml" Id="R0b147cf32ca04f9f" /><Relationship Type="http://schemas.openxmlformats.org/officeDocument/2006/relationships/slide" Target="/ppt/slides/slide3.xml" Id="R0039f8b8f8694ec9" /><Relationship Type="http://schemas.openxmlformats.org/officeDocument/2006/relationships/slide" Target="/ppt/slides/slide4.xml" Id="R685ca0b27b04459e" /><Relationship Type="http://schemas.openxmlformats.org/officeDocument/2006/relationships/slide" Target="/ppt/slides/slide5.xml" Id="R0277be93e9ef4ed0" /><Relationship Type="http://schemas.openxmlformats.org/officeDocument/2006/relationships/slide" Target="/ppt/slides/slide6.xml" Id="R9a80d3a1a73f4295" /><Relationship Type="http://schemas.openxmlformats.org/officeDocument/2006/relationships/slide" Target="/ppt/slides/slide7.xml" Id="R19b69c08ff9d47e5" /><Relationship Type="http://schemas.openxmlformats.org/officeDocument/2006/relationships/slide" Target="/ppt/slides/slide8.xml" Id="Rb9401e873b2e4906" /><Relationship Type="http://schemas.openxmlformats.org/officeDocument/2006/relationships/slide" Target="/ppt/slides/slide9.xml" Id="R77f9858cdd7e4627" /><Relationship Type="http://schemas.openxmlformats.org/officeDocument/2006/relationships/slide" Target="/ppt/slides/slide10.xml" Id="Rd64f535530ae422b" /><Relationship Type="http://schemas.openxmlformats.org/officeDocument/2006/relationships/slide" Target="/ppt/slides/slide11.xml" Id="R67efbb6c0f3744a5" /><Relationship Type="http://schemas.openxmlformats.org/officeDocument/2006/relationships/slide" Target="/ppt/slides/slide12.xml" Id="R4a024c0c12f14b34" /><Relationship Type="http://schemas.openxmlformats.org/officeDocument/2006/relationships/slide" Target="/ppt/slides/slide13.xml" Id="R57fc743e33984689" /><Relationship Type="http://schemas.openxmlformats.org/officeDocument/2006/relationships/slide" Target="/ppt/slides/slide14.xml" Id="R556208d9157e481f" /><Relationship Type="http://schemas.openxmlformats.org/officeDocument/2006/relationships/slide" Target="/ppt/slides/slide15.xml" Id="Rc3cb8663825144dc" /><Relationship Type="http://schemas.openxmlformats.org/officeDocument/2006/relationships/slide" Target="/ppt/slides/slide16.xml" Id="Rc0ee047c9a2e46bd" /><Relationship Type="http://schemas.openxmlformats.org/officeDocument/2006/relationships/slide" Target="/ppt/slides/slide17.xml" Id="R0ef6a32c93a34aaa" /><Relationship Type="http://schemas.openxmlformats.org/officeDocument/2006/relationships/slide" Target="/ppt/slides/slide18.xml" Id="Re5f1a8f5a4014104" /><Relationship Type="http://schemas.openxmlformats.org/officeDocument/2006/relationships/slide" Target="/ppt/slides/slide19.xml" Id="R1913e136d4e641d4" /><Relationship Type="http://schemas.openxmlformats.org/officeDocument/2006/relationships/slide" Target="/ppt/slides/slide20.xml" Id="Re5f31eb0de0642f0" /><Relationship Type="http://schemas.openxmlformats.org/officeDocument/2006/relationships/slide" Target="/ppt/slides/slide21.xml" Id="Ra9040d1917ee4da8" /><Relationship Type="http://schemas.openxmlformats.org/officeDocument/2006/relationships/slide" Target="/ppt/slides/slide22.xml" Id="Rdda7baf81e7b4c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8d03c91a5748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0be573cee14894" /><Relationship Type="http://schemas.openxmlformats.org/officeDocument/2006/relationships/notesMaster" Target="/ppt/notesMasters/notesMaster1.xml" Id="Rc191753fbaec4d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d8c4a3ed5046e7" /><Relationship Type="http://schemas.openxmlformats.org/officeDocument/2006/relationships/notesMaster" Target="/ppt/notesMasters/notesMaster1.xml" Id="R199a03c41eb247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d8da0d758242b7" /><Relationship Type="http://schemas.openxmlformats.org/officeDocument/2006/relationships/notesMaster" Target="/ppt/notesMasters/notesMaster1.xml" Id="R0ddf6d5fb55147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903a8c4d3e4fa0" /><Relationship Type="http://schemas.openxmlformats.org/officeDocument/2006/relationships/notesMaster" Target="/ppt/notesMasters/notesMaster1.xml" Id="Rcdfefe2c38f34d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8e4e1732b34353" /><Relationship Type="http://schemas.openxmlformats.org/officeDocument/2006/relationships/notesMaster" Target="/ppt/notesMasters/notesMaster1.xml" Id="R9a24f93c8b98423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e6c11b4ddd42f4" /><Relationship Type="http://schemas.openxmlformats.org/officeDocument/2006/relationships/notesMaster" Target="/ppt/notesMasters/notesMaster1.xml" Id="R56810737455243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f50d7227b249b7" /><Relationship Type="http://schemas.openxmlformats.org/officeDocument/2006/relationships/notesMaster" Target="/ppt/notesMasters/notesMaster1.xml" Id="Rfeda69edb40d4c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1b52a44a57453e" /><Relationship Type="http://schemas.openxmlformats.org/officeDocument/2006/relationships/notesMaster" Target="/ppt/notesMasters/notesMaster1.xml" Id="R268e5d415a484a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b2aec30ee246b6" /><Relationship Type="http://schemas.openxmlformats.org/officeDocument/2006/relationships/notesMaster" Target="/ppt/notesMasters/notesMaster1.xml" Id="Rd0948a428e69443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8376db1cfd44e58" /><Relationship Type="http://schemas.openxmlformats.org/officeDocument/2006/relationships/notesMaster" Target="/ppt/notesMasters/notesMaster1.xml" Id="R7063841ad544487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7e658b2b1bc458b" /><Relationship Type="http://schemas.openxmlformats.org/officeDocument/2006/relationships/notesMaster" Target="/ppt/notesMasters/notesMaster1.xml" Id="Racb94c7ea27048b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c26a1d1990b4a10" /><Relationship Type="http://schemas.openxmlformats.org/officeDocument/2006/relationships/notesMaster" Target="/ppt/notesMasters/notesMaster1.xml" Id="R19157b13a23d4f1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312556ad4f54077" /><Relationship Type="http://schemas.openxmlformats.org/officeDocument/2006/relationships/notesMaster" Target="/ppt/notesMasters/notesMaster1.xml" Id="R1caab96067f3453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2f9e251b42f47b9" /><Relationship Type="http://schemas.openxmlformats.org/officeDocument/2006/relationships/notesMaster" Target="/ppt/notesMasters/notesMaster1.xml" Id="R2ef488680462435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3ad85bbe5b84042" /><Relationship Type="http://schemas.openxmlformats.org/officeDocument/2006/relationships/notesMaster" Target="/ppt/notesMasters/notesMaster1.xml" Id="Rbb617ea0d936492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37212e188854c94" /><Relationship Type="http://schemas.openxmlformats.org/officeDocument/2006/relationships/notesMaster" Target="/ppt/notesMasters/notesMaster1.xml" Id="R629ee14dbda4418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f84ed92d5874a7c" /><Relationship Type="http://schemas.openxmlformats.org/officeDocument/2006/relationships/notesMaster" Target="/ppt/notesMasters/notesMaster1.xml" Id="R7af56cee0cb140d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b038eb8c4a84704" /><Relationship Type="http://schemas.openxmlformats.org/officeDocument/2006/relationships/notesMaster" Target="/ppt/notesMasters/notesMaster1.xml" Id="Re403b9886bd042f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2986377b1da427f" /><Relationship Type="http://schemas.openxmlformats.org/officeDocument/2006/relationships/notesMaster" Target="/ppt/notesMasters/notesMaster1.xml" Id="R94e039a5c3634bf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dddb34dcec044b6" /><Relationship Type="http://schemas.openxmlformats.org/officeDocument/2006/relationships/notesMaster" Target="/ppt/notesMasters/notesMaster1.xml" Id="R373d7a7acc4549f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1f5ceb4104f4993" /><Relationship Type="http://schemas.openxmlformats.org/officeDocument/2006/relationships/notesMaster" Target="/ppt/notesMasters/notesMaster1.xml" Id="R50b73dd03f0f4ad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281602d309b473c" /><Relationship Type="http://schemas.openxmlformats.org/officeDocument/2006/relationships/notesMaster" Target="/ppt/notesMasters/notesMaster1.xml" Id="Re00ebd61319445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reports/results.json and reports/analysis_tables. Data SHA256 9e0e7d84afb579c7d058b4b581ed8f9311ddd31b9bb99d8b20507d16ca5db2ce</a:t>
            </a:r>
          </a:p>
          <a:p xmlns:a="http://schemas.openxmlformats.org/drawingml/2006/main">
            <a:r>
              <a:t>https://aidsinfo.unaids.org/dataset</a:t>
            </a:r>
          </a:p>
          <a:p xmlns:a="http://schemas.openxmlformats.org/drawingml/2006/main">
            <a:r>
              <a:t>https://www.unaids.org/en/resources/documents/2024/progress-towards-95-95-95</a:t>
            </a:r>
          </a:p>
          <a:p xmlns:a="http://schemas.openxmlformats.org/drawingml/2006/main">
            <a:r>
              <a:t>https://pmc.ncbi.nlm.nih.gov/articles/PMC10769177/</a:t>
            </a:r>
          </a:p>
          <a:p xmlns:a="http://schemas.openxmlformats.org/drawingml/2006/main">
            <a:r>
              <a:t>https://databank.worldbank.org/source/world-development-indicators</a:t>
            </a:r>
          </a:p>
          <a:p xmlns:a="http://schemas.openxmlformats.org/drawingml/2006/main">
            <a:r>
              <a:t>All associations are exploratory ecological comparisons of national estimates.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reports/results.json and reports/analysis_tables. Data SHA256 9e0e7d84afb579c7d058b4b581ed8f9311ddd31b9bb99d8b20507d16ca5db2ce</a:t>
            </a:r>
          </a:p>
          <a:p xmlns:a="http://schemas.openxmlformats.org/drawingml/2006/main">
            <a:r>
              <a:t>https://aidsinfo.unaids.org/dataset</a:t>
            </a:r>
          </a:p>
          <a:p xmlns:a="http://schemas.openxmlformats.org/drawingml/2006/main">
            <a:r>
              <a:t>https://www.unaids.org/en/resources/documents/2024/progress-towards-95-95-95</a:t>
            </a:r>
          </a:p>
          <a:p xmlns:a="http://schemas.openxmlformats.org/drawingml/2006/main">
            <a:r>
              <a:t>https://pmc.ncbi.nlm.nih.gov/articles/PMC10769177/</a:t>
            </a:r>
          </a:p>
          <a:p xmlns:a="http://schemas.openxmlformats.org/drawingml/2006/main">
            <a:r>
              <a:t>https://databank.worldbank.org/source/world-development-indicators</a:t>
            </a:r>
          </a:p>
          <a:p xmlns:a="http://schemas.openxmlformats.org/drawingml/2006/main">
            <a:r>
              <a:t>All associations are exploratory ecological comparisons of national estimates.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reports/results.json and reports/analysis_tables. Data SHA256 9e0e7d84afb579c7d058b4b581ed8f9311ddd31b9bb99d8b20507d16ca5db2ce</a:t>
            </a:r>
          </a:p>
          <a:p xmlns:a="http://schemas.openxmlformats.org/drawingml/2006/main">
            <a:r>
              <a:t>https://aidsinfo.unaids.org/dataset</a:t>
            </a:r>
          </a:p>
          <a:p xmlns:a="http://schemas.openxmlformats.org/drawingml/2006/main">
            <a:r>
              <a:t>https://www.unaids.org/en/resources/documents/2024/progress-towards-95-95-95</a:t>
            </a:r>
          </a:p>
          <a:p xmlns:a="http://schemas.openxmlformats.org/drawingml/2006/main">
            <a:r>
              <a:t>https://pmc.ncbi.nlm.nih.gov/articles/PMC10769177/</a:t>
            </a:r>
          </a:p>
          <a:p xmlns:a="http://schemas.openxmlformats.org/drawingml/2006/main">
            <a:r>
              <a:t>https://databank.worldbank.org/source/world-development-indicators</a:t>
            </a:r>
          </a:p>
          <a:p xmlns:a="http://schemas.openxmlformats.org/drawingml/2006/main">
            <a:r>
              <a:t>All associations are exploratory ecological comparisons of national estimates.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reports/results.json and reports/analysis_tables. Data SHA256 9e0e7d84afb579c7d058b4b581ed8f9311ddd31b9bb99d8b20507d16ca5db2ce</a:t>
            </a:r>
          </a:p>
          <a:p xmlns:a="http://schemas.openxmlformats.org/drawingml/2006/main">
            <a:r>
              <a:t>https://aidsinfo.unaids.org/dataset</a:t>
            </a:r>
          </a:p>
          <a:p xmlns:a="http://schemas.openxmlformats.org/drawingml/2006/main">
            <a:r>
              <a:t>https://www.unaids.org/en/resources/documents/2024/progress-towards-95-95-95</a:t>
            </a:r>
          </a:p>
          <a:p xmlns:a="http://schemas.openxmlformats.org/drawingml/2006/main">
            <a:r>
              <a:t>https://pmc.ncbi.nlm.nih.gov/articles/PMC10769177/</a:t>
            </a:r>
          </a:p>
          <a:p xmlns:a="http://schemas.openxmlformats.org/drawingml/2006/main">
            <a:r>
              <a:t>https://databank.worldbank.org/source/world-development-indicators</a:t>
            </a:r>
          </a:p>
          <a:p xmlns:a="http://schemas.openxmlformats.org/drawingml/2006/main">
            <a:r>
              <a:t>All associations are exploratory ecological comparisons of national estimates.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reports/results.json and reports/analysis_tables. Data SHA256 9e0e7d84afb579c7d058b4b581ed8f9311ddd31b9bb99d8b20507d16ca5db2ce</a:t>
            </a:r>
          </a:p>
          <a:p xmlns:a="http://schemas.openxmlformats.org/drawingml/2006/main">
            <a:r>
              <a:t>https://aidsinfo.unaids.org/dataset</a:t>
            </a:r>
          </a:p>
          <a:p xmlns:a="http://schemas.openxmlformats.org/drawingml/2006/main">
            <a:r>
              <a:t>https://www.unaids.org/en/resources/documents/2024/progress-towards-95-95-95</a:t>
            </a:r>
          </a:p>
          <a:p xmlns:a="http://schemas.openxmlformats.org/drawingml/2006/main">
            <a:r>
              <a:t>https://pmc.ncbi.nlm.nih.gov/articles/PMC10769177/</a:t>
            </a:r>
          </a:p>
          <a:p xmlns:a="http://schemas.openxmlformats.org/drawingml/2006/main">
            <a:r>
              <a:t>https://databank.worldbank.org/source/world-development-indicators</a:t>
            </a:r>
          </a:p>
          <a:p xmlns:a="http://schemas.openxmlformats.org/drawingml/2006/main">
            <a:r>
              <a:t>All associations are exploratory ecological comparisons of national estimates.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reports/results.json and reports/analysis_tables. Data SHA256 9e0e7d84afb579c7d058b4b581ed8f9311ddd31b9bb99d8b20507d16ca5db2ce</a:t>
            </a:r>
          </a:p>
          <a:p xmlns:a="http://schemas.openxmlformats.org/drawingml/2006/main">
            <a:r>
              <a:t>https://aidsinfo.unaids.org/dataset</a:t>
            </a:r>
          </a:p>
          <a:p xmlns:a="http://schemas.openxmlformats.org/drawingml/2006/main">
            <a:r>
              <a:t>https://www.unaids.org/en/resources/documents/2024/progress-towards-95-95-95</a:t>
            </a:r>
          </a:p>
          <a:p xmlns:a="http://schemas.openxmlformats.org/drawingml/2006/main">
            <a:r>
              <a:t>https://pmc.ncbi.nlm.nih.gov/articles/PMC10769177/</a:t>
            </a:r>
          </a:p>
          <a:p xmlns:a="http://schemas.openxmlformats.org/drawingml/2006/main">
            <a:r>
              <a:t>https://databank.worldbank.org/source/world-development-indicators</a:t>
            </a:r>
          </a:p>
          <a:p xmlns:a="http://schemas.openxmlformats.org/drawingml/2006/main">
            <a:r>
              <a:t>All associations are exploratory ecological comparisons of national estimates.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reports/results.json and reports/analysis_tables. Data SHA256 9e0e7d84afb579c7d058b4b581ed8f9311ddd31b9bb99d8b20507d16ca5db2ce</a:t>
            </a:r>
          </a:p>
          <a:p xmlns:a="http://schemas.openxmlformats.org/drawingml/2006/main">
            <a:r>
              <a:t>https://aidsinfo.unaids.org/dataset</a:t>
            </a:r>
          </a:p>
          <a:p xmlns:a="http://schemas.openxmlformats.org/drawingml/2006/main">
            <a:r>
              <a:t>https://www.unaids.org/en/resources/documents/2024/progress-towards-95-95-95</a:t>
            </a:r>
          </a:p>
          <a:p xmlns:a="http://schemas.openxmlformats.org/drawingml/2006/main">
            <a:r>
              <a:t>https://pmc.ncbi.nlm.nih.gov/articles/PMC10769177/</a:t>
            </a:r>
          </a:p>
          <a:p xmlns:a="http://schemas.openxmlformats.org/drawingml/2006/main">
            <a:r>
              <a:t>https://databank.worldbank.org/source/world-development-indicators</a:t>
            </a:r>
          </a:p>
          <a:p xmlns:a="http://schemas.openxmlformats.org/drawingml/2006/main">
            <a:r>
              <a:t>All associations are exploratory ecological comparisons of national estimates.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reports/results.json and reports/analysis_tables. Data SHA256 9e0e7d84afb579c7d058b4b581ed8f9311ddd31b9bb99d8b20507d16ca5db2ce</a:t>
            </a:r>
          </a:p>
          <a:p xmlns:a="http://schemas.openxmlformats.org/drawingml/2006/main">
            <a:r>
              <a:t>https://aidsinfo.unaids.org/dataset</a:t>
            </a:r>
          </a:p>
          <a:p xmlns:a="http://schemas.openxmlformats.org/drawingml/2006/main">
            <a:r>
              <a:t>https://www.unaids.org/en/resources/documents/2024/progress-towards-95-95-95</a:t>
            </a:r>
          </a:p>
          <a:p xmlns:a="http://schemas.openxmlformats.org/drawingml/2006/main">
            <a:r>
              <a:t>https://pmc.ncbi.nlm.nih.gov/articles/PMC10769177/</a:t>
            </a:r>
          </a:p>
          <a:p xmlns:a="http://schemas.openxmlformats.org/drawingml/2006/main">
            <a:r>
              <a:t>https://databank.worldbank.org/source/world-development-indicators</a:t>
            </a:r>
          </a:p>
          <a:p xmlns:a="http://schemas.openxmlformats.org/drawingml/2006/main">
            <a:r>
              <a:t>All associations are exploratory ecological comparisons of national estimates.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reports/results.json and reports/analysis_tables. Data SHA256 9e0e7d84afb579c7d058b4b581ed8f9311ddd31b9bb99d8b20507d16ca5db2ce</a:t>
            </a:r>
          </a:p>
          <a:p xmlns:a="http://schemas.openxmlformats.org/drawingml/2006/main">
            <a:r>
              <a:t>https://aidsinfo.unaids.org/dataset</a:t>
            </a:r>
          </a:p>
          <a:p xmlns:a="http://schemas.openxmlformats.org/drawingml/2006/main">
            <a:r>
              <a:t>https://www.unaids.org/en/resources/documents/2024/progress-towards-95-95-95</a:t>
            </a:r>
          </a:p>
          <a:p xmlns:a="http://schemas.openxmlformats.org/drawingml/2006/main">
            <a:r>
              <a:t>https://pmc.ncbi.nlm.nih.gov/articles/PMC10769177/</a:t>
            </a:r>
          </a:p>
          <a:p xmlns:a="http://schemas.openxmlformats.org/drawingml/2006/main">
            <a:r>
              <a:t>https://databank.worldbank.org/source/world-development-indicators</a:t>
            </a:r>
          </a:p>
          <a:p xmlns:a="http://schemas.openxmlformats.org/drawingml/2006/main">
            <a:r>
              <a:t>All associations are exploratory ecological comparisons of national estimates.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reports/results.json and reports/analysis_tables. Data SHA256 9e0e7d84afb579c7d058b4b581ed8f9311ddd31b9bb99d8b20507d16ca5db2ce</a:t>
            </a:r>
          </a:p>
          <a:p xmlns:a="http://schemas.openxmlformats.org/drawingml/2006/main">
            <a:r>
              <a:t>https://aidsinfo.unaids.org/dataset</a:t>
            </a:r>
          </a:p>
          <a:p xmlns:a="http://schemas.openxmlformats.org/drawingml/2006/main">
            <a:r>
              <a:t>https://www.unaids.org/en/resources/documents/2024/progress-towards-95-95-95</a:t>
            </a:r>
          </a:p>
          <a:p xmlns:a="http://schemas.openxmlformats.org/drawingml/2006/main">
            <a:r>
              <a:t>https://pmc.ncbi.nlm.nih.gov/articles/PMC10769177/</a:t>
            </a:r>
          </a:p>
          <a:p xmlns:a="http://schemas.openxmlformats.org/drawingml/2006/main">
            <a:r>
              <a:t>https://databank.worldbank.org/source/world-development-indicators</a:t>
            </a:r>
          </a:p>
          <a:p xmlns:a="http://schemas.openxmlformats.org/drawingml/2006/main">
            <a:r>
              <a:t>All associations are exploratory ecological comparisons of national estimates.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reports/results.json and reports/analysis_tables. Data SHA256 9e0e7d84afb579c7d058b4b581ed8f9311ddd31b9bb99d8b20507d16ca5db2ce</a:t>
            </a:r>
          </a:p>
          <a:p xmlns:a="http://schemas.openxmlformats.org/drawingml/2006/main">
            <a:r>
              <a:t>https://aidsinfo.unaids.org/dataset</a:t>
            </a:r>
          </a:p>
          <a:p xmlns:a="http://schemas.openxmlformats.org/drawingml/2006/main">
            <a:r>
              <a:t>https://www.unaids.org/en/resources/documents/2024/progress-towards-95-95-95</a:t>
            </a:r>
          </a:p>
          <a:p xmlns:a="http://schemas.openxmlformats.org/drawingml/2006/main">
            <a:r>
              <a:t>https://pmc.ncbi.nlm.nih.gov/articles/PMC10769177/</a:t>
            </a:r>
          </a:p>
          <a:p xmlns:a="http://schemas.openxmlformats.org/drawingml/2006/main">
            <a:r>
              <a:t>https://databank.worldbank.org/source/world-development-indicators</a:t>
            </a:r>
          </a:p>
          <a:p xmlns:a="http://schemas.openxmlformats.org/drawingml/2006/main">
            <a:r>
              <a:t>All associations are exploratory ecological comparisons of national estimates.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reports/results.json and reports/analysis_tables. Data SHA256 9e0e7d84afb579c7d058b4b581ed8f9311ddd31b9bb99d8b20507d16ca5db2ce</a:t>
            </a:r>
          </a:p>
          <a:p xmlns:a="http://schemas.openxmlformats.org/drawingml/2006/main">
            <a:r>
              <a:t>https://aidsinfo.unaids.org/dataset</a:t>
            </a:r>
          </a:p>
          <a:p xmlns:a="http://schemas.openxmlformats.org/drawingml/2006/main">
            <a:r>
              <a:t>https://www.unaids.org/en/resources/documents/2024/progress-towards-95-95-95</a:t>
            </a:r>
          </a:p>
          <a:p xmlns:a="http://schemas.openxmlformats.org/drawingml/2006/main">
            <a:r>
              <a:t>https://pmc.ncbi.nlm.nih.gov/articles/PMC10769177/</a:t>
            </a:r>
          </a:p>
          <a:p xmlns:a="http://schemas.openxmlformats.org/drawingml/2006/main">
            <a:r>
              <a:t>https://databank.worldbank.org/source/world-development-indicators</a:t>
            </a:r>
          </a:p>
          <a:p xmlns:a="http://schemas.openxmlformats.org/drawingml/2006/main">
            <a:r>
              <a:t>All associations are exploratory ecological comparisons of national estimates.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reports/results.json and reports/analysis_tables. Data SHA256 9e0e7d84afb579c7d058b4b581ed8f9311ddd31b9bb99d8b20507d16ca5db2ce</a:t>
            </a:r>
          </a:p>
          <a:p xmlns:a="http://schemas.openxmlformats.org/drawingml/2006/main">
            <a:r>
              <a:t>https://aidsinfo.unaids.org/dataset</a:t>
            </a:r>
          </a:p>
          <a:p xmlns:a="http://schemas.openxmlformats.org/drawingml/2006/main">
            <a:r>
              <a:t>https://www.unaids.org/en/resources/documents/2024/progress-towards-95-95-95</a:t>
            </a:r>
          </a:p>
          <a:p xmlns:a="http://schemas.openxmlformats.org/drawingml/2006/main">
            <a:r>
              <a:t>https://pmc.ncbi.nlm.nih.gov/articles/PMC10769177/</a:t>
            </a:r>
          </a:p>
          <a:p xmlns:a="http://schemas.openxmlformats.org/drawingml/2006/main">
            <a:r>
              <a:t>https://databank.worldbank.org/source/world-development-indicators</a:t>
            </a:r>
          </a:p>
          <a:p xmlns:a="http://schemas.openxmlformats.org/drawingml/2006/main">
            <a:r>
              <a:t>All associations are exploratory ecological comparisons of national estimates.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reports/results.json and reports/analysis_tables. Data SHA256 9e0e7d84afb579c7d058b4b581ed8f9311ddd31b9bb99d8b20507d16ca5db2ce</a:t>
            </a:r>
          </a:p>
          <a:p xmlns:a="http://schemas.openxmlformats.org/drawingml/2006/main">
            <a:r>
              <a:t>https://aidsinfo.unaids.org/dataset</a:t>
            </a:r>
          </a:p>
          <a:p xmlns:a="http://schemas.openxmlformats.org/drawingml/2006/main">
            <a:r>
              <a:t>https://www.unaids.org/en/resources/documents/2024/progress-towards-95-95-95</a:t>
            </a:r>
          </a:p>
          <a:p xmlns:a="http://schemas.openxmlformats.org/drawingml/2006/main">
            <a:r>
              <a:t>https://pmc.ncbi.nlm.nih.gov/articles/PMC10769177/</a:t>
            </a:r>
          </a:p>
          <a:p xmlns:a="http://schemas.openxmlformats.org/drawingml/2006/main">
            <a:r>
              <a:t>https://databank.worldbank.org/source/world-development-indicators</a:t>
            </a:r>
          </a:p>
          <a:p xmlns:a="http://schemas.openxmlformats.org/drawingml/2006/main">
            <a:r>
              <a:t>All associations are exploratory ecological comparisons of national estimates.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reports/results.json and reports/analysis_tables. Data SHA256 9e0e7d84afb579c7d058b4b581ed8f9311ddd31b9bb99d8b20507d16ca5db2ce</a:t>
            </a:r>
          </a:p>
          <a:p xmlns:a="http://schemas.openxmlformats.org/drawingml/2006/main">
            <a:r>
              <a:t>https://aidsinfo.unaids.org/dataset</a:t>
            </a:r>
          </a:p>
          <a:p xmlns:a="http://schemas.openxmlformats.org/drawingml/2006/main">
            <a:r>
              <a:t>https://www.unaids.org/en/resources/documents/2024/progress-towards-95-95-95</a:t>
            </a:r>
          </a:p>
          <a:p xmlns:a="http://schemas.openxmlformats.org/drawingml/2006/main">
            <a:r>
              <a:t>https://pmc.ncbi.nlm.nih.gov/articles/PMC10769177/</a:t>
            </a:r>
          </a:p>
          <a:p xmlns:a="http://schemas.openxmlformats.org/drawingml/2006/main">
            <a:r>
              <a:t>https://databank.worldbank.org/source/world-development-indicators</a:t>
            </a:r>
          </a:p>
          <a:p xmlns:a="http://schemas.openxmlformats.org/drawingml/2006/main">
            <a:r>
              <a:t>All associations are exploratory ecological comparisons of national estimates.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reports/results.json and reports/analysis_tables. Data SHA256 9e0e7d84afb579c7d058b4b581ed8f9311ddd31b9bb99d8b20507d16ca5db2ce</a:t>
            </a:r>
          </a:p>
          <a:p xmlns:a="http://schemas.openxmlformats.org/drawingml/2006/main">
            <a:r>
              <a:t>https://aidsinfo.unaids.org/dataset</a:t>
            </a:r>
          </a:p>
          <a:p xmlns:a="http://schemas.openxmlformats.org/drawingml/2006/main">
            <a:r>
              <a:t>https://www.unaids.org/en/resources/documents/2024/progress-towards-95-95-95</a:t>
            </a:r>
          </a:p>
          <a:p xmlns:a="http://schemas.openxmlformats.org/drawingml/2006/main">
            <a:r>
              <a:t>https://pmc.ncbi.nlm.nih.gov/articles/PMC10769177/</a:t>
            </a:r>
          </a:p>
          <a:p xmlns:a="http://schemas.openxmlformats.org/drawingml/2006/main">
            <a:r>
              <a:t>https://databank.worldbank.org/source/world-development-indicators</a:t>
            </a:r>
          </a:p>
          <a:p xmlns:a="http://schemas.openxmlformats.org/drawingml/2006/main">
            <a:r>
              <a:t>All associations are exploratory ecological comparisons of national estimates.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reports/results.json and reports/analysis_tables. Data SHA256 9e0e7d84afb579c7d058b4b581ed8f9311ddd31b9bb99d8b20507d16ca5db2ce</a:t>
            </a:r>
          </a:p>
          <a:p xmlns:a="http://schemas.openxmlformats.org/drawingml/2006/main">
            <a:r>
              <a:t>https://aidsinfo.unaids.org/dataset</a:t>
            </a:r>
          </a:p>
          <a:p xmlns:a="http://schemas.openxmlformats.org/drawingml/2006/main">
            <a:r>
              <a:t>https://www.unaids.org/en/resources/documents/2024/progress-towards-95-95-95</a:t>
            </a:r>
          </a:p>
          <a:p xmlns:a="http://schemas.openxmlformats.org/drawingml/2006/main">
            <a:r>
              <a:t>https://pmc.ncbi.nlm.nih.gov/articles/PMC10769177/</a:t>
            </a:r>
          </a:p>
          <a:p xmlns:a="http://schemas.openxmlformats.org/drawingml/2006/main">
            <a:r>
              <a:t>https://databank.worldbank.org/source/world-development-indicators</a:t>
            </a:r>
          </a:p>
          <a:p xmlns:a="http://schemas.openxmlformats.org/drawingml/2006/main">
            <a:r>
              <a:t>All associations are exploratory ecological comparisons of national estimates.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reports/results.json and reports/analysis_tables. Data SHA256 9e0e7d84afb579c7d058b4b581ed8f9311ddd31b9bb99d8b20507d16ca5db2ce</a:t>
            </a:r>
          </a:p>
          <a:p xmlns:a="http://schemas.openxmlformats.org/drawingml/2006/main">
            <a:r>
              <a:t>https://aidsinfo.unaids.org/dataset</a:t>
            </a:r>
          </a:p>
          <a:p xmlns:a="http://schemas.openxmlformats.org/drawingml/2006/main">
            <a:r>
              <a:t>https://www.unaids.org/en/resources/documents/2024/progress-towards-95-95-95</a:t>
            </a:r>
          </a:p>
          <a:p xmlns:a="http://schemas.openxmlformats.org/drawingml/2006/main">
            <a:r>
              <a:t>https://pmc.ncbi.nlm.nih.gov/articles/PMC10769177/</a:t>
            </a:r>
          </a:p>
          <a:p xmlns:a="http://schemas.openxmlformats.org/drawingml/2006/main">
            <a:r>
              <a:t>https://databank.worldbank.org/source/world-development-indicators</a:t>
            </a:r>
          </a:p>
          <a:p xmlns:a="http://schemas.openxmlformats.org/drawingml/2006/main">
            <a:r>
              <a:t>All associations are exploratory ecological comparisons of national estimates.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reports/results.json and reports/analysis_tables. Data SHA256 9e0e7d84afb579c7d058b4b581ed8f9311ddd31b9bb99d8b20507d16ca5db2ce</a:t>
            </a:r>
          </a:p>
          <a:p xmlns:a="http://schemas.openxmlformats.org/drawingml/2006/main">
            <a:r>
              <a:t>https://aidsinfo.unaids.org/dataset</a:t>
            </a:r>
          </a:p>
          <a:p xmlns:a="http://schemas.openxmlformats.org/drawingml/2006/main">
            <a:r>
              <a:t>https://www.unaids.org/en/resources/documents/2024/progress-towards-95-95-95</a:t>
            </a:r>
          </a:p>
          <a:p xmlns:a="http://schemas.openxmlformats.org/drawingml/2006/main">
            <a:r>
              <a:t>https://pmc.ncbi.nlm.nih.gov/articles/PMC10769177/</a:t>
            </a:r>
          </a:p>
          <a:p xmlns:a="http://schemas.openxmlformats.org/drawingml/2006/main">
            <a:r>
              <a:t>https://databank.worldbank.org/source/world-development-indicators</a:t>
            </a:r>
          </a:p>
          <a:p xmlns:a="http://schemas.openxmlformats.org/drawingml/2006/main">
            <a:r>
              <a:t>All associations are exploratory ecological comparisons of national estimates.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reports/results.json and reports/analysis_tables. Data SHA256 9e0e7d84afb579c7d058b4b581ed8f9311ddd31b9bb99d8b20507d16ca5db2ce</a:t>
            </a:r>
          </a:p>
          <a:p xmlns:a="http://schemas.openxmlformats.org/drawingml/2006/main">
            <a:r>
              <a:t>https://aidsinfo.unaids.org/dataset</a:t>
            </a:r>
          </a:p>
          <a:p xmlns:a="http://schemas.openxmlformats.org/drawingml/2006/main">
            <a:r>
              <a:t>https://www.unaids.org/en/resources/documents/2024/progress-towards-95-95-95</a:t>
            </a:r>
          </a:p>
          <a:p xmlns:a="http://schemas.openxmlformats.org/drawingml/2006/main">
            <a:r>
              <a:t>https://pmc.ncbi.nlm.nih.gov/articles/PMC10769177/</a:t>
            </a:r>
          </a:p>
          <a:p xmlns:a="http://schemas.openxmlformats.org/drawingml/2006/main">
            <a:r>
              <a:t>https://databank.worldbank.org/source/world-development-indicators</a:t>
            </a:r>
          </a:p>
          <a:p xmlns:a="http://schemas.openxmlformats.org/drawingml/2006/main">
            <a:r>
              <a:t>All associations are exploratory ecological comparisons of national estimates.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reports/results.json and reports/analysis_tables. Data SHA256 9e0e7d84afb579c7d058b4b581ed8f9311ddd31b9bb99d8b20507d16ca5db2ce</a:t>
            </a:r>
          </a:p>
          <a:p xmlns:a="http://schemas.openxmlformats.org/drawingml/2006/main">
            <a:r>
              <a:t>https://aidsinfo.unaids.org/dataset</a:t>
            </a:r>
          </a:p>
          <a:p xmlns:a="http://schemas.openxmlformats.org/drawingml/2006/main">
            <a:r>
              <a:t>https://www.unaids.org/en/resources/documents/2024/progress-towards-95-95-95</a:t>
            </a:r>
          </a:p>
          <a:p xmlns:a="http://schemas.openxmlformats.org/drawingml/2006/main">
            <a:r>
              <a:t>https://pmc.ncbi.nlm.nih.gov/articles/PMC10769177/</a:t>
            </a:r>
          </a:p>
          <a:p xmlns:a="http://schemas.openxmlformats.org/drawingml/2006/main">
            <a:r>
              <a:t>https://databank.worldbank.org/source/world-development-indicators</a:t>
            </a:r>
          </a:p>
          <a:p xmlns:a="http://schemas.openxmlformats.org/drawingml/2006/main">
            <a:r>
              <a:t>All associations are exploratory ecological comparisons of national estimates.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reports/results.json and reports/analysis_tables. Data SHA256 9e0e7d84afb579c7d058b4b581ed8f9311ddd31b9bb99d8b20507d16ca5db2ce</a:t>
            </a:r>
          </a:p>
          <a:p xmlns:a="http://schemas.openxmlformats.org/drawingml/2006/main">
            <a:r>
              <a:t>https://aidsinfo.unaids.org/dataset</a:t>
            </a:r>
          </a:p>
          <a:p xmlns:a="http://schemas.openxmlformats.org/drawingml/2006/main">
            <a:r>
              <a:t>https://www.unaids.org/en/resources/documents/2024/progress-towards-95-95-95</a:t>
            </a:r>
          </a:p>
          <a:p xmlns:a="http://schemas.openxmlformats.org/drawingml/2006/main">
            <a:r>
              <a:t>https://pmc.ncbi.nlm.nih.gov/articles/PMC10769177/</a:t>
            </a:r>
          </a:p>
          <a:p xmlns:a="http://schemas.openxmlformats.org/drawingml/2006/main">
            <a:r>
              <a:t>https://databank.worldbank.org/source/world-development-indicators</a:t>
            </a:r>
          </a:p>
          <a:p xmlns:a="http://schemas.openxmlformats.org/drawingml/2006/main">
            <a:r>
              <a:t>All associations are exploratory ecological comparisons of national estimates.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a3a68def6b4d6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422ce5f5404b2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de69c46f924c6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4fc52877e94b7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17f81354a1425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5d3058fc2343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1F81B9-FBD5-4CC5-B205-1615D4327C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3CD3A12-67C5-480B-A2F7-CA3E6AC7B1E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28AC89C-B9B5-4CDD-8A81-6055C77DF1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B3B85A-06D4-4177-A6D8-7117C22EA3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D4E923A-3905-4F4E-921A-C6B495960E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CFBD35D-D748-4D64-A361-B508C07D96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1CCA8BF-4468-4086-A3CA-B7A8A1BEBE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E48B785-372A-4C0E-A980-DC186F2B8A8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1710D4F-122B-4DC7-89AB-CFE9880FAB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85003E4-6FE7-488B-A1C1-59A094A694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03f157f5a3430c" /><Relationship Type="http://schemas.openxmlformats.org/officeDocument/2006/relationships/slideLayout" Target="/ppt/slideLayouts/slideLayout1.xml" Id="Ra84e9a51e2244421" /><Relationship Type="http://schemas.openxmlformats.org/officeDocument/2006/relationships/slideLayout" Target="/ppt/slideLayouts/slideLayout2.xml" Id="R7cbe25e7b5284a9c" /><Relationship Type="http://schemas.openxmlformats.org/officeDocument/2006/relationships/slideLayout" Target="/ppt/slideLayouts/slideLayout3.xml" Id="R7cc134db06bd4588" /><Relationship Type="http://schemas.openxmlformats.org/officeDocument/2006/relationships/slideLayout" Target="/ppt/slideLayouts/slideLayout4.xml" Id="R3ea0b03977364e40" /><Relationship Type="http://schemas.openxmlformats.org/officeDocument/2006/relationships/slideLayout" Target="/ppt/slideLayouts/slideLayout5.xml" Id="Ra2a33429c5dc427b" /><Relationship Type="http://schemas.openxmlformats.org/officeDocument/2006/relationships/slideLayout" Target="/ppt/slideLayouts/slideLayout6.xml" Id="Rccbe77cf54bc45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4e9a51e2244421"/>
    <p:sldLayoutId xmlns:r="http://schemas.openxmlformats.org/officeDocument/2006/relationships" id="2147483650" r:id="R7cbe25e7b5284a9c"/>
    <p:sldLayoutId xmlns:r="http://schemas.openxmlformats.org/officeDocument/2006/relationships" id="2147483651" r:id="R7cc134db06bd4588"/>
    <p:sldLayoutId xmlns:r="http://schemas.openxmlformats.org/officeDocument/2006/relationships" id="2147483652" r:id="R3ea0b03977364e40"/>
    <p:sldLayoutId xmlns:r="http://schemas.openxmlformats.org/officeDocument/2006/relationships" id="2147483653" r:id="Ra2a33429c5dc427b"/>
    <p:sldLayoutId xmlns:r="http://schemas.openxmlformats.org/officeDocument/2006/relationships" id="2147483654" r:id="Rccbe77cf54bc45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d3c2e86aa949b3" /><Relationship Type="http://schemas.openxmlformats.org/officeDocument/2006/relationships/notesSlide" Target="/ppt/notesSlides/notesSlide1.xml" Id="R7e665b04658e47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4a7579eec7426e" /><Relationship Type="http://schemas.openxmlformats.org/officeDocument/2006/relationships/notesSlide" Target="/ppt/notesSlides/notesSlide2.xml" Id="Raf31517665aa4a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454eb9e5464d8c" /><Relationship Type="http://schemas.openxmlformats.org/officeDocument/2006/relationships/notesSlide" Target="/ppt/notesSlides/notesSlide3.xml" Id="R126c7140e84f41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2f7b9a5a654ef1" /><Relationship Type="http://schemas.openxmlformats.org/officeDocument/2006/relationships/notesSlide" Target="/ppt/notesSlides/notesSlide4.xml" Id="R0aa7221e5b7044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3bb92ac9b3404d" /><Relationship Type="http://schemas.openxmlformats.org/officeDocument/2006/relationships/notesSlide" Target="/ppt/notesSlides/notesSlide5.xml" Id="R05a4e9b409b84b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234518cdb14a95" /><Relationship Type="http://schemas.openxmlformats.org/officeDocument/2006/relationships/chart" Target="/ppt/slides/charts/chart1.xml" Id="R7fbc92e0864c44ec" /><Relationship Type="http://schemas.openxmlformats.org/officeDocument/2006/relationships/notesSlide" Target="/ppt/notesSlides/notesSlide6.xml" Id="R8ab80f6ee98a47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bd32b553bb4aca" /><Relationship Type="http://schemas.openxmlformats.org/officeDocument/2006/relationships/notesSlide" Target="/ppt/notesSlides/notesSlide7.xml" Id="R5e7d340881e549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ba2fe1fc24437e" /><Relationship Type="http://schemas.openxmlformats.org/officeDocument/2006/relationships/notesSlide" Target="/ppt/notesSlides/notesSlide8.xml" Id="R7eb19a12b85847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6f114b093f4c14" /><Relationship Type="http://schemas.openxmlformats.org/officeDocument/2006/relationships/chart" Target="/ppt/slides/charts/chart2.xml" Id="R808f1afba9784d70" /><Relationship Type="http://schemas.openxmlformats.org/officeDocument/2006/relationships/notesSlide" Target="/ppt/notesSlides/notesSlide9.xml" Id="Rf0b0e30e7f514e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c07038bee24f30" /><Relationship Type="http://schemas.openxmlformats.org/officeDocument/2006/relationships/chart" Target="/ppt/slides/charts/chart3.xml" Id="Re5ed5146d0774195" /><Relationship Type="http://schemas.openxmlformats.org/officeDocument/2006/relationships/notesSlide" Target="/ppt/notesSlides/notesSlide10.xml" Id="Rdc6ecb9dcca84ab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91e10c59c747a1" /><Relationship Type="http://schemas.openxmlformats.org/officeDocument/2006/relationships/chart" Target="/ppt/slides/charts/chart4.xml" Id="R1bdfa2617203439b" /><Relationship Type="http://schemas.openxmlformats.org/officeDocument/2006/relationships/notesSlide" Target="/ppt/notesSlides/notesSlide11.xml" Id="Ra880c2d5f0924dc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7bd96cae014c38" /><Relationship Type="http://schemas.openxmlformats.org/officeDocument/2006/relationships/notesSlide" Target="/ppt/notesSlides/notesSlide12.xml" Id="R0c6ccc793e054f8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28507787924285" /><Relationship Type="http://schemas.openxmlformats.org/officeDocument/2006/relationships/chart" Target="/ppt/slides/charts/chart5.xml" Id="Re9e2ec42a635468f" /><Relationship Type="http://schemas.openxmlformats.org/officeDocument/2006/relationships/notesSlide" Target="/ppt/notesSlides/notesSlide13.xml" Id="R26b74910c3b84f1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2b9b05e35c4ede" /><Relationship Type="http://schemas.openxmlformats.org/officeDocument/2006/relationships/chart" Target="/ppt/slides/charts/chart6.xml" Id="R42bb39ae12024e7e" /><Relationship Type="http://schemas.openxmlformats.org/officeDocument/2006/relationships/notesSlide" Target="/ppt/notesSlides/notesSlide14.xml" Id="R56b871f5f36f4a8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08ba3be030475b" /><Relationship Type="http://schemas.openxmlformats.org/officeDocument/2006/relationships/notesSlide" Target="/ppt/notesSlides/notesSlide15.xml" Id="Rbb4f9b724f68416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15369a29614ac0" /><Relationship Type="http://schemas.openxmlformats.org/officeDocument/2006/relationships/notesSlide" Target="/ppt/notesSlides/notesSlide16.xml" Id="Ra039f69aafb64f4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1be8be71814d4b" /><Relationship Type="http://schemas.openxmlformats.org/officeDocument/2006/relationships/notesSlide" Target="/ppt/notesSlides/notesSlide17.xml" Id="Rb5ebf4d26578446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97f2506ea74096" /><Relationship Type="http://schemas.openxmlformats.org/officeDocument/2006/relationships/chart" Target="/ppt/slides/charts/chart7.xml" Id="Rb1c7afac608847bb" /><Relationship Type="http://schemas.openxmlformats.org/officeDocument/2006/relationships/notesSlide" Target="/ppt/notesSlides/notesSlide18.xml" Id="R9b7ed077aa6e45f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d5c4791e38456c" /><Relationship Type="http://schemas.openxmlformats.org/officeDocument/2006/relationships/notesSlide" Target="/ppt/notesSlides/notesSlide19.xml" Id="R603a691fa14d45f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1d901db03347da" /><Relationship Type="http://schemas.openxmlformats.org/officeDocument/2006/relationships/notesSlide" Target="/ppt/notesSlides/notesSlide20.xml" Id="R6adef3b4e5a8420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8c79824c4b4ca9" /><Relationship Type="http://schemas.openxmlformats.org/officeDocument/2006/relationships/notesSlide" Target="/ppt/notesSlides/notesSlide21.xml" Id="R5d6b2aa628e2403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b9ff03de1945b9" /><Relationship Type="http://schemas.openxmlformats.org/officeDocument/2006/relationships/notesSlide" Target="/ppt/notesSlides/notesSlide22.xml" Id="Ra4670ea4320d404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Annual new infections</c:v>
          </c:tx>
          <c:spPr>
            <a:solidFill xmlns:a="http://schemas.openxmlformats.org/drawingml/2006/main">
              <a:srgbClr val="0D6E66"/>
            </a:solidFill>
            <a:ln xmlns:a="http://schemas.openxmlformats.org/drawingml/2006/main" w="19050">
              <a:solidFill>
                <a:srgbClr val="0D6E66"/>
              </a:solidFill>
            </a:ln>
          </c:spPr>
          <c:marker>
            <c:symbol val="none"/>
            <c:size val="5"/>
            <c:spPr>
              <a:solidFill xmlns:a="http://schemas.openxmlformats.org/drawingml/2006/main">
                <a:srgbClr val="0D6E66"/>
              </a:solidFill>
            </c:spPr>
          </c:marker>
          <c:cat>
            <c:numRef>
              <c:f>'Chart Data'!$A$2:$A$36</c:f>
              <c:numCache>
                <c:formatCode>General</c:formatCod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numCache>
            </c:numRef>
          </c:cat>
          <c:val>
            <c:numRef>
              <c:f>'Chart Data'!$B$2:$B$36</c:f>
              <c:numCache>
                <c:formatCode>0.0</c:formatCode>
                <c:ptCount val="35"/>
                <c:pt idx="0">
                  <c:v>19000</c:v>
                </c:pt>
                <c:pt idx="1">
                  <c:v>17000</c:v>
                </c:pt>
                <c:pt idx="2">
                  <c:v>14000</c:v>
                </c:pt>
                <c:pt idx="3">
                  <c:v>15000</c:v>
                </c:pt>
                <c:pt idx="4">
                  <c:v>16000</c:v>
                </c:pt>
                <c:pt idx="5">
                  <c:v>17000</c:v>
                </c:pt>
                <c:pt idx="6">
                  <c:v>20000</c:v>
                </c:pt>
                <c:pt idx="7">
                  <c:v>23000</c:v>
                </c:pt>
                <c:pt idx="8">
                  <c:v>25000</c:v>
                </c:pt>
                <c:pt idx="9">
                  <c:v>27000</c:v>
                </c:pt>
                <c:pt idx="10">
                  <c:v>26000</c:v>
                </c:pt>
                <c:pt idx="11">
                  <c:v>25000</c:v>
                </c:pt>
                <c:pt idx="12">
                  <c:v>24000</c:v>
                </c:pt>
                <c:pt idx="13">
                  <c:v>23000</c:v>
                </c:pt>
                <c:pt idx="14">
                  <c:v>22000</c:v>
                </c:pt>
                <c:pt idx="15">
                  <c:v>20000</c:v>
                </c:pt>
                <c:pt idx="16">
                  <c:v>19000</c:v>
                </c:pt>
                <c:pt idx="17">
                  <c:v>18000</c:v>
                </c:pt>
                <c:pt idx="18">
                  <c:v>17000</c:v>
                </c:pt>
                <c:pt idx="19">
                  <c:v>17000</c:v>
                </c:pt>
                <c:pt idx="20">
                  <c:v>16000</c:v>
                </c:pt>
                <c:pt idx="21">
                  <c:v>16000</c:v>
                </c:pt>
                <c:pt idx="22">
                  <c:v>16000</c:v>
                </c:pt>
                <c:pt idx="23">
                  <c:v>15000</c:v>
                </c:pt>
                <c:pt idx="24">
                  <c:v>14000</c:v>
                </c:pt>
                <c:pt idx="25">
                  <c:v>14000</c:v>
                </c:pt>
                <c:pt idx="26">
                  <c:v>13000</c:v>
                </c:pt>
                <c:pt idx="27">
                  <c:v>12000</c:v>
                </c:pt>
                <c:pt idx="28">
                  <c:v>11000</c:v>
                </c:pt>
                <c:pt idx="29">
                  <c:v>10000</c:v>
                </c:pt>
                <c:pt idx="30">
                  <c:v>11000</c:v>
                </c:pt>
                <c:pt idx="31">
                  <c:v>11000</c:v>
                </c:pt>
                <c:pt idx="32">
                  <c:v>10000</c:v>
                </c:pt>
                <c:pt idx="33">
                  <c:v>9900</c:v>
                </c:pt>
                <c:pt idx="34">
                  <c:v>9500</c:v>
                </c:pt>
              </c:numCache>
            </c:numRef>
          </c:val>
          <c:smooth val="0"/>
        </c:ser>
        <c:ser>
          <c:idx val="1"/>
          <c:order val="1"/>
          <c:tx>
            <c:v>Annual AIDS deaths</c:v>
          </c:tx>
          <c:spPr>
            <a:solidFill xmlns:a="http://schemas.openxmlformats.org/drawingml/2006/main">
              <a:srgbClr val="B91C1C"/>
            </a:solidFill>
            <a:ln xmlns:a="http://schemas.openxmlformats.org/drawingml/2006/main" w="19050">
              <a:solidFill>
                <a:srgbClr val="B91C1C"/>
              </a:solidFill>
            </a:ln>
          </c:spPr>
          <c:marker>
            <c:symbol val="none"/>
            <c:size val="5"/>
            <c:spPr>
              <a:solidFill xmlns:a="http://schemas.openxmlformats.org/drawingml/2006/main">
                <a:srgbClr val="B91C1C"/>
              </a:solidFill>
            </c:spPr>
          </c:marker>
          <c:cat>
            <c:numRef>
              <c:f>'Chart Data'!$C$2:$C$36</c:f>
              <c:numCache>
                <c:formatCode>General</c:formatCode>
                <c:ptCount val="35"/>
                <c:pt idx="0">
                  <c:v>1991</c:v>
                </c:pt>
                <c:pt idx="1">
                  <c:v>1992</c:v>
                </c:pt>
                <c:pt idx="2">
                  <c:v>1993</c:v>
                </c:pt>
                <c:pt idx="3">
                  <c:v>1994</c:v>
                </c:pt>
                <c:pt idx="4">
                  <c:v>1995</c:v>
                </c:pt>
                <c:pt idx="5">
                  <c:v>1996</c:v>
                </c:pt>
                <c:pt idx="6">
                  <c:v>1997</c:v>
                </c:pt>
                <c:pt idx="7">
                  <c:v>1998</c:v>
                </c:pt>
                <c:pt idx="8">
                  <c:v>1999</c:v>
                </c:pt>
                <c:pt idx="9">
                  <c:v>2000</c:v>
                </c:pt>
                <c:pt idx="10">
                  <c:v>2001</c:v>
                </c:pt>
                <c:pt idx="11">
                  <c:v>2002</c:v>
                </c:pt>
                <c:pt idx="12">
                  <c:v>2003</c:v>
                </c:pt>
                <c:pt idx="13">
                  <c:v>2004</c:v>
                </c:pt>
                <c:pt idx="14">
                  <c:v>2005</c:v>
                </c:pt>
                <c:pt idx="15">
                  <c:v>2006</c:v>
                </c:pt>
                <c:pt idx="16">
                  <c:v>2007</c:v>
                </c:pt>
                <c:pt idx="17">
                  <c:v>2008</c:v>
                </c:pt>
                <c:pt idx="18">
                  <c:v>2009</c:v>
                </c:pt>
                <c:pt idx="19">
                  <c:v>2010</c:v>
                </c:pt>
                <c:pt idx="20">
                  <c:v>2011</c:v>
                </c:pt>
                <c:pt idx="21">
                  <c:v>2012</c:v>
                </c:pt>
                <c:pt idx="22">
                  <c:v>2013</c:v>
                </c:pt>
                <c:pt idx="23">
                  <c:v>2014</c:v>
                </c:pt>
                <c:pt idx="24">
                  <c:v>2015</c:v>
                </c:pt>
                <c:pt idx="25">
                  <c:v>2016</c:v>
                </c:pt>
                <c:pt idx="26">
                  <c:v>2017</c:v>
                </c:pt>
                <c:pt idx="27">
                  <c:v>2018</c:v>
                </c:pt>
                <c:pt idx="28">
                  <c:v>2019</c:v>
                </c:pt>
                <c:pt idx="29">
                  <c:v>2020</c:v>
                </c:pt>
                <c:pt idx="30">
                  <c:v>2021</c:v>
                </c:pt>
                <c:pt idx="31">
                  <c:v>2022</c:v>
                </c:pt>
                <c:pt idx="32">
                  <c:v>2023</c:v>
                </c:pt>
                <c:pt idx="33">
                  <c:v>2024</c:v>
                </c:pt>
                <c:pt idx="34">
                  <c:v>2025</c:v>
                </c:pt>
              </c:numCache>
            </c:numRef>
          </c:cat>
          <c:val>
            <c:numRef>
              <c:f>'Chart Data'!$D$2:$D$36</c:f>
              <c:numCache>
                <c:formatCode>0.0</c:formatCode>
                <c:ptCount val="35"/>
                <c:pt idx="0">
                  <c:v>530</c:v>
                </c:pt>
                <c:pt idx="1">
                  <c:v>930</c:v>
                </c:pt>
                <c:pt idx="2">
                  <c:v>1400</c:v>
                </c:pt>
                <c:pt idx="3">
                  <c:v>2000</c:v>
                </c:pt>
                <c:pt idx="4">
                  <c:v>2700</c:v>
                </c:pt>
                <c:pt idx="5">
                  <c:v>3500</c:v>
                </c:pt>
                <c:pt idx="6">
                  <c:v>4300</c:v>
                </c:pt>
                <c:pt idx="7">
                  <c:v>5300</c:v>
                </c:pt>
                <c:pt idx="8">
                  <c:v>6300</c:v>
                </c:pt>
                <c:pt idx="9">
                  <c:v>7400</c:v>
                </c:pt>
                <c:pt idx="10">
                  <c:v>8500</c:v>
                </c:pt>
                <c:pt idx="11">
                  <c:v>9600</c:v>
                </c:pt>
                <c:pt idx="12">
                  <c:v>11000</c:v>
                </c:pt>
                <c:pt idx="13">
                  <c:v>12000</c:v>
                </c:pt>
                <c:pt idx="14">
                  <c:v>12000</c:v>
                </c:pt>
                <c:pt idx="15">
                  <c:v>13000</c:v>
                </c:pt>
                <c:pt idx="16">
                  <c:v>12000</c:v>
                </c:pt>
                <c:pt idx="17">
                  <c:v>12000</c:v>
                </c:pt>
                <c:pt idx="18">
                  <c:v>12000</c:v>
                </c:pt>
                <c:pt idx="19">
                  <c:v>12000</c:v>
                </c:pt>
                <c:pt idx="20">
                  <c:v>11000</c:v>
                </c:pt>
                <c:pt idx="21">
                  <c:v>11000</c:v>
                </c:pt>
                <c:pt idx="22">
                  <c:v>9700</c:v>
                </c:pt>
                <c:pt idx="23">
                  <c:v>8800</c:v>
                </c:pt>
                <c:pt idx="24">
                  <c:v>7800</c:v>
                </c:pt>
                <c:pt idx="25">
                  <c:v>6900</c:v>
                </c:pt>
                <c:pt idx="26">
                  <c:v>6100</c:v>
                </c:pt>
                <c:pt idx="27">
                  <c:v>5400</c:v>
                </c:pt>
                <c:pt idx="28">
                  <c:v>4800</c:v>
                </c:pt>
                <c:pt idx="29">
                  <c:v>4400</c:v>
                </c:pt>
                <c:pt idx="30">
                  <c:v>4300</c:v>
                </c:pt>
                <c:pt idx="31">
                  <c:v>4800</c:v>
                </c:pt>
                <c:pt idx="32">
                  <c:v>4600</c:v>
                </c:pt>
                <c:pt idx="33">
                  <c:v>4400</c:v>
                </c:pt>
                <c:pt idx="34">
                  <c:v>4400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tos"/>
                    <a:ea typeface="Aptos"/>
                    <a:cs typeface="Aptos"/>
                  </a:rPr>
                  <a:t>Year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BE4E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tos"/>
                    <a:ea typeface="Aptos"/>
                    <a:cs typeface="Aptos"/>
                  </a:rPr>
                  <a:t>Estimated annual count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latin typeface="Aptos"/>
              <a:ea typeface="Aptos"/>
              <a:cs typeface="Aptos"/>
            </a:defRPr>
          </a:pPr>
        </a:p>
      </c:txPr>
    </c:legend>
    <c:plotVisOnly val="1"/>
    <c:dispBlanksAs val="gap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2010 to 2025 change</c:v>
          </c:tx>
          <c:spPr>
            <a:solidFill xmlns:a="http://schemas.openxmlformats.org/drawingml/2006/main">
              <a:srgbClr val="0D6E66"/>
            </a:solidFill>
            <a:ln xmlns:a="http://schemas.openxmlformats.org/drawingml/2006/main" w="19050">
              <a:solidFill>
                <a:srgbClr val="0D6E66"/>
              </a:solidFill>
            </a:ln>
          </c:spPr>
          <c:invertIfNegative val="0"/>
          <c:cat>
            <c:strRef>
              <c:f>'Chart Data'!$A$2:$A$7</c:f>
              <c:strCache>
                <c:ptCount val="6"/>
                <c:pt idx="0">
                  <c:v>Thailand</c:v>
                </c:pt>
                <c:pt idx="1">
                  <c:v>Myanmar</c:v>
                </c:pt>
                <c:pt idx="2">
                  <c:v>Cambodia</c:v>
                </c:pt>
                <c:pt idx="3">
                  <c:v>Malaysia</c:v>
                </c:pt>
                <c:pt idx="4">
                  <c:v>Viet Nam</c:v>
                </c:pt>
                <c:pt idx="5">
                  <c:v>Indonesia</c:v>
                </c:pt>
              </c:strCache>
            </c:strRef>
          </c:cat>
          <c:val>
            <c:numRef>
              <c:f>'Chart Data'!$B$2:$B$7</c:f>
              <c:numCache>
                <c:formatCode>0.0</c:formatCode>
                <c:ptCount val="6"/>
                <c:pt idx="0">
                  <c:v>-79.5</c:v>
                </c:pt>
                <c:pt idx="1">
                  <c:v>-63.3</c:v>
                </c:pt>
                <c:pt idx="2">
                  <c:v>-41.2</c:v>
                </c:pt>
                <c:pt idx="3">
                  <c:v>-41.2</c:v>
                </c:pt>
                <c:pt idx="4">
                  <c:v>-14.6</c:v>
                </c:pt>
                <c:pt idx="5">
                  <c:v>28.6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tos"/>
                    <a:ea typeface="Aptos"/>
                    <a:cs typeface="Aptos"/>
                  </a:rPr>
                  <a:t>Country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BE4E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tos"/>
                    <a:ea typeface="Aptos"/>
                    <a:cs typeface="Aptos"/>
                  </a:rPr>
                  <a:t>Change in annual deaths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plotVisOnly val="1"/>
    <c:dispBlanksAs val="gap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2010 to 2025 change</c:v>
          </c:tx>
          <c:spPr>
            <a:solidFill xmlns:a="http://schemas.openxmlformats.org/drawingml/2006/main">
              <a:srgbClr val="0D6E66"/>
            </a:solidFill>
            <a:ln xmlns:a="http://schemas.openxmlformats.org/drawingml/2006/main" w="19050">
              <a:solidFill>
                <a:srgbClr val="0D6E66"/>
              </a:solidFill>
            </a:ln>
          </c:spPr>
          <c:invertIfNegative val="0"/>
          <c:cat>
            <c:strRef>
              <c:f>'Chart Data'!$A$2:$A$9</c:f>
              <c:strCache>
                <c:ptCount val="8"/>
                <c:pt idx="0">
                  <c:v>Thailand</c:v>
                </c:pt>
                <c:pt idx="1">
                  <c:v>Myanmar</c:v>
                </c:pt>
                <c:pt idx="2">
                  <c:v>Cambodia</c:v>
                </c:pt>
                <c:pt idx="3">
                  <c:v>Malaysia</c:v>
                </c:pt>
                <c:pt idx="4">
                  <c:v>Viet Nam</c:v>
                </c:pt>
                <c:pt idx="5">
                  <c:v>Indonesia</c:v>
                </c:pt>
                <c:pt idx="6">
                  <c:v>Lao PDR</c:v>
                </c:pt>
                <c:pt idx="7">
                  <c:v>Philippines</c:v>
                </c:pt>
              </c:strCache>
            </c:strRef>
          </c:cat>
          <c:val>
            <c:numRef>
              <c:f>'Chart Data'!$B$2:$B$9</c:f>
              <c:numCache>
                <c:formatCode>0.0</c:formatCode>
                <c:ptCount val="8"/>
                <c:pt idx="0">
                  <c:v>-65.2</c:v>
                </c:pt>
                <c:pt idx="1">
                  <c:v>-44.1</c:v>
                </c:pt>
                <c:pt idx="2">
                  <c:v>-58.3</c:v>
                </c:pt>
                <c:pt idx="3">
                  <c:v>-52.5</c:v>
                </c:pt>
                <c:pt idx="4">
                  <c:v>-56.4</c:v>
                </c:pt>
                <c:pt idx="5">
                  <c:v>-56.2</c:v>
                </c:pt>
                <c:pt idx="6">
                  <c:v>8.3</c:v>
                </c:pt>
                <c:pt idx="7">
                  <c:v>639.1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tos"/>
                    <a:ea typeface="Aptos"/>
                    <a:cs typeface="Aptos"/>
                  </a:rPr>
                  <a:t>Country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BE4E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tos"/>
                    <a:ea typeface="Aptos"/>
                    <a:cs typeface="Aptos"/>
                  </a:rPr>
                  <a:t>Change in annual infections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plotVisOnly val="1"/>
    <c:dispBlanksAs val="gap"/>
  </c:chart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Myanmar</c:v>
          </c:tx>
          <c:spPr>
            <a:solidFill xmlns:a="http://schemas.openxmlformats.org/drawingml/2006/main">
              <a:srgbClr val="0D6E66"/>
            </a:solidFill>
            <a:ln xmlns:a="http://schemas.openxmlformats.org/drawingml/2006/main" w="19050">
              <a:solidFill>
                <a:srgbClr val="0D6E66"/>
              </a:solidFill>
            </a:ln>
          </c:spPr>
          <c:marker>
            <c:symbol val="none"/>
            <c:size val="5"/>
            <c:spPr>
              <a:solidFill xmlns:a="http://schemas.openxmlformats.org/drawingml/2006/main">
                <a:srgbClr val="0D6E66"/>
              </a:solidFill>
            </c:spPr>
          </c:marker>
          <c:cat>
            <c:numRef>
              <c:f>'Chart Data'!$A$2:$A$17</c:f>
              <c:numCache>
                <c:formatCode>General</c:formatCode>
                <c:ptCount val="16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</c:numCache>
            </c:numRef>
          </c:cat>
          <c:val>
            <c:numRef>
              <c:f>'Chart Data'!$B$2:$B$17</c:f>
              <c:numCache>
                <c:formatCode>0.0</c:formatCode>
                <c:ptCount val="16"/>
                <c:pt idx="0">
                  <c:v>12</c:v>
                </c:pt>
                <c:pt idx="1">
                  <c:v>16</c:v>
                </c:pt>
                <c:pt idx="2">
                  <c:v>21</c:v>
                </c:pt>
                <c:pt idx="3">
                  <c:v>26</c:v>
                </c:pt>
                <c:pt idx="4">
                  <c:v>33</c:v>
                </c:pt>
                <c:pt idx="5">
                  <c:v>40</c:v>
                </c:pt>
                <c:pt idx="6">
                  <c:v>47</c:v>
                </c:pt>
                <c:pt idx="7">
                  <c:v>53</c:v>
                </c:pt>
                <c:pt idx="8">
                  <c:v>60</c:v>
                </c:pt>
                <c:pt idx="9">
                  <c:v>65</c:v>
                </c:pt>
                <c:pt idx="10">
                  <c:v>69</c:v>
                </c:pt>
                <c:pt idx="11">
                  <c:v>66</c:v>
                </c:pt>
                <c:pt idx="12">
                  <c:v>70</c:v>
                </c:pt>
                <c:pt idx="13">
                  <c:v>72</c:v>
                </c:pt>
                <c:pt idx="14">
                  <c:v>72</c:v>
                </c:pt>
                <c:pt idx="15">
                  <c:v>73</c:v>
                </c:pt>
              </c:numCache>
            </c:numRef>
          </c:val>
          <c:smooth val="0"/>
        </c:ser>
        <c:ser>
          <c:idx val="1"/>
          <c:order val="1"/>
          <c:tx>
            <c:v>Cambodia</c:v>
          </c:tx>
          <c:spPr>
            <a:solidFill xmlns:a="http://schemas.openxmlformats.org/drawingml/2006/main">
              <a:srgbClr val="B91C1C"/>
            </a:solidFill>
            <a:ln xmlns:a="http://schemas.openxmlformats.org/drawingml/2006/main" w="19050">
              <a:solidFill>
                <a:srgbClr val="B91C1C"/>
              </a:solidFill>
            </a:ln>
          </c:spPr>
          <c:marker>
            <c:symbol val="none"/>
            <c:size val="5"/>
            <c:spPr>
              <a:solidFill xmlns:a="http://schemas.openxmlformats.org/drawingml/2006/main">
                <a:srgbClr val="B91C1C"/>
              </a:solidFill>
            </c:spPr>
          </c:marker>
          <c:cat>
            <c:numRef>
              <c:f>'Chart Data'!$C$2:$C$17</c:f>
              <c:numCache>
                <c:formatCode>General</c:formatCode>
                <c:ptCount val="16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</c:numCache>
            </c:numRef>
          </c:cat>
          <c:val>
            <c:numRef>
              <c:f>'Chart Data'!$D$2:$D$17</c:f>
              <c:numCache>
                <c:formatCode>0.0</c:formatCode>
                <c:ptCount val="16"/>
                <c:pt idx="0">
                  <c:v>50</c:v>
                </c:pt>
                <c:pt idx="1">
                  <c:v>54</c:v>
                </c:pt>
                <c:pt idx="2">
                  <c:v>57</c:v>
                </c:pt>
                <c:pt idx="3">
                  <c:v>59</c:v>
                </c:pt>
                <c:pt idx="4">
                  <c:v>62</c:v>
                </c:pt>
                <c:pt idx="5">
                  <c:v>66</c:v>
                </c:pt>
                <c:pt idx="6">
                  <c:v>69</c:v>
                </c:pt>
                <c:pt idx="7">
                  <c:v>72</c:v>
                </c:pt>
                <c:pt idx="8">
                  <c:v>75</c:v>
                </c:pt>
                <c:pt idx="9">
                  <c:v>78</c:v>
                </c:pt>
                <c:pt idx="10">
                  <c:v>80</c:v>
                </c:pt>
                <c:pt idx="11">
                  <c:v>80</c:v>
                </c:pt>
                <c:pt idx="12">
                  <c:v>83</c:v>
                </c:pt>
                <c:pt idx="13">
                  <c:v>87</c:v>
                </c:pt>
                <c:pt idx="14">
                  <c:v>91</c:v>
                </c:pt>
                <c:pt idx="15">
                  <c:v>95</c:v>
                </c:pt>
              </c:numCache>
            </c:numRef>
          </c:val>
          <c:smooth val="0"/>
        </c:ser>
        <c:ser>
          <c:idx val="2"/>
          <c:order val="2"/>
          <c:tx>
            <c:v>Thailand</c:v>
          </c:tx>
          <c:spPr>
            <a:solidFill xmlns:a="http://schemas.openxmlformats.org/drawingml/2006/main">
              <a:srgbClr val="3730A3"/>
            </a:solidFill>
            <a:ln xmlns:a="http://schemas.openxmlformats.org/drawingml/2006/main" w="19050">
              <a:solidFill>
                <a:srgbClr val="3730A3"/>
              </a:solidFill>
            </a:ln>
          </c:spPr>
          <c:marker>
            <c:symbol val="none"/>
            <c:size val="5"/>
            <c:spPr>
              <a:solidFill xmlns:a="http://schemas.openxmlformats.org/drawingml/2006/main">
                <a:srgbClr val="3730A3"/>
              </a:solidFill>
            </c:spPr>
          </c:marker>
          <c:cat>
            <c:numRef>
              <c:f>'Chart Data'!$E$2:$E$17</c:f>
              <c:numCache>
                <c:formatCode>General</c:formatCode>
                <c:ptCount val="16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</c:numCache>
            </c:numRef>
          </c:cat>
          <c:val>
            <c:numRef>
              <c:f>'Chart Data'!$F$2:$F$17</c:f>
              <c:numCache>
                <c:formatCode>0.0</c:formatCode>
                <c:ptCount val="16"/>
                <c:pt idx="0">
                  <c:v>27</c:v>
                </c:pt>
                <c:pt idx="1">
                  <c:v>31</c:v>
                </c:pt>
                <c:pt idx="2">
                  <c:v>34</c:v>
                </c:pt>
                <c:pt idx="3">
                  <c:v>38</c:v>
                </c:pt>
                <c:pt idx="4">
                  <c:v>42</c:v>
                </c:pt>
                <c:pt idx="5">
                  <c:v>48</c:v>
                </c:pt>
                <c:pt idx="6">
                  <c:v>53</c:v>
                </c:pt>
                <c:pt idx="7">
                  <c:v>57</c:v>
                </c:pt>
                <c:pt idx="8">
                  <c:v>60</c:v>
                </c:pt>
                <c:pt idx="9">
                  <c:v>64</c:v>
                </c:pt>
                <c:pt idx="10">
                  <c:v>68</c:v>
                </c:pt>
                <c:pt idx="11">
                  <c:v>70</c:v>
                </c:pt>
                <c:pt idx="12">
                  <c:v>73</c:v>
                </c:pt>
                <c:pt idx="13">
                  <c:v>77</c:v>
                </c:pt>
                <c:pt idx="14">
                  <c:v>79</c:v>
                </c:pt>
                <c:pt idx="15">
                  <c:v>82</c:v>
                </c:pt>
              </c:numCache>
            </c:numRef>
          </c:val>
          <c:smooth val="0"/>
        </c:ser>
        <c:ser>
          <c:idx val="3"/>
          <c:order val="3"/>
          <c:tx>
            <c:v>Viet Nam</c:v>
          </c:tx>
          <c:spPr>
            <a:solidFill xmlns:a="http://schemas.openxmlformats.org/drawingml/2006/main">
              <a:srgbClr val="B45309"/>
            </a:solidFill>
            <a:ln xmlns:a="http://schemas.openxmlformats.org/drawingml/2006/main" w="19050">
              <a:solidFill>
                <a:srgbClr val="B45309"/>
              </a:solidFill>
            </a:ln>
          </c:spPr>
          <c:marker>
            <c:symbol val="none"/>
            <c:size val="5"/>
            <c:spPr>
              <a:solidFill xmlns:a="http://schemas.openxmlformats.org/drawingml/2006/main">
                <a:srgbClr val="B45309"/>
              </a:solidFill>
            </c:spPr>
          </c:marker>
          <c:cat>
            <c:numRef>
              <c:f>'Chart Data'!$G$2:$G$17</c:f>
              <c:numCache>
                <c:formatCode>General</c:formatCode>
                <c:ptCount val="16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</c:numCache>
            </c:numRef>
          </c:cat>
          <c:val>
            <c:numRef>
              <c:f>'Chart Data'!$H$2:$H$17</c:f>
              <c:numCache>
                <c:formatCode>0.0</c:formatCode>
                <c:ptCount val="16"/>
                <c:pt idx="0">
                  <c:v>25</c:v>
                </c:pt>
                <c:pt idx="1">
                  <c:v>29</c:v>
                </c:pt>
                <c:pt idx="2">
                  <c:v>34</c:v>
                </c:pt>
                <c:pt idx="3">
                  <c:v>38</c:v>
                </c:pt>
                <c:pt idx="4">
                  <c:v>41</c:v>
                </c:pt>
                <c:pt idx="5">
                  <c:v>47</c:v>
                </c:pt>
                <c:pt idx="6">
                  <c:v>50</c:v>
                </c:pt>
                <c:pt idx="7">
                  <c:v>51</c:v>
                </c:pt>
                <c:pt idx="8">
                  <c:v>56</c:v>
                </c:pt>
                <c:pt idx="9">
                  <c:v>59</c:v>
                </c:pt>
                <c:pt idx="10">
                  <c:v>63</c:v>
                </c:pt>
                <c:pt idx="11">
                  <c:v>66</c:v>
                </c:pt>
                <c:pt idx="12">
                  <c:v>67</c:v>
                </c:pt>
                <c:pt idx="13">
                  <c:v>71</c:v>
                </c:pt>
                <c:pt idx="14">
                  <c:v>73</c:v>
                </c:pt>
                <c:pt idx="15">
                  <c:v>75</c:v>
                </c:pt>
              </c:numCache>
            </c:numRef>
          </c:val>
          <c:smooth val="0"/>
        </c:ser>
        <c:ser>
          <c:idx val="4"/>
          <c:order val="4"/>
          <c:tx>
            <c:v>Indonesia</c:v>
          </c:tx>
          <c:spPr>
            <a:solidFill xmlns:a="http://schemas.openxmlformats.org/drawingml/2006/main">
              <a:srgbClr val="2874A6"/>
            </a:solidFill>
            <a:ln xmlns:a="http://schemas.openxmlformats.org/drawingml/2006/main" w="19050">
              <a:solidFill>
                <a:srgbClr val="2874A6"/>
              </a:solidFill>
            </a:ln>
          </c:spPr>
          <c:marker>
            <c:symbol val="none"/>
            <c:size val="5"/>
            <c:spPr>
              <a:solidFill xmlns:a="http://schemas.openxmlformats.org/drawingml/2006/main">
                <a:srgbClr val="2874A6"/>
              </a:solidFill>
            </c:spPr>
          </c:marker>
          <c:cat>
            <c:numRef>
              <c:f>'Chart Data'!$I$2:$I$17</c:f>
              <c:numCache>
                <c:formatCode>General</c:formatCode>
                <c:ptCount val="16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</c:numCache>
            </c:numRef>
          </c:cat>
          <c:val>
            <c:numRef>
              <c:f>'Chart Data'!$J$2:$J$17</c:f>
              <c:numCache>
                <c:formatCode>0.0</c:formatCode>
                <c:ptCount val="16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10</c:v>
                </c:pt>
                <c:pt idx="5">
                  <c:v>12</c:v>
                </c:pt>
                <c:pt idx="6">
                  <c:v>15</c:v>
                </c:pt>
                <c:pt idx="7">
                  <c:v>17</c:v>
                </c:pt>
                <c:pt idx="8">
                  <c:v>20</c:v>
                </c:pt>
                <c:pt idx="9">
                  <c:v>23</c:v>
                </c:pt>
                <c:pt idx="10">
                  <c:v>25</c:v>
                </c:pt>
                <c:pt idx="11">
                  <c:v>27</c:v>
                </c:pt>
                <c:pt idx="12">
                  <c:v>29</c:v>
                </c:pt>
                <c:pt idx="13">
                  <c:v>32</c:v>
                </c:pt>
                <c:pt idx="14">
                  <c:v>42</c:v>
                </c:pt>
                <c:pt idx="15">
                  <c:v>48</c:v>
                </c:pt>
              </c:numCache>
            </c:numRef>
          </c:val>
          <c:smooth val="0"/>
        </c:ser>
        <c:ser>
          <c:idx val="5"/>
          <c:order val="5"/>
          <c:tx>
            <c:v>Philippines</c:v>
          </c:tx>
          <c:spPr>
            <a:solidFill xmlns:a="http://schemas.openxmlformats.org/drawingml/2006/main">
              <a:srgbClr val="7A4379"/>
            </a:solidFill>
            <a:ln xmlns:a="http://schemas.openxmlformats.org/drawingml/2006/main" w="19050">
              <a:solidFill>
                <a:srgbClr val="7A4379"/>
              </a:solidFill>
            </a:ln>
          </c:spPr>
          <c:marker>
            <c:symbol val="none"/>
            <c:size val="5"/>
            <c:spPr>
              <a:solidFill xmlns:a="http://schemas.openxmlformats.org/drawingml/2006/main">
                <a:srgbClr val="7A4379"/>
              </a:solidFill>
            </c:spPr>
          </c:marker>
          <c:cat>
            <c:numRef>
              <c:f>'Chart Data'!$K$2:$K$17</c:f>
              <c:numCache>
                <c:formatCode>General</c:formatCode>
                <c:ptCount val="16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  <c:pt idx="9">
                  <c:v>2019</c:v>
                </c:pt>
                <c:pt idx="10">
                  <c:v>2020</c:v>
                </c:pt>
                <c:pt idx="11">
                  <c:v>2021</c:v>
                </c:pt>
                <c:pt idx="12">
                  <c:v>2022</c:v>
                </c:pt>
                <c:pt idx="13">
                  <c:v>2023</c:v>
                </c:pt>
                <c:pt idx="14">
                  <c:v>2024</c:v>
                </c:pt>
                <c:pt idx="15">
                  <c:v>2025</c:v>
                </c:pt>
              </c:numCache>
            </c:numRef>
          </c:cat>
          <c:val>
            <c:numRef>
              <c:f>'Chart Data'!$L$2:$L$17</c:f>
              <c:numCache>
                <c:formatCode>0.0</c:formatCode>
                <c:ptCount val="16"/>
                <c:pt idx="0">
                  <c:v>5</c:v>
                </c:pt>
                <c:pt idx="1">
                  <c:v>7</c:v>
                </c:pt>
                <c:pt idx="2">
                  <c:v>8</c:v>
                </c:pt>
                <c:pt idx="3">
                  <c:v>14</c:v>
                </c:pt>
                <c:pt idx="4">
                  <c:v>18</c:v>
                </c:pt>
                <c:pt idx="5">
                  <c:v>23</c:v>
                </c:pt>
                <c:pt idx="6">
                  <c:v>27</c:v>
                </c:pt>
                <c:pt idx="7">
                  <c:v>31</c:v>
                </c:pt>
                <c:pt idx="8">
                  <c:v>36</c:v>
                </c:pt>
                <c:pt idx="9">
                  <c:v>40</c:v>
                </c:pt>
                <c:pt idx="10">
                  <c:v>38</c:v>
                </c:pt>
                <c:pt idx="11">
                  <c:v>39</c:v>
                </c:pt>
                <c:pt idx="12">
                  <c:v>41</c:v>
                </c:pt>
                <c:pt idx="13">
                  <c:v>40</c:v>
                </c:pt>
                <c:pt idx="14">
                  <c:v>40</c:v>
                </c:pt>
                <c:pt idx="15">
                  <c:v>41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tos"/>
                    <a:ea typeface="Aptos"/>
                    <a:cs typeface="Aptos"/>
                  </a:rPr>
                  <a:t>Year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BE4E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tos"/>
                    <a:ea typeface="Aptos"/>
                    <a:cs typeface="Aptos"/>
                  </a:rPr>
                  <a:t>ART / all PLHIV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latin typeface="Aptos"/>
              <a:ea typeface="Aptos"/>
              <a:cs typeface="Aptos"/>
            </a:defRPr>
          </a:pPr>
        </a:p>
      </c:txPr>
    </c:legend>
    <c:plotVisOnly val="1"/>
    <c:dispBlanksAs val="gap"/>
  </c:chart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On ART / all PLHIV</c:v>
          </c:tx>
          <c:spPr>
            <a:solidFill xmlns:a="http://schemas.openxmlformats.org/drawingml/2006/main">
              <a:srgbClr val="0D6E66"/>
            </a:solidFill>
            <a:ln xmlns:a="http://schemas.openxmlformats.org/drawingml/2006/main" w="19050">
              <a:solidFill>
                <a:srgbClr val="0D6E66"/>
              </a:solidFill>
            </a:ln>
          </c:spPr>
          <c:invertIfNegative val="0"/>
          <c:cat>
            <c:strRef>
              <c:f>'Chart Data'!$A$2:$A$10</c:f>
              <c:strCache>
                <c:ptCount val="9"/>
                <c:pt idx="0">
                  <c:v>Indonesia</c:v>
                </c:pt>
                <c:pt idx="1">
                  <c:v>Cambodia</c:v>
                </c:pt>
                <c:pt idx="2">
                  <c:v>Lao PDR</c:v>
                </c:pt>
                <c:pt idx="3">
                  <c:v>Myanmar</c:v>
                </c:pt>
                <c:pt idx="4">
                  <c:v>Malaysia</c:v>
                </c:pt>
                <c:pt idx="5">
                  <c:v>Philippines</c:v>
                </c:pt>
                <c:pt idx="6">
                  <c:v>Thailand</c:v>
                </c:pt>
                <c:pt idx="7">
                  <c:v>Timor-Leste</c:v>
                </c:pt>
                <c:pt idx="8">
                  <c:v>Viet Nam</c:v>
                </c:pt>
              </c:strCache>
            </c:strRef>
          </c:cat>
          <c:val>
            <c:numRef>
              <c:f>'Chart Data'!$B$2:$B$10</c:f>
              <c:numCache>
                <c:formatCode>0.0</c:formatCode>
                <c:ptCount val="9"/>
                <c:pt idx="0">
                  <c:v>48</c:v>
                </c:pt>
                <c:pt idx="1">
                  <c:v>95</c:v>
                </c:pt>
                <c:pt idx="2">
                  <c:v>64</c:v>
                </c:pt>
                <c:pt idx="3">
                  <c:v>73</c:v>
                </c:pt>
                <c:pt idx="4">
                  <c:v>63</c:v>
                </c:pt>
                <c:pt idx="5">
                  <c:v>41</c:v>
                </c:pt>
                <c:pt idx="6">
                  <c:v>82</c:v>
                </c:pt>
                <c:pt idx="7">
                  <c:v>66</c:v>
                </c:pt>
                <c:pt idx="8">
                  <c:v>75</c:v>
                </c:pt>
              </c:numCache>
            </c:numRef>
          </c:val>
        </c:ser>
        <c:ser>
          <c:idx val="1"/>
          <c:order val="1"/>
          <c:tx>
            <c:v>Suppressed / all PLHIV</c:v>
          </c:tx>
          <c:spPr>
            <a:solidFill xmlns:a="http://schemas.openxmlformats.org/drawingml/2006/main">
              <a:srgbClr val="B91C1C"/>
            </a:solidFill>
            <a:ln xmlns:a="http://schemas.openxmlformats.org/drawingml/2006/main" w="19050">
              <a:solidFill>
                <a:srgbClr val="B91C1C"/>
              </a:solidFill>
            </a:ln>
          </c:spPr>
          <c:invertIfNegative val="0"/>
          <c:cat>
            <c:strRef>
              <c:f>'Chart Data'!$C$2:$C$10</c:f>
              <c:strCache>
                <c:ptCount val="9"/>
                <c:pt idx="0">
                  <c:v>Indonesia</c:v>
                </c:pt>
                <c:pt idx="1">
                  <c:v>Cambodia</c:v>
                </c:pt>
                <c:pt idx="2">
                  <c:v>Lao PDR</c:v>
                </c:pt>
                <c:pt idx="3">
                  <c:v>Myanmar</c:v>
                </c:pt>
                <c:pt idx="4">
                  <c:v>Malaysia</c:v>
                </c:pt>
                <c:pt idx="5">
                  <c:v>Philippines</c:v>
                </c:pt>
                <c:pt idx="6">
                  <c:v>Thailand</c:v>
                </c:pt>
                <c:pt idx="7">
                  <c:v>Timor-Leste</c:v>
                </c:pt>
                <c:pt idx="8">
                  <c:v>Viet Nam</c:v>
                </c:pt>
              </c:strCache>
            </c:strRef>
          </c:cat>
          <c:val>
            <c:numRef>
              <c:f>'Chart Data'!$D$2:$D$10</c:f>
              <c:numCache>
                <c:formatCode>0.0</c:formatCode>
                <c:ptCount val="9"/>
                <c:pt idx="0">
                  <c:v>45</c:v>
                </c:pt>
                <c:pt idx="1">
                  <c:v>93</c:v>
                </c:pt>
                <c:pt idx="2">
                  <c:v>63</c:v>
                </c:pt>
                <c:pt idx="3">
                  <c:v>70</c:v>
                </c:pt>
                <c:pt idx="4">
                  <c:v>55</c:v>
                </c:pt>
                <c:pt idx="5">
                  <c:v>40</c:v>
                </c:pt>
                <c:pt idx="6">
                  <c:v>81</c:v>
                </c:pt>
                <c:pt idx="7">
                  <c:v>46</c:v>
                </c:pt>
                <c:pt idx="8">
                  <c:v>72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tos"/>
                    <a:ea typeface="Aptos"/>
                    <a:cs typeface="Aptos"/>
                  </a:rPr>
                  <a:t>Country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BE4E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tos"/>
                    <a:ea typeface="Aptos"/>
                    <a:cs typeface="Aptos"/>
                  </a:rPr>
                  <a:t>Percent of all PLHIV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latin typeface="Aptos"/>
              <a:ea typeface="Aptos"/>
              <a:cs typeface="Aptos"/>
            </a:defRPr>
          </a:pPr>
        </a:p>
      </c:txPr>
    </c:legend>
    <c:plotVisOnly val="1"/>
    <c:dispBlanksAs val="gap"/>
  </c:chart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PLHIV not on ART</c:v>
          </c:tx>
          <c:spPr>
            <a:solidFill xmlns:a="http://schemas.openxmlformats.org/drawingml/2006/main">
              <a:srgbClr val="0D6E66"/>
            </a:solidFill>
            <a:ln xmlns:a="http://schemas.openxmlformats.org/drawingml/2006/main" w="19050">
              <a:solidFill>
                <a:srgbClr val="0D6E66"/>
              </a:solidFill>
            </a:ln>
          </c:spPr>
          <c:invertIfNegative val="0"/>
          <c:cat>
            <c:strRef>
              <c:f>'Chart Data'!$A$2:$A$10</c:f>
              <c:strCache>
                <c:ptCount val="9"/>
                <c:pt idx="0">
                  <c:v>Indonesia</c:v>
                </c:pt>
                <c:pt idx="1">
                  <c:v>Philippines</c:v>
                </c:pt>
                <c:pt idx="2">
                  <c:v>Thailand</c:v>
                </c:pt>
                <c:pt idx="3">
                  <c:v>Myanmar</c:v>
                </c:pt>
                <c:pt idx="4">
                  <c:v>Viet Nam</c:v>
                </c:pt>
                <c:pt idx="5">
                  <c:v>Malaysia</c:v>
                </c:pt>
                <c:pt idx="6">
                  <c:v>Lao PDR</c:v>
                </c:pt>
                <c:pt idx="7">
                  <c:v>Cambodia</c:v>
                </c:pt>
                <c:pt idx="8">
                  <c:v>Timor-Leste</c:v>
                </c:pt>
              </c:strCache>
            </c:strRef>
          </c:cat>
          <c:val>
            <c:numRef>
              <c:f>'Chart Data'!$B$2:$B$10</c:f>
              <c:numCache>
                <c:formatCode>0.0</c:formatCode>
                <c:ptCount val="9"/>
                <c:pt idx="0">
                  <c:v>291.2</c:v>
                </c:pt>
                <c:pt idx="1">
                  <c:v>147.5</c:v>
                </c:pt>
                <c:pt idx="2">
                  <c:v>111.6</c:v>
                </c:pt>
                <c:pt idx="3">
                  <c:v>83.7</c:v>
                </c:pt>
                <c:pt idx="4">
                  <c:v>67.5</c:v>
                </c:pt>
                <c:pt idx="5">
                  <c:v>31.45</c:v>
                </c:pt>
                <c:pt idx="6">
                  <c:v>8.28</c:v>
                </c:pt>
                <c:pt idx="7">
                  <c:v>3.8</c:v>
                </c:pt>
                <c:pt idx="8">
                  <c:v>0.748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tos"/>
                    <a:ea typeface="Aptos"/>
                    <a:cs typeface="Aptos"/>
                  </a:rPr>
                  <a:t>Country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BE4E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tos"/>
                    <a:ea typeface="Aptos"/>
                    <a:cs typeface="Aptos"/>
                  </a:rPr>
                  <a:t>Approximate count (thousands)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</c:plotArea>
    <c:plotVisOnly val="1"/>
    <c:dispBlanksAs val="gap"/>
  </c:chart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varyColors val="0"/>
        <c:ser>
          <c:idx val="0"/>
          <c:order val="0"/>
          <c:tx>
            <c:v>Indonesia</c:v>
          </c:tx>
          <c:spPr>
            <a:solidFill xmlns:a="http://schemas.openxmlformats.org/drawingml/2006/main">
              <a:srgbClr val="0D6E66"/>
            </a:solidFill>
            <a:ln xmlns:a="http://schemas.openxmlformats.org/drawingml/2006/main" w="19050">
              <a:solidFill>
                <a:srgbClr val="0D6E66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0D6E66"/>
              </a:solidFill>
            </c:spPr>
          </c:marker>
          <c:xVal>
            <c:numRef>
              <c:f>'Chart Data'!$A$2:$A$2</c:f>
              <c:numCache>
                <c:formatCode>General</c:formatCode>
                <c:ptCount val="1"/>
                <c:pt idx="0">
                  <c:v>15091.0088604652</c:v>
                </c:pt>
              </c:numCache>
            </c:numRef>
          </c:xVal>
          <c:yVal>
            <c:numRef>
              <c:f>'Chart Data'!$B$2:$B$2</c:f>
              <c:numCache>
                <c:formatCode>0.0</c:formatCode>
                <c:ptCount val="1"/>
                <c:pt idx="0">
                  <c:v>48</c:v>
                </c:pt>
              </c:numCache>
            </c:numRef>
          </c:yVal>
        </c:ser>
        <c:ser>
          <c:idx val="1"/>
          <c:order val="1"/>
          <c:tx>
            <c:v>Cambodia</c:v>
          </c:tx>
          <c:spPr>
            <a:solidFill xmlns:a="http://schemas.openxmlformats.org/drawingml/2006/main">
              <a:srgbClr val="B91C1C"/>
            </a:solidFill>
            <a:ln xmlns:a="http://schemas.openxmlformats.org/drawingml/2006/main" w="19050">
              <a:solidFill>
                <a:srgbClr val="B91C1C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B91C1C"/>
              </a:solidFill>
            </c:spPr>
          </c:marker>
          <c:xVal>
            <c:numRef>
              <c:f>'Chart Data'!$C$2:$C$2</c:f>
              <c:numCache>
                <c:formatCode>General</c:formatCode>
                <c:ptCount val="1"/>
                <c:pt idx="0">
                  <c:v>7300.0807825063</c:v>
                </c:pt>
              </c:numCache>
            </c:numRef>
          </c:xVal>
          <c:yVal>
            <c:numRef>
              <c:f>'Chart Data'!$D$2:$D$2</c:f>
              <c:numCache>
                <c:formatCode>0.0</c:formatCode>
                <c:ptCount val="1"/>
                <c:pt idx="0">
                  <c:v>95</c:v>
                </c:pt>
              </c:numCache>
            </c:numRef>
          </c:yVal>
        </c:ser>
        <c:ser>
          <c:idx val="2"/>
          <c:order val="2"/>
          <c:tx>
            <c:v>Lao PDR</c:v>
          </c:tx>
          <c:spPr>
            <a:solidFill xmlns:a="http://schemas.openxmlformats.org/drawingml/2006/main">
              <a:srgbClr val="3730A3"/>
            </a:solidFill>
            <a:ln xmlns:a="http://schemas.openxmlformats.org/drawingml/2006/main" w="19050">
              <a:solidFill>
                <a:srgbClr val="3730A3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3730A3"/>
              </a:solidFill>
            </c:spPr>
          </c:marker>
          <c:xVal>
            <c:numRef>
              <c:f>'Chart Data'!$E$2:$E$2</c:f>
              <c:numCache>
                <c:formatCode>General</c:formatCode>
                <c:ptCount val="1"/>
                <c:pt idx="0">
                  <c:v>8872.6939618643</c:v>
                </c:pt>
              </c:numCache>
            </c:numRef>
          </c:xVal>
          <c:yVal>
            <c:numRef>
              <c:f>'Chart Data'!$F$2:$F$2</c:f>
              <c:numCache>
                <c:formatCode>0.0</c:formatCode>
                <c:ptCount val="1"/>
                <c:pt idx="0">
                  <c:v>64</c:v>
                </c:pt>
              </c:numCache>
            </c:numRef>
          </c:yVal>
        </c:ser>
        <c:ser>
          <c:idx val="3"/>
          <c:order val="3"/>
          <c:tx>
            <c:v>Myanmar</c:v>
          </c:tx>
          <c:spPr>
            <a:solidFill xmlns:a="http://schemas.openxmlformats.org/drawingml/2006/main">
              <a:srgbClr val="B45309"/>
            </a:solidFill>
            <a:ln xmlns:a="http://schemas.openxmlformats.org/drawingml/2006/main" w="19050">
              <a:solidFill>
                <a:srgbClr val="B45309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B45309"/>
              </a:solidFill>
            </c:spPr>
          </c:marker>
          <c:xVal>
            <c:numRef>
              <c:f>'Chart Data'!$G$2:$G$2</c:f>
              <c:numCache>
                <c:formatCode>General</c:formatCode>
                <c:ptCount val="1"/>
                <c:pt idx="0">
                  <c:v>5137.1004882562</c:v>
                </c:pt>
              </c:numCache>
            </c:numRef>
          </c:xVal>
          <c:yVal>
            <c:numRef>
              <c:f>'Chart Data'!$H$2:$H$2</c:f>
              <c:numCache>
                <c:formatCode>0.0</c:formatCode>
                <c:ptCount val="1"/>
                <c:pt idx="0">
                  <c:v>73</c:v>
                </c:pt>
              </c:numCache>
            </c:numRef>
          </c:yVal>
        </c:ser>
        <c:ser>
          <c:idx val="4"/>
          <c:order val="4"/>
          <c:tx>
            <c:v>Malaysia</c:v>
          </c:tx>
          <c:spPr>
            <a:solidFill xmlns:a="http://schemas.openxmlformats.org/drawingml/2006/main">
              <a:srgbClr val="2874A6"/>
            </a:solidFill>
            <a:ln xmlns:a="http://schemas.openxmlformats.org/drawingml/2006/main" w="19050">
              <a:solidFill>
                <a:srgbClr val="2874A6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2874A6"/>
              </a:solidFill>
            </c:spPr>
          </c:marker>
          <c:xVal>
            <c:numRef>
              <c:f>'Chart Data'!$I$2:$I$2</c:f>
              <c:numCache>
                <c:formatCode>General</c:formatCode>
                <c:ptCount val="1"/>
                <c:pt idx="0">
                  <c:v>35461.4465805872</c:v>
                </c:pt>
              </c:numCache>
            </c:numRef>
          </c:xVal>
          <c:yVal>
            <c:numRef>
              <c:f>'Chart Data'!$J$2:$J$2</c:f>
              <c:numCache>
                <c:formatCode>0.0</c:formatCode>
                <c:ptCount val="1"/>
                <c:pt idx="0">
                  <c:v>63</c:v>
                </c:pt>
              </c:numCache>
            </c:numRef>
          </c:yVal>
        </c:ser>
        <c:ser>
          <c:idx val="5"/>
          <c:order val="5"/>
          <c:tx>
            <c:v>Philippines</c:v>
          </c:tx>
          <c:spPr>
            <a:solidFill xmlns:a="http://schemas.openxmlformats.org/drawingml/2006/main">
              <a:srgbClr val="7A4379"/>
            </a:solidFill>
            <a:ln xmlns:a="http://schemas.openxmlformats.org/drawingml/2006/main" w="19050">
              <a:solidFill>
                <a:srgbClr val="7A4379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7A4379"/>
              </a:solidFill>
            </c:spPr>
          </c:marker>
          <c:xVal>
            <c:numRef>
              <c:f>'Chart Data'!$K$2:$K$2</c:f>
              <c:numCache>
                <c:formatCode>General</c:formatCode>
                <c:ptCount val="1"/>
                <c:pt idx="0">
                  <c:v>10747.5454408601</c:v>
                </c:pt>
              </c:numCache>
            </c:numRef>
          </c:xVal>
          <c:yVal>
            <c:numRef>
              <c:f>'Chart Data'!$L$2:$L$2</c:f>
              <c:numCache>
                <c:formatCode>0.0</c:formatCode>
                <c:ptCount val="1"/>
                <c:pt idx="0">
                  <c:v>41</c:v>
                </c:pt>
              </c:numCache>
            </c:numRef>
          </c:yVal>
        </c:ser>
        <c:ser>
          <c:idx val="6"/>
          <c:order val="6"/>
          <c:tx>
            <c:v>Thailand</c:v>
          </c:tx>
          <c:spPr>
            <a:solidFill xmlns:a="http://schemas.openxmlformats.org/drawingml/2006/main">
              <a:srgbClr val="567B37"/>
            </a:solidFill>
            <a:ln xmlns:a="http://schemas.openxmlformats.org/drawingml/2006/main" w="19050">
              <a:solidFill>
                <a:srgbClr val="567B37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567B37"/>
              </a:solidFill>
            </c:spPr>
          </c:marker>
          <c:xVal>
            <c:numRef>
              <c:f>'Chart Data'!$M$2:$M$2</c:f>
              <c:numCache>
                <c:formatCode>General</c:formatCode>
                <c:ptCount val="1"/>
                <c:pt idx="0">
                  <c:v>22431.7518380848</c:v>
                </c:pt>
              </c:numCache>
            </c:numRef>
          </c:xVal>
          <c:yVal>
            <c:numRef>
              <c:f>'Chart Data'!$N$2:$N$2</c:f>
              <c:numCache>
                <c:formatCode>0.0</c:formatCode>
                <c:ptCount val="1"/>
                <c:pt idx="0">
                  <c:v>82</c:v>
                </c:pt>
              </c:numCache>
            </c:numRef>
          </c:yVal>
        </c:ser>
        <c:ser>
          <c:idx val="7"/>
          <c:order val="7"/>
          <c:tx>
            <c:v>Timor-Leste</c:v>
          </c:tx>
          <c:spPr>
            <a:solidFill xmlns:a="http://schemas.openxmlformats.org/drawingml/2006/main">
              <a:srgbClr val="546979"/>
            </a:solidFill>
            <a:ln xmlns:a="http://schemas.openxmlformats.org/drawingml/2006/main" w="19050">
              <a:solidFill>
                <a:srgbClr val="546979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546979"/>
              </a:solidFill>
            </c:spPr>
          </c:marker>
          <c:xVal>
            <c:numRef>
              <c:f>'Chart Data'!$O$2:$O$2</c:f>
              <c:numCache>
                <c:formatCode>General</c:formatCode>
                <c:ptCount val="1"/>
                <c:pt idx="0">
                  <c:v>4109.9044785289</c:v>
                </c:pt>
              </c:numCache>
            </c:numRef>
          </c:xVal>
          <c:yVal>
            <c:numRef>
              <c:f>'Chart Data'!$P$2:$P$2</c:f>
              <c:numCache>
                <c:formatCode>0.0</c:formatCode>
                <c:ptCount val="1"/>
                <c:pt idx="0">
                  <c:v>66</c:v>
                </c:pt>
              </c:numCache>
            </c:numRef>
          </c:yVal>
        </c:ser>
        <c:ser>
          <c:idx val="8"/>
          <c:order val="8"/>
          <c:tx>
            <c:v>Viet Nam</c:v>
          </c:tx>
          <c:spPr>
            <a:solidFill xmlns:a="http://schemas.openxmlformats.org/drawingml/2006/main">
              <a:srgbClr val="9B7241"/>
            </a:solidFill>
            <a:ln xmlns:a="http://schemas.openxmlformats.org/drawingml/2006/main" w="19050">
              <a:solidFill>
                <a:srgbClr val="9B7241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9B7241"/>
              </a:solidFill>
            </c:spPr>
          </c:marker>
          <c:xVal>
            <c:numRef>
              <c:f>'Chart Data'!$Q$2:$Q$2</c:f>
              <c:numCache>
                <c:formatCode>General</c:formatCode>
                <c:ptCount val="1"/>
                <c:pt idx="0">
                  <c:v>15457.3499403547</c:v>
                </c:pt>
              </c:numCache>
            </c:numRef>
          </c:xVal>
          <c:yVal>
            <c:numRef>
              <c:f>'Chart Data'!$R$2:$R$2</c:f>
              <c:numCache>
                <c:formatCode>0.0</c:formatCode>
                <c:ptCount val="1"/>
                <c:pt idx="0">
                  <c:v>75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BE4E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tos"/>
                    <a:ea typeface="Aptos"/>
                    <a:cs typeface="Aptos"/>
                  </a:rPr>
                  <a:t>ART / all PLHIV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</c:valAx>
      <c:valAx>
        <c:axId val="48650112"/>
        <c:scaling>
          <c:orientation val="minMax"/>
          <c:max val="400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ptos"/>
                    <a:ea typeface="Aptos"/>
                    <a:cs typeface="Aptos"/>
                  </a:rPr>
                  <a:t>GDP per capita PPP, constant 2021 international $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latin typeface="Aptos"/>
              <a:ea typeface="Aptos"/>
              <a:cs typeface="Aptos"/>
            </a:defRPr>
          </a:pPr>
        </a:p>
      </c:txPr>
    </c:legend>
    <c:plotVisOnly val="1"/>
    <c:dispBlanksAs val="gap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0DA3E3-C665-4522-9405-E5272D2A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HIV trends and treatment access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F71FF1-5E2F-4846-87E7-69ACE04E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HIV estimates and treatment access · UNAIDS 2026 / WDI · 1/22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4C797A-2CC0-4E18-9B45-C1D1A850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04975"/>
            <a:ext cx="10715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Southeast Asia, 1990–2025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7F1EEA-7D42-423A-A4FD-9F749380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0D6E66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0D6E66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0D6E66"/>
                </a:solidFill>
                <a:latin typeface="Aptos"/>
                <a:ea typeface="Aptos"/>
                <a:cs typeface="Aptos"/>
              </a:rPr>
              <a:t>National estimates and exploratory panel associations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FE5D17-F221-432E-8079-A03C0748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9625"/>
            <a:ext cx="10715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Dr. Aung Chit Moe, MBBS</a:t>
            </a:r>
          </a:p>
          <a:p xmlns:a="http://schemas.openxmlformats.org/drawingml/2006/main">
            <a:pPr>
              <a:defRPr sz="18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Healthcare data analytics portfolio</a:t>
            </a:r>
          </a:p>
        </p:txBody>
      </p:sp>
    </p:spTree>
    <p:extLst>
      <p:ext uri="{BB962C8B-B14F-4D97-AF65-F5344CB8AC3E}">
        <p14:creationId xmlns:p14="http://schemas.microsoft.com/office/powerpoint/2010/main" val="5019696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384BDB-1410-4377-B95C-57FF48B0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Research 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C996DA-5C6E-4A00-8D59-1A6885D7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HIV estimates and treatment access · UNAIDS 2026 / WDI · 2/22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66F611-BB22-4072-82FE-66C24D41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10620375" cy="421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How did estimated HIV outcomes change over time?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Where do diagnosis, ART access and viral suppression differ?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How sensitive are ART–mortality associations to the model?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Retrospective analysis of a stored snapshot. The revised protocol documents decisions made during review.</a:t>
            </a:r>
          </a:p>
        </p:txBody>
      </p:sp>
    </p:spTree>
    <p:extLst>
      <p:ext uri="{BB962C8B-B14F-4D97-AF65-F5344CB8AC3E}">
        <p14:creationId xmlns:p14="http://schemas.microsoft.com/office/powerpoint/2010/main" val="4439262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096459-116A-4B6F-B065-AF42B810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Data coverage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FAA6DB-0A8E-4880-9C97-D3C28940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HIV estimates and treatment access · UNAIDS 2026 / WDI · 3/22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BBEC2-BED8-426F-B422-545D53A77957}"/>
              </a:ext>
            </a:extLst>
          </p:cNvPr>
          <p:cNvGraphicFramePr/>
          <p:nvPr/>
        </p:nvGraphicFramePr>
        <p:xfrm>
          <a:off xmlns:a="http://schemas.openxmlformats.org/drawingml/2006/main" x="714375" y="1495425"/>
          <a:ext xmlns:a="http://schemas.openxmlformats.org/drawingml/2006/main" cx="1076325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24500"/>
                <a:gridCol w="2857500"/>
                <a:gridCol w="2381250"/>
              </a:tblGrid>
              <a:tr h="8001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Dataset</a:t>
                      </a:r>
                    </a:p>
                  </a:txBody>
                  <a:tcPr marL="91440" marR="91440" marT="45720" marB="45720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Entities / countries</a:t>
                      </a:r>
                    </a:p>
                  </a:txBody>
                  <a:tcPr marL="91440" marR="91440" marT="45720" marB="45720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Rows</a:t>
                      </a:r>
                    </a:p>
                  </a:txBody>
                  <a:tcPr marL="91440" marR="91440" marT="45720" marB="45720">
                    <a:solidFill>
                      <a:srgbClr val="172B4D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Workbook outcome grid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184 entities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6,624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Southeast Asia, 1990–2025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11 countries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396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Treatment period, 2010–2025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11 countries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176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Uncensored lag-1 model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7 countries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103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DF68DC-8D99-47D3-926B-812565E8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43575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workbook includes countries, territories and aggregates. Aggregate benchmarks never enter country regressions.</a:t>
            </a:r>
          </a:p>
        </p:txBody>
      </p:sp>
    </p:spTree>
    <p:extLst>
      <p:ext uri="{BB962C8B-B14F-4D97-AF65-F5344CB8AC3E}">
        <p14:creationId xmlns:p14="http://schemas.microsoft.com/office/powerpoint/2010/main" val="794675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4F06DE-DE52-4BD3-9548-D10676A0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Source dependence affects interpretation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A0F7B3-2236-49D3-81E7-D2F62A40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HIV estimates and treatment access · UNAIDS 2026 / WDI · 4/22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C384B1-748F-4DDB-8C85-9B09A3C9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10620375" cy="421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UNAIDS Spectrum uses ART programme inputs and assumed survival to estimate mortality.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A regression of mortality estimates on ART partly reflects model construction.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WHO disseminates the same source family. Exact matches establish snapshot consistency.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Shared estimated PLHIV denominators can also contribute to ART–mortality associations.</a:t>
            </a:r>
          </a:p>
        </p:txBody>
      </p:sp>
    </p:spTree>
    <p:extLst>
      <p:ext uri="{BB962C8B-B14F-4D97-AF65-F5344CB8AC3E}">
        <p14:creationId xmlns:p14="http://schemas.microsoft.com/office/powerpoint/2010/main" val="2852418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09A0B2-D571-4016-8B6E-4B826187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Censored values retain their meaning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97FF04-9547-4667-B89C-EA05D2CE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HIV estimates and treatment access · UNAIDS 2026 / WDI · 5/22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2976FA-D188-44A5-B9ED-9D453286959D}"/>
              </a:ext>
            </a:extLst>
          </p:cNvPr>
          <p:cNvGraphicFramePr/>
          <p:nvPr/>
        </p:nvGraphicFramePr>
        <p:xfrm>
          <a:off xmlns:a="http://schemas.openxmlformats.org/drawingml/2006/main" x="714375" y="1495425"/>
          <a:ext xmlns:a="http://schemas.openxmlformats.org/drawingml/2006/main" cx="1076325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3619500"/>
                <a:gridCol w="4667250"/>
              </a:tblGrid>
              <a:tr h="8001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Published source</a:t>
                      </a:r>
                    </a:p>
                  </a:txBody>
                  <a:tcPr marL="91440" marR="91440" marT="45720" marB="45720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Primary numeric field</a:t>
                      </a:r>
                    </a:p>
                  </a:txBody>
                  <a:tcPr marL="91440" marR="91440" marT="45720" marB="45720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Preserved information</a:t>
                      </a:r>
                    </a:p>
                  </a:txBody>
                  <a:tcPr marL="91440" marR="91440" marT="45720" marB="45720">
                    <a:solidFill>
                      <a:srgbClr val="172B4D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&lt;100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Missing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Upper threshold: 100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&gt;98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Lower threshold: 98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...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Missing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Unavailable source label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4400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4,400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Rounded estimate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160241-7458-498F-AE3B-105E0125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43575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No suppressed or censored value is replaced in primary models. A separate sensitivity substitutes disclosed thresholds.</a:t>
            </a:r>
          </a:p>
        </p:txBody>
      </p:sp>
    </p:spTree>
    <p:extLst>
      <p:ext uri="{BB962C8B-B14F-4D97-AF65-F5344CB8AC3E}">
        <p14:creationId xmlns:p14="http://schemas.microsoft.com/office/powerpoint/2010/main" val="4815580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15F0F3-8D33-4124-B779-7D9EB86B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Myanmar annual HIV estimates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B3FD24-B7D3-455E-BD77-F835A483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HIV estimates and treatment access · UNAIDS 2026 / WDI · 6/22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1F6EA414-BADC-4487-9974-01512E48BB3A}"/>
              </a:ext>
            </a:extLst>
          </p:cNvPr>
          <p:cNvGraphicFramePr/>
          <p:nvPr/>
        </p:nvGraphicFramePr>
        <p:xfrm>
          <a:off xmlns:a="http://schemas.openxmlformats.org/drawingml/2006/main" x="723900" y="1352550"/>
          <a:ext xmlns:a="http://schemas.openxmlformats.org/drawingml/2006/main" cx="10744200" cy="4267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fbc92e0864c44ec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3E7C1D-2971-4AB9-80AF-DAA31BF4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43575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Censored years are omitted. The standalone figure also displays published marginal uncertainty limits.</a:t>
            </a:r>
          </a:p>
        </p:txBody>
      </p:sp>
    </p:spTree>
    <p:extLst>
      <p:ext uri="{BB962C8B-B14F-4D97-AF65-F5344CB8AC3E}">
        <p14:creationId xmlns:p14="http://schemas.microsoft.com/office/powerpoint/2010/main" val="15359991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37890C-02E7-4A4A-BE87-ABFA2CAF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Myanmar changes since 2010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E91450-AB2E-4AA0-98EB-B03F12DA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HIV estimates and treatment access · UNAIDS 2026 / WDI · 7/22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EABC41-9BBE-4D51-9D51-D156500E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10620375" cy="421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Estimated annual AIDS deaths: 12,000 to 4,400 (-63.3%).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ART coverage: 12% to 73% of all PLHIV.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Estimated PLHIV: 250,000 to 310,000.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Prevalence and case counts reflect several processes. These data do not isolate survival, prevention or programme effects.</a:t>
            </a:r>
          </a:p>
        </p:txBody>
      </p:sp>
    </p:spTree>
    <p:extLst>
      <p:ext uri="{BB962C8B-B14F-4D97-AF65-F5344CB8AC3E}">
        <p14:creationId xmlns:p14="http://schemas.microsoft.com/office/powerpoint/2010/main" val="9964031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39BCB9-96D4-48CE-B3C4-D7D460AE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Myanmar milestones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7282E-E4BB-4F82-A7C0-D96D1D62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HIV estimates and treatment access · UNAIDS 2026 / WDI · 8/22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6A9CA1-D8C4-46BB-B59F-F03AF34DA180}"/>
              </a:ext>
            </a:extLst>
          </p:cNvPr>
          <p:cNvGraphicFramePr/>
          <p:nvPr/>
        </p:nvGraphicFramePr>
        <p:xfrm>
          <a:off xmlns:a="http://schemas.openxmlformats.org/drawingml/2006/main" x="714375" y="1495425"/>
          <a:ext xmlns:a="http://schemas.openxmlformats.org/drawingml/2006/main" cx="1076325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3048000"/>
                <a:gridCol w="3143250"/>
                <a:gridCol w="2857500"/>
              </a:tblGrid>
              <a:tr h="5715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PLHIV</a:t>
                      </a:r>
                    </a:p>
                  </a:txBody>
                  <a:tcPr marL="91440" marR="91440" marT="45720" marB="45720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Annual AIDS deaths</a:t>
                      </a:r>
                    </a:p>
                  </a:txBody>
                  <a:tcPr marL="91440" marR="91440" marT="45720" marB="45720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ART / all PLHIV</a:t>
                      </a:r>
                    </a:p>
                  </a:txBody>
                  <a:tcPr marL="91440" marR="91440" marT="45720" marB="45720">
                    <a:solidFill>
                      <a:srgbClr val="172B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250,000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12,000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12%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2015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270,000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7,800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40%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2020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290,000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4,400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69%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2021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290,000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4,300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66%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2022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300,000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4,800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70%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2025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310,000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4,400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73%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FFFB9D-D85E-4CC2-BB51-2D8C4583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43575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2021–2022 sequence does not identify effects of conflict, COVID-19, treatment interruption or programme responses.</a:t>
            </a:r>
          </a:p>
        </p:txBody>
      </p:sp>
    </p:spTree>
    <p:extLst>
      <p:ext uri="{BB962C8B-B14F-4D97-AF65-F5344CB8AC3E}">
        <p14:creationId xmlns:p14="http://schemas.microsoft.com/office/powerpoint/2010/main" val="20253604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693BF1-591F-4392-BFBB-2AA4EE8B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Changes in annual AIDS deaths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0A1156-1C59-4FFB-9717-9B20E078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HIV estimates and treatment access · UNAIDS 2026 / WDI · 9/22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AE38F178-8F59-4D11-80A5-C5ECC3929C2E}"/>
              </a:ext>
            </a:extLst>
          </p:cNvPr>
          <p:cNvGraphicFramePr/>
          <p:nvPr/>
        </p:nvGraphicFramePr>
        <p:xfrm>
          <a:off xmlns:a="http://schemas.openxmlformats.org/drawingml/2006/main" x="723900" y="1352550"/>
          <a:ext xmlns:a="http://schemas.openxmlformats.org/drawingml/2006/main" cx="10744200" cy="4267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08f1afba9784d70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416296-D5AB-4E00-8514-65B9FCE5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43575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Only countries with numeric endpoints appear. Censored endpoints cannot establish zero change.</a:t>
            </a:r>
          </a:p>
        </p:txBody>
      </p:sp>
    </p:spTree>
    <p:extLst>
      <p:ext uri="{BB962C8B-B14F-4D97-AF65-F5344CB8AC3E}">
        <p14:creationId xmlns:p14="http://schemas.microsoft.com/office/powerpoint/2010/main" val="1325600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616160-538C-4AD1-9EC8-050F93774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Changes in annual new infections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E0734-158E-45A9-A1ED-7471C8CE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HIV estimates and treatment access · UNAIDS 2026 / WDI · 10/22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01EDFBC0-5E10-408D-B42B-63558961420C}"/>
              </a:ext>
            </a:extLst>
          </p:cNvPr>
          <p:cNvGraphicFramePr/>
          <p:nvPr/>
        </p:nvGraphicFramePr>
        <p:xfrm>
          <a:off xmlns:a="http://schemas.openxmlformats.org/drawingml/2006/main" x="723900" y="1352550"/>
          <a:ext xmlns:a="http://schemas.openxmlformats.org/drawingml/2006/main" cx="10744200" cy="4267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5ed5146d0774195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C11A3C-5E25-48AF-865B-FAC4E453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43575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Percentage increases can be large from a small baseline. These trends do not measure stigma, prevention delivery or programme quality.</a:t>
            </a:r>
          </a:p>
        </p:txBody>
      </p:sp>
    </p:spTree>
    <p:extLst>
      <p:ext uri="{BB962C8B-B14F-4D97-AF65-F5344CB8AC3E}">
        <p14:creationId xmlns:p14="http://schemas.microsoft.com/office/powerpoint/2010/main" val="7800047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C7105F-B907-47C2-A7B3-6ABAC31C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ART coverage over 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44E857-E7DE-4883-B641-C714277C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HIV estimates and treatment access · UNAIDS 2026 / WDI · 11/22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EABBD12A-C828-4D08-870F-DF587279716E}"/>
              </a:ext>
            </a:extLst>
          </p:cNvPr>
          <p:cNvGraphicFramePr/>
          <p:nvPr/>
        </p:nvGraphicFramePr>
        <p:xfrm>
          <a:off xmlns:a="http://schemas.openxmlformats.org/drawingml/2006/main" x="723900" y="1352550"/>
          <a:ext xmlns:a="http://schemas.openxmlformats.org/drawingml/2006/main" cx="10744200" cy="4267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bdfa2617203439b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D8541A-C650-4181-9950-98611BD8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43575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Six countries displayed for readability. All 11 country grids remain in the downloadable dataset.</a:t>
            </a:r>
          </a:p>
        </p:txBody>
      </p:sp>
    </p:spTree>
    <p:extLst>
      <p:ext uri="{BB962C8B-B14F-4D97-AF65-F5344CB8AC3E}">
        <p14:creationId xmlns:p14="http://schemas.microsoft.com/office/powerpoint/2010/main" val="11426185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7A1FFE-11EF-4D5D-A353-511E7236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The 95–95–95 denominators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346D2-F6A7-4687-AC6B-3E2BEAED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HIV estimates and treatment access · UNAIDS 2026 / WDI · 12/22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F98AF6-3FA2-4419-809D-D85248A093B8}"/>
              </a:ext>
            </a:extLst>
          </p:cNvPr>
          <p:cNvGraphicFramePr/>
          <p:nvPr/>
        </p:nvGraphicFramePr>
        <p:xfrm>
          <a:off xmlns:a="http://schemas.openxmlformats.org/drawingml/2006/main" x="714375" y="1495425"/>
          <a:ext xmlns:a="http://schemas.openxmlformats.org/drawingml/2006/main" cx="1076325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3524250"/>
                <a:gridCol w="2286000"/>
              </a:tblGrid>
              <a:tr h="6667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Indicator</a:t>
                      </a:r>
                    </a:p>
                  </a:txBody>
                  <a:tcPr marL="91440" marR="91440" marT="45720" marB="45720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Denominator</a:t>
                      </a:r>
                    </a:p>
                  </a:txBody>
                  <a:tcPr marL="91440" marR="91440" marT="45720" marB="45720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Target</a:t>
                      </a:r>
                    </a:p>
                  </a:txBody>
                  <a:tcPr marL="91440" marR="91440" marT="45720" marB="45720">
                    <a:solidFill>
                      <a:srgbClr val="172B4D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Know HIV status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All PLHIV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95%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Receive 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Diagnosed PLHIV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95%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Suppressed viral load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People on ART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95%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Receive ART, population equivalent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All PLHIV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90.25%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Suppressed, population equivalent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All PLHIV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85.7375%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9FFC44-EB38-445C-9DCD-CCDA8078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43575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95% × 95% = 90.25%. The joint cascade target implies 95% × 95% × 95% = 85.7375%.</a:t>
            </a:r>
          </a:p>
        </p:txBody>
      </p:sp>
    </p:spTree>
    <p:extLst>
      <p:ext uri="{BB962C8B-B14F-4D97-AF65-F5344CB8AC3E}">
        <p14:creationId xmlns:p14="http://schemas.microsoft.com/office/powerpoint/2010/main" val="2655499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A1A8F-64C3-4F9E-8DB6-B09FA8AA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Population treatment indicators, 2025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71CEEC-4280-4861-9E28-7A2D9611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HIV estimates and treatment access · UNAIDS 2026 / WDI · 13/22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35C093DC-0B56-4C58-BA78-0130179898C6}"/>
              </a:ext>
            </a:extLst>
          </p:cNvPr>
          <p:cNvGraphicFramePr/>
          <p:nvPr/>
        </p:nvGraphicFramePr>
        <p:xfrm>
          <a:off xmlns:a="http://schemas.openxmlformats.org/drawingml/2006/main" x="723900" y="1352550"/>
          <a:ext xmlns:a="http://schemas.openxmlformats.org/drawingml/2006/main" cx="10744200" cy="4267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9e2ec42a635468f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9F3331-407B-4302-B2EF-AA725D19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43575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Direct reported indicators. Myanmar suppression is 70%, rather than the product of rounded conditional cascade stages.</a:t>
            </a:r>
          </a:p>
        </p:txBody>
      </p:sp>
    </p:spTree>
    <p:extLst>
      <p:ext uri="{BB962C8B-B14F-4D97-AF65-F5344CB8AC3E}">
        <p14:creationId xmlns:p14="http://schemas.microsoft.com/office/powerpoint/2010/main" val="14230793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73CE04-4D08-42B1-8094-00D29511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Approximate treatment gaps, 2025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007735-A037-4BE0-89C2-EF975636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HIV estimates and treatment access · UNAIDS 2026 / WDI · 14/22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07320601-E648-486C-9B8F-2F0E2EDCAC29}"/>
              </a:ext>
            </a:extLst>
          </p:cNvPr>
          <p:cNvGraphicFramePr/>
          <p:nvPr/>
        </p:nvGraphicFramePr>
        <p:xfrm>
          <a:off xmlns:a="http://schemas.openxmlformats.org/drawingml/2006/main" x="723900" y="1352550"/>
          <a:ext xmlns:a="http://schemas.openxmlformats.org/drawingml/2006/main" cx="10744200" cy="4267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2bb39ae12024e7e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012EC5-CC78-4D6B-882B-DF35C25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43575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PLHIV × (1 − ART coverage/100). Nine available countries. Brunei and Singapore are excluded from the denominator.</a:t>
            </a:r>
          </a:p>
        </p:txBody>
      </p:sp>
    </p:spTree>
    <p:extLst>
      <p:ext uri="{BB962C8B-B14F-4D97-AF65-F5344CB8AC3E}">
        <p14:creationId xmlns:p14="http://schemas.microsoft.com/office/powerpoint/2010/main" val="16440357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89FFC-0981-421C-A70A-5074EC3D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Panel model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48993-2276-4A64-86A4-F8CE5DC4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HIV estimates and treatment access · UNAIDS 2026 / WDI · 15/22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5EA75-43CE-4742-ABBA-2091D1E0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10620375" cy="421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Outcome: annual estimated AIDS deaths / estimated PLHIV ×100. This is a descriptive ratio.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Country fixed effects absorb stable country differences. Year effects absorb shared annual shocks.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Lags and first differences require consecutive years. Complete-case samples remain selective.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Country-clustered standard errors use full design-rank correction and a t reference with G−1 degrees of freedom.</a:t>
            </a:r>
          </a:p>
        </p:txBody>
      </p:sp>
    </p:spTree>
    <p:extLst>
      <p:ext uri="{BB962C8B-B14F-4D97-AF65-F5344CB8AC3E}">
        <p14:creationId xmlns:p14="http://schemas.microsoft.com/office/powerpoint/2010/main" val="136577555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5B8621-C210-45E4-AF93-3F7CF338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ART–mortality model comparisons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042E13-D06C-4B5C-8585-40955908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HIV estimates and treatment access · UNAIDS 2026 / WDI · 16/22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BE68E-C568-4312-95F5-91F6A58CBAA0}"/>
              </a:ext>
            </a:extLst>
          </p:cNvPr>
          <p:cNvGraphicFramePr/>
          <p:nvPr/>
        </p:nvGraphicFramePr>
        <p:xfrm>
          <a:off xmlns:a="http://schemas.openxmlformats.org/drawingml/2006/main" x="714375" y="1495425"/>
          <a:ext xmlns:a="http://schemas.openxmlformats.org/drawingml/2006/main" cx="1076325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1619250"/>
                <a:gridCol w="2571750"/>
                <a:gridCol w="1809750"/>
              </a:tblGrid>
              <a:tr h="6667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Model</a:t>
                      </a:r>
                    </a:p>
                  </a:txBody>
                  <a:tcPr marL="91440" marR="91440" marT="45720" marB="45720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Coefficient</a:t>
                      </a:r>
                    </a:p>
                  </a:txBody>
                  <a:tcPr marL="91440" marR="91440" marT="45720" marB="45720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95% interval</a:t>
                      </a:r>
                    </a:p>
                  </a:txBody>
                  <a:tcPr marL="91440" marR="91440" marT="45720" marB="45720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N / countries</a:t>
                      </a:r>
                    </a:p>
                  </a:txBody>
                  <a:tcPr marL="91440" marR="91440" marT="45720" marB="45720">
                    <a:solidFill>
                      <a:srgbClr val="172B4D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Country FE: lag 1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-0.0400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[-0.0614, -0.0186]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103 / 7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Country/year FE: lag 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-0.1032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[-0.1378, -0.0686]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103 / 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Country/year FE: lag 1 + GDP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-0.0934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[-0.1239, -0.0629]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103 / 7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Country/year FE: 2011-2019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-0.1123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[-0.1292, -0.0954]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61 / 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Threshold substitution sensitivity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-0.0878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[-0.1306, -0.0450]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B4D"/>
                          </a:solidFill>
                          <a:latin typeface="Aptos"/>
                          <a:ea typeface="Aptos"/>
                          <a:cs typeface="Aptos"/>
                        </a:rPr>
                        <a:t>135 / 9</a:t>
                      </a:r>
                    </a:p>
                  </a:txBody>
                  <a:tcPr marL="91440" marR="91440" marT="45720" marB="45720"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43CD89-84F0-4FD0-858A-9E7C1C33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43575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Outcome percentage points per one pp ART. Country-only versus country/year lag-1 models use the same 103 rows.</a:t>
            </a:r>
          </a:p>
        </p:txBody>
      </p:sp>
    </p:spTree>
    <p:extLst>
      <p:ext uri="{BB962C8B-B14F-4D97-AF65-F5344CB8AC3E}">
        <p14:creationId xmlns:p14="http://schemas.microsoft.com/office/powerpoint/2010/main" val="145017660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82384-1A19-4E35-8061-EDF39EE1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Sensitivity comparisons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208EDF-930D-4903-AE20-A206EDAE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HIV estimates and treatment access · UNAIDS 2026 / WDI · 17/22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71D219-ABA2-44A0-B4FC-CD2E1842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10620375" cy="421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First differences: coefficient -0.0615, N=96.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Population-denominator model: coefficient -0.5906 deaths per 100,000 per pp ART. Its interval includes zero.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Leave-one-country-out results document sensitivity to influential national trajectories.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Threshold substitution adds censored rows only as a disclosed scenario. It cannot recover their unknown exact values.</a:t>
            </a:r>
          </a:p>
        </p:txBody>
      </p:sp>
    </p:spTree>
    <p:extLst>
      <p:ext uri="{BB962C8B-B14F-4D97-AF65-F5344CB8AC3E}">
        <p14:creationId xmlns:p14="http://schemas.microsoft.com/office/powerpoint/2010/main" val="197597647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AC7297-543B-46E2-8E03-2383CAAA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GDP and ART coverage, 2025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38B7D-89C2-41C4-AD6B-7069FC34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HIV estimates and treatment access · UNAIDS 2026 / WDI · 18/22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6D8375BD-66C8-4B18-9F75-C5108AF9A7A8}"/>
              </a:ext>
            </a:extLst>
          </p:cNvPr>
          <p:cNvGraphicFramePr/>
          <p:nvPr/>
        </p:nvGraphicFramePr>
        <p:xfrm>
          <a:off xmlns:a="http://schemas.openxmlformats.org/drawingml/2006/main" x="723900" y="1352550"/>
          <a:ext xmlns:a="http://schemas.openxmlformats.org/drawingml/2006/main" cx="10744200" cy="4267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c7afac608847bb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A591B5-26F1-4F45-AC50-1E641C13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43575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Nine available countries, same-year WDI values. Financing, programme spending, stigma and delivery quality are not measured.</a:t>
            </a:r>
          </a:p>
        </p:txBody>
      </p:sp>
    </p:spTree>
    <p:extLst>
      <p:ext uri="{BB962C8B-B14F-4D97-AF65-F5344CB8AC3E}">
        <p14:creationId xmlns:p14="http://schemas.microsoft.com/office/powerpoint/2010/main" val="199361885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EEDBE6-B0A3-4953-B05B-7DB18EE8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Limits of the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915C95-BB64-4E84-82F1-4E944C4E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HIV estimates and treatment access · UNAIDS 2026 / WDI · 19/22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27F34C-7ABF-442F-B2AA-4042D777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10620375" cy="421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Estimated outcomes depend on model inputs and survival assumptions.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Seven primary-sample country clusters make inference approximate.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Regression intervals omit UNAIDS estimation uncertainty and correlation across published estimates.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Residual confounding and reverse causality remain. No regression-based deaths-averted claim follows from this study.</a:t>
            </a:r>
          </a:p>
        </p:txBody>
      </p:sp>
    </p:spTree>
    <p:extLst>
      <p:ext uri="{BB962C8B-B14F-4D97-AF65-F5344CB8AC3E}">
        <p14:creationId xmlns:p14="http://schemas.microsoft.com/office/powerpoint/2010/main" val="91131633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2FEE4C-059C-4874-A977-6114BB2E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Reproducible research outputs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BD1D28-C492-458A-A636-17DE4731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HIV estimates and treatment access · UNAIDS 2026 / WDI · 20/22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15C297-ABFF-487C-8D05-60ACE92D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10620375" cy="421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Source-labelled CSVs, metadata and raw-input fingerprints.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SQLite star schema and seven analytical SQL outputs.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Machine-readable models and a notebook with executed cells.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Streamlit filters, downloads and read-only SQL examples.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BE8AF-AF95-4F07-A7E6-51DBA098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43575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Repository: github.com/AungChitMoe1995/hiv-epidemiology-and-treatment-analytics</a:t>
            </a:r>
          </a:p>
        </p:txBody>
      </p:sp>
    </p:spTree>
    <p:extLst>
      <p:ext uri="{BB962C8B-B14F-4D97-AF65-F5344CB8AC3E}">
        <p14:creationId xmlns:p14="http://schemas.microsoft.com/office/powerpoint/2010/main" val="1815462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EC65D4-424E-4018-8688-E0974BB7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Questions for further research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3BAA84-8B3A-4FBF-B7D8-A2CBF140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HIV estimates and treatment access · UNAIDS 2026 / WDI · 21/22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BE93D-2716-489F-BBE7-3D5D3797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10620375" cy="421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Programme records could examine retention, interruption and treatment initiation directly.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Subnational data could describe local gaps hidden by national averages.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Independent outcome data would strengthen evaluation of service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Joint estimate draws and more country clusters would support better uncertainty analysis.</a:t>
            </a:r>
          </a:p>
        </p:txBody>
      </p:sp>
    </p:spTree>
    <p:extLst>
      <p:ext uri="{BB962C8B-B14F-4D97-AF65-F5344CB8AC3E}">
        <p14:creationId xmlns:p14="http://schemas.microsoft.com/office/powerpoint/2010/main" val="16163622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0BDB5-0841-45AD-AB6F-5B2FACEC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Project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E796B8-66CB-49DC-8428-6FEBD2BD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HIV estimates and treatment access · UNAIDS 2026 / WDI · 22/22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FDE25D-0F6A-4A1F-8C3A-C3B82A99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10620375" cy="421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Estimated national HIV outcomes and treatment access differ across Southeast Asia.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Censoring and denominator definitions materially affect comparisons.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ART–mortality associations vary across specifications and remain exploratory.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72B4D"/>
                </a:solidFill>
                <a:latin typeface="Aptos"/>
                <a:ea typeface="Aptos"/>
                <a:cs typeface="Aptos"/>
              </a:rPr>
              <a:t>The portfolio links source data to consistent reports, figures and interactive outputs.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3C057A-961F-4340-8B5A-415997BA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43575"/>
            <a:ext cx="10668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Live dashboard: hiv-epidemiology-and-treatment-analytics-acm.streamlit.app</a:t>
            </a:r>
          </a:p>
        </p:txBody>
      </p:sp>
    </p:spTree>
    <p:extLst>
      <p:ext uri="{BB962C8B-B14F-4D97-AF65-F5344CB8AC3E}">
        <p14:creationId xmlns:p14="http://schemas.microsoft.com/office/powerpoint/2010/main" val="14209875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2026-10-15T05:15:56.1380000Z</dcterms:created>
  <dcterms:modified xsi:type="dcterms:W3CDTF">2026-10-15T05:15:56.1380000Z</dcterms:modified>
</coreProperties>
</file>