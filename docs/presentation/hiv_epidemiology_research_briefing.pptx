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685800"/>
            <a:ext cx="128016" cy="370332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685800"/>
            <a:ext cx="10424160" cy="3703320"/>
          </a:xfrm>
          <a:prstGeom prst="rect">
            <a:avLst/>
          </a:prstGeom>
          <a:noFill/>
        </p:spPr>
        <p:txBody>
          <a:bodyPr wrap="square">
            <a:spAutoFit/>
          </a:bodyPr>
          <a:lstStyle/>
          <a:p>
            <a:pPr>
              <a:spcAft>
                <a:spcPts val="1200"/>
              </a:spcAft>
              <a:defRPr sz="1400" b="1">
                <a:solidFill>
                  <a:srgbClr val="F87171"/>
                </a:solidFill>
              </a:defRPr>
            </a:pPr>
            <a:r>
              <a:t>PUBLIC-HEALTH SURVEILLANCE &amp; EPIDEMIOLOGICAL ANALYTICS BRIEFING</a:t>
            </a:r>
          </a:p>
          <a:p>
            <a:pPr>
              <a:spcAft>
                <a:spcPts val="1400"/>
              </a:spcAft>
              <a:defRPr sz="3200" b="1">
                <a:solidFill>
                  <a:srgbClr val="FFFFFF"/>
                </a:solidFill>
              </a:defRPr>
            </a:pPr>
            <a:r>
              <a:t>HIV Epidemiological Transitions and Treatment Disparities in Southeast Asia (1990–2025)</a:t>
            </a:r>
          </a:p>
          <a:p>
            <a:pPr>
              <a:spcAft>
                <a:spcPts val="2000"/>
              </a:spcAft>
              <a:defRPr sz="1950">
                <a:solidFill>
                  <a:srgbClr val="CBD5E1"/>
                </a:solidFill>
              </a:defRPr>
            </a:pPr>
            <a:r>
              <a:t>A 36-Year Comparative Longitudinal Study of Myanmar Against Regional &amp; Global Benchmarks</a:t>
            </a:r>
          </a:p>
          <a:p>
            <a:pPr>
              <a:spcAft>
                <a:spcPts val="600"/>
              </a:spcAft>
              <a:defRPr sz="1550" b="1">
                <a:solidFill>
                  <a:srgbClr val="FFFFFF"/>
                </a:solidFill>
              </a:defRPr>
            </a:pPr>
            <a:r>
              <a:t>Lead Investigator: MBBS Physician (Myanmar)  •  Healthcare Data Analytics &amp; Clinical Research</a:t>
            </a:r>
          </a:p>
          <a:p>
            <a:pPr>
              <a:defRPr sz="1400">
                <a:solidFill>
                  <a:srgbClr val="94A3B8"/>
                </a:solidFill>
              </a:defRPr>
            </a:pPr>
            <a:r>
              <a:t>Data Sources: UNAIDS 2026 Spectrum Estimates  •  WHO Global Health Observatory  •  World Bank WDI</a:t>
            </a:r>
          </a:p>
        </p:txBody>
      </p:sp>
      <p:sp>
        <p:nvSpPr>
          <p:cNvPr id="5" name="Rectangle 4"/>
          <p:cNvSpPr/>
          <p:nvPr/>
        </p:nvSpPr>
        <p:spPr>
          <a:xfrm>
            <a:off x="685800" y="4709160"/>
            <a:ext cx="2560320" cy="1600200"/>
          </a:xfrm>
          <a:prstGeom prst="rect">
            <a:avLst/>
          </a:prstGeom>
          <a:solidFill>
            <a:srgbClr val="1B365D"/>
          </a:solidFill>
          <a:ln w="1524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a:lstStyle/>
          <a:p>
            <a:pPr algn="ctr">
              <a:spcAft>
                <a:spcPts val="400"/>
              </a:spcAft>
              <a:defRPr sz="2600" b="1">
                <a:solidFill>
                  <a:srgbClr val="5EEAD4"/>
                </a:solidFill>
              </a:defRPr>
            </a:pPr>
            <a:r>
              <a:t>6,624</a:t>
            </a:r>
          </a:p>
          <a:p>
            <a:pPr>
              <a:spcAft>
                <a:spcPts val="400"/>
              </a:spcAft>
              <a:defRPr sz="1500" b="1">
                <a:solidFill>
                  <a:srgbClr val="FFFFFF"/>
                </a:solidFill>
              </a:defRPr>
            </a:pPr>
            <a:r>
              <a:t>Global Country-Years</a:t>
            </a:r>
          </a:p>
          <a:p>
            <a:pPr>
              <a:defRPr sz="1300">
                <a:solidFill>
                  <a:srgbClr val="CBD5E1"/>
                </a:solidFill>
              </a:defRPr>
            </a:pPr>
            <a:r>
              <a:t>184 entities (1990–2025)</a:t>
            </a:r>
          </a:p>
        </p:txBody>
      </p:sp>
      <p:sp>
        <p:nvSpPr>
          <p:cNvPr id="6" name="Rectangle 5"/>
          <p:cNvSpPr/>
          <p:nvPr/>
        </p:nvSpPr>
        <p:spPr>
          <a:xfrm>
            <a:off x="3438144" y="4709160"/>
            <a:ext cx="2560320" cy="1600200"/>
          </a:xfrm>
          <a:prstGeom prst="rect">
            <a:avLst/>
          </a:prstGeom>
          <a:solidFill>
            <a:srgbClr val="1B365D"/>
          </a:solidFill>
          <a:ln w="1524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a:lstStyle/>
          <a:p>
            <a:pPr algn="ctr">
              <a:spcAft>
                <a:spcPts val="400"/>
              </a:spcAft>
              <a:defRPr sz="2600" b="1">
                <a:solidFill>
                  <a:srgbClr val="5EEAD4"/>
                </a:solidFill>
              </a:defRPr>
            </a:pPr>
            <a:r>
              <a:t>-63.3%</a:t>
            </a:r>
          </a:p>
          <a:p>
            <a:pPr>
              <a:spcAft>
                <a:spcPts val="400"/>
              </a:spcAft>
              <a:defRPr sz="1500" b="1">
                <a:solidFill>
                  <a:srgbClr val="FFFFFF"/>
                </a:solidFill>
              </a:defRPr>
            </a:pPr>
            <a:r>
              <a:t>Myanmar Deaths Drop</a:t>
            </a:r>
          </a:p>
          <a:p>
            <a:pPr>
              <a:defRPr sz="1300">
                <a:solidFill>
                  <a:srgbClr val="CBD5E1"/>
                </a:solidFill>
              </a:defRPr>
            </a:pPr>
            <a:r>
              <a:t>ART scaled 12% → 73% (2010–25)</a:t>
            </a:r>
          </a:p>
        </p:txBody>
      </p:sp>
      <p:sp>
        <p:nvSpPr>
          <p:cNvPr id="7" name="Rectangle 6"/>
          <p:cNvSpPr/>
          <p:nvPr/>
        </p:nvSpPr>
        <p:spPr>
          <a:xfrm>
            <a:off x="6190488" y="4709160"/>
            <a:ext cx="2560320" cy="1600200"/>
          </a:xfrm>
          <a:prstGeom prst="rect">
            <a:avLst/>
          </a:prstGeom>
          <a:solidFill>
            <a:srgbClr val="1B365D"/>
          </a:solidFill>
          <a:ln w="1524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a:lstStyle/>
          <a:p>
            <a:pPr algn="ctr">
              <a:spcAft>
                <a:spcPts val="400"/>
              </a:spcAft>
              <a:defRPr sz="2600" b="1">
                <a:solidFill>
                  <a:srgbClr val="5EEAD4"/>
                </a:solidFill>
              </a:defRPr>
            </a:pPr>
            <a:r>
              <a:t>+639%</a:t>
            </a:r>
          </a:p>
          <a:p>
            <a:pPr>
              <a:spcAft>
                <a:spcPts val="400"/>
              </a:spcAft>
              <a:defRPr sz="1500" b="1">
                <a:solidFill>
                  <a:srgbClr val="FFFFFF"/>
                </a:solidFill>
              </a:defRPr>
            </a:pPr>
            <a:r>
              <a:t>Philippine Surge</a:t>
            </a:r>
          </a:p>
          <a:p>
            <a:pPr>
              <a:defRPr sz="1300">
                <a:solidFill>
                  <a:srgbClr val="CBD5E1"/>
                </a:solidFill>
              </a:defRPr>
            </a:pPr>
            <a:r>
              <a:t>Fastest-growing epidemic in SEA</a:t>
            </a:r>
          </a:p>
        </p:txBody>
      </p:sp>
      <p:sp>
        <p:nvSpPr>
          <p:cNvPr id="8" name="Rectangle 7"/>
          <p:cNvSpPr/>
          <p:nvPr/>
        </p:nvSpPr>
        <p:spPr>
          <a:xfrm>
            <a:off x="8942832" y="4709160"/>
            <a:ext cx="2560320" cy="1600200"/>
          </a:xfrm>
          <a:prstGeom prst="rect">
            <a:avLst/>
          </a:prstGeom>
          <a:solidFill>
            <a:srgbClr val="1B365D"/>
          </a:solidFill>
          <a:ln w="1524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a:lstStyle/>
          <a:p>
            <a:pPr algn="ctr">
              <a:spcAft>
                <a:spcPts val="400"/>
              </a:spcAft>
              <a:defRPr sz="2600" b="1">
                <a:solidFill>
                  <a:srgbClr val="5EEAD4"/>
                </a:solidFill>
              </a:defRPr>
            </a:pPr>
            <a:r>
              <a:t>-0.49 pp</a:t>
            </a:r>
          </a:p>
          <a:p>
            <a:pPr>
              <a:spcAft>
                <a:spcPts val="400"/>
              </a:spcAft>
              <a:defRPr sz="1500" b="1">
                <a:solidFill>
                  <a:srgbClr val="FFFFFF"/>
                </a:solidFill>
              </a:defRPr>
            </a:pPr>
            <a:r>
              <a:t>Lagged ART Effect</a:t>
            </a:r>
          </a:p>
          <a:p>
            <a:pPr>
              <a:defRPr sz="1300">
                <a:solidFill>
                  <a:srgbClr val="CBD5E1"/>
                </a:solidFill>
              </a:defRPr>
            </a:pPr>
            <a:r>
              <a:t>Per +10 pp ART (p &lt; 0.00001)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CLINICAL &amp; EPIDEMIOLOGICAL FOUNDATION</a:t>
            </a:r>
          </a:p>
          <a:p>
            <a:pPr>
              <a:spcBef>
                <a:spcPts val="200"/>
              </a:spcBef>
              <a:defRPr sz="2400" b="1">
                <a:solidFill>
                  <a:srgbClr val="172B4D"/>
                </a:solidFill>
              </a:defRPr>
            </a:pPr>
            <a:r>
              <a:t>Clinical Pathophysiology: How ART Reshapes Population Curves</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2 of 22</a:t>
            </a:r>
          </a:p>
        </p:txBody>
      </p:sp>
      <p:sp>
        <p:nvSpPr>
          <p:cNvPr id="5" name="Rectangle 4"/>
          <p:cNvSpPr/>
          <p:nvPr/>
        </p:nvSpPr>
        <p:spPr>
          <a:xfrm>
            <a:off x="640080"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261872"/>
            <a:ext cx="3474720" cy="91440"/>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481328"/>
            <a:ext cx="3108959" cy="4608576"/>
          </a:xfrm>
          <a:prstGeom prst="rect">
            <a:avLst/>
          </a:prstGeom>
          <a:noFill/>
        </p:spPr>
        <p:txBody>
          <a:bodyPr wrap="square" anchor="t" lIns="0" tIns="0" rIns="0" bIns="0">
            <a:spAutoFit/>
          </a:bodyPr>
          <a:lstStyle/>
          <a:p>
            <a:pPr>
              <a:spcAft>
                <a:spcPts val="400"/>
              </a:spcAft>
              <a:defRPr sz="1650" b="1">
                <a:solidFill>
                  <a:srgbClr val="0D6E66"/>
                </a:solidFill>
              </a:defRPr>
            </a:pPr>
            <a:r>
              <a:t>1. VIRAL SUPPRESSION</a:t>
            </a:r>
          </a:p>
          <a:p>
            <a:pPr>
              <a:spcAft>
                <a:spcPts val="1400"/>
              </a:spcAft>
              <a:defRPr sz="1400" b="1">
                <a:solidFill>
                  <a:srgbClr val="475569"/>
                </a:solidFill>
              </a:defRPr>
            </a:pPr>
            <a:r>
              <a:t>Bedside Clinical Mechanism</a:t>
            </a:r>
          </a:p>
          <a:p>
            <a:pPr>
              <a:spcAft>
                <a:spcPts val="1200"/>
              </a:spcAft>
              <a:defRPr sz="1500">
                <a:solidFill>
                  <a:srgbClr val="0F172A"/>
                </a:solidFill>
              </a:defRPr>
            </a:pPr>
            <a:r>
              <a:t>•  Untreated HIV depletes CD4+ T-cells, causing fatal TB and opportunistic infections.</a:t>
            </a:r>
          </a:p>
          <a:p>
            <a:pPr>
              <a:spcAft>
                <a:spcPts val="1200"/>
              </a:spcAft>
              <a:defRPr sz="1500">
                <a:solidFill>
                  <a:srgbClr val="0F172A"/>
                </a:solidFill>
              </a:defRPr>
            </a:pPr>
            <a:r>
              <a:t>•  Potent ART suppresses plasma HIV RNA (&lt;50 copies/mL) within 3–6 months.</a:t>
            </a:r>
          </a:p>
          <a:p>
            <a:pPr>
              <a:spcAft>
                <a:spcPts val="1200"/>
              </a:spcAft>
              <a:defRPr sz="1500">
                <a:solidFill>
                  <a:srgbClr val="0F172A"/>
                </a:solidFill>
              </a:defRPr>
            </a:pPr>
            <a:r>
              <a:t>•  Sustained viral suppression halts AIDS mortality and blocks transmission (U=U).</a:t>
            </a:r>
          </a:p>
        </p:txBody>
      </p:sp>
      <p:sp>
        <p:nvSpPr>
          <p:cNvPr id="8" name="Rectangle 7"/>
          <p:cNvSpPr/>
          <p:nvPr/>
        </p:nvSpPr>
        <p:spPr>
          <a:xfrm>
            <a:off x="4352544"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52544" y="1261872"/>
            <a:ext cx="3474720" cy="91440"/>
          </a:xfrm>
          <a:prstGeom prst="rect">
            <a:avLst/>
          </a:prstGeom>
          <a:solidFill>
            <a:srgbClr val="17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3712" y="1481328"/>
            <a:ext cx="3108959" cy="4608576"/>
          </a:xfrm>
          <a:prstGeom prst="rect">
            <a:avLst/>
          </a:prstGeom>
          <a:noFill/>
        </p:spPr>
        <p:txBody>
          <a:bodyPr wrap="square" anchor="t" lIns="0" tIns="0" rIns="0" bIns="0">
            <a:spAutoFit/>
          </a:bodyPr>
          <a:lstStyle/>
          <a:p>
            <a:pPr>
              <a:spcAft>
                <a:spcPts val="400"/>
              </a:spcAft>
              <a:defRPr sz="1650" b="1">
                <a:solidFill>
                  <a:srgbClr val="172B4D"/>
                </a:solidFill>
              </a:defRPr>
            </a:pPr>
            <a:r>
              <a:t>2. PREVALENCE PARADOX</a:t>
            </a:r>
          </a:p>
          <a:p>
            <a:pPr>
              <a:spcAft>
                <a:spcPts val="1400"/>
              </a:spcAft>
              <a:defRPr sz="1400" b="1">
                <a:solidFill>
                  <a:srgbClr val="475569"/>
                </a:solidFill>
              </a:defRPr>
            </a:pPr>
            <a:r>
              <a:t>Prevalence ≈ Incidence × Duration</a:t>
            </a:r>
          </a:p>
          <a:p>
            <a:pPr>
              <a:spcAft>
                <a:spcPts val="1200"/>
              </a:spcAft>
              <a:defRPr sz="1500">
                <a:solidFill>
                  <a:srgbClr val="0F172A"/>
                </a:solidFill>
              </a:defRPr>
            </a:pPr>
            <a:r>
              <a:t>•  When ART scales up rapidly, people living with HIV survive for decades.</a:t>
            </a:r>
          </a:p>
          <a:p>
            <a:pPr>
              <a:spcAft>
                <a:spcPts val="1200"/>
              </a:spcAft>
              <a:defRPr sz="1500">
                <a:solidFill>
                  <a:srgbClr val="0F172A"/>
                </a:solidFill>
              </a:defRPr>
            </a:pPr>
            <a:r>
              <a:t>•  In Myanmar, new infections fell -44%, yet total PLHIV grew from 250k to 310k.</a:t>
            </a:r>
          </a:p>
          <a:p>
            <a:pPr>
              <a:spcAft>
                <a:spcPts val="1200"/>
              </a:spcAft>
              <a:defRPr sz="1500">
                <a:solidFill>
                  <a:srgbClr val="0F172A"/>
                </a:solidFill>
              </a:defRPr>
            </a:pPr>
            <a:r>
              <a:t>•  Rising PLHIV alongside falling deaths is a hallmark of treatment success.</a:t>
            </a:r>
          </a:p>
        </p:txBody>
      </p:sp>
      <p:sp>
        <p:nvSpPr>
          <p:cNvPr id="11" name="Rectangle 10"/>
          <p:cNvSpPr/>
          <p:nvPr/>
        </p:nvSpPr>
        <p:spPr>
          <a:xfrm>
            <a:off x="8065007"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65007" y="1261872"/>
            <a:ext cx="3474720" cy="914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5" y="1481328"/>
            <a:ext cx="3108959" cy="4608576"/>
          </a:xfrm>
          <a:prstGeom prst="rect">
            <a:avLst/>
          </a:prstGeom>
          <a:noFill/>
        </p:spPr>
        <p:txBody>
          <a:bodyPr wrap="square" anchor="t" lIns="0" tIns="0" rIns="0" bIns="0">
            <a:spAutoFit/>
          </a:bodyPr>
          <a:lstStyle/>
          <a:p>
            <a:pPr>
              <a:spcAft>
                <a:spcPts val="400"/>
              </a:spcAft>
              <a:defRPr sz="1650" b="1">
                <a:solidFill>
                  <a:srgbClr val="B91C1C"/>
                </a:solidFill>
              </a:defRPr>
            </a:pPr>
            <a:r>
              <a:t>3. BIOLOGICAL LAGS</a:t>
            </a:r>
          </a:p>
          <a:p>
            <a:pPr>
              <a:spcAft>
                <a:spcPts val="1400"/>
              </a:spcAft>
              <a:defRPr sz="1400" b="1">
                <a:solidFill>
                  <a:srgbClr val="475569"/>
                </a:solidFill>
              </a:defRPr>
            </a:pPr>
            <a:r>
              <a:t>Why Mortality Drops 1–2 Years Later</a:t>
            </a:r>
          </a:p>
          <a:p>
            <a:pPr>
              <a:spcAft>
                <a:spcPts val="1200"/>
              </a:spcAft>
              <a:defRPr sz="1500">
                <a:solidFill>
                  <a:srgbClr val="0F172A"/>
                </a:solidFill>
              </a:defRPr>
            </a:pPr>
            <a:r>
              <a:t>•  Patients starting ART with low CD4 (&lt;200) still face early mortality risk.</a:t>
            </a:r>
          </a:p>
          <a:p>
            <a:pPr>
              <a:spcAft>
                <a:spcPts val="1200"/>
              </a:spcAft>
              <a:defRPr sz="1500">
                <a:solidFill>
                  <a:srgbClr val="0F172A"/>
                </a:solidFill>
              </a:defRPr>
            </a:pPr>
            <a:r>
              <a:t>•  Population-level immune reconstitution requires 12–24 months of retention.</a:t>
            </a:r>
          </a:p>
          <a:p>
            <a:pPr>
              <a:spcAft>
                <a:spcPts val="1200"/>
              </a:spcAft>
              <a:defRPr sz="1500">
                <a:solidFill>
                  <a:srgbClr val="0F172A"/>
                </a:solidFill>
              </a:defRPr>
            </a:pPr>
            <a:r>
              <a:t>•  Thus, expanding ART in year (t-1) drives survival gains in year (t).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PRE-SPECIFIED RESEARCH DESIGN</a:t>
            </a:r>
          </a:p>
          <a:p>
            <a:pPr>
              <a:spcBef>
                <a:spcPts val="200"/>
              </a:spcBef>
              <a:defRPr sz="2400" b="1">
                <a:solidFill>
                  <a:srgbClr val="172B4D"/>
                </a:solidFill>
              </a:defRPr>
            </a:pPr>
            <a:r>
              <a:t>Study Protocol: Four Core Research Questions (RQ1–RQ4)</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3 of 22</a:t>
            </a:r>
          </a:p>
        </p:txBody>
      </p:sp>
      <p:sp>
        <p:nvSpPr>
          <p:cNvPr id="5" name="Rectangle 4"/>
          <p:cNvSpPr/>
          <p:nvPr/>
        </p:nvSpPr>
        <p:spPr>
          <a:xfrm>
            <a:off x="640080" y="1261872"/>
            <a:ext cx="5349240" cy="2331720"/>
          </a:xfrm>
          <a:prstGeom prst="rect">
            <a:avLst/>
          </a:prstGeom>
          <a:solidFill>
            <a:srgbClr val="EEF2FF"/>
          </a:solidFill>
          <a:ln w="12700">
            <a:solidFill>
              <a:srgbClr val="172B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261872"/>
            <a:ext cx="109728" cy="2331720"/>
          </a:xfrm>
          <a:prstGeom prst="rect">
            <a:avLst/>
          </a:prstGeom>
          <a:solidFill>
            <a:srgbClr val="17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426463"/>
            <a:ext cx="4928616" cy="2039111"/>
          </a:xfrm>
          <a:prstGeom prst="rect">
            <a:avLst/>
          </a:prstGeom>
          <a:noFill/>
        </p:spPr>
        <p:txBody>
          <a:bodyPr wrap="square" anchor="t" lIns="0" tIns="0" rIns="0" bIns="0">
            <a:spAutoFit/>
          </a:bodyPr>
          <a:lstStyle/>
          <a:p>
            <a:pPr>
              <a:spcAft>
                <a:spcPts val="600"/>
              </a:spcAft>
              <a:defRPr sz="1550" b="1">
                <a:solidFill>
                  <a:srgbClr val="172B4D"/>
                </a:solidFill>
              </a:defRPr>
            </a:pPr>
            <a:r>
              <a:t>RQ1: LAGGED PROTECTIVE EFFECT OF ART (PRIMARY)</a:t>
            </a:r>
          </a:p>
          <a:p>
            <a:pPr>
              <a:spcAft>
                <a:spcPts val="800"/>
              </a:spcAft>
              <a:defRPr sz="1450">
                <a:solidFill>
                  <a:srgbClr val="0F172A"/>
                </a:solidFill>
              </a:defRPr>
            </a:pPr>
            <a:r>
              <a:t>Does national ART expansion reduce AIDS mortality rates across Southeast Asia (2010–2025)?</a:t>
            </a:r>
          </a:p>
          <a:p>
            <a:pPr>
              <a:defRPr sz="1400" b="1">
                <a:solidFill>
                  <a:srgbClr val="172B4D"/>
                </a:solidFill>
              </a:defRPr>
            </a:pPr>
            <a:r>
              <a:t>▸  Hypothesis: +10 pp lagged ART significantly lowers PLHIV mortality (p &lt; 0.001).</a:t>
            </a:r>
          </a:p>
        </p:txBody>
      </p:sp>
      <p:sp>
        <p:nvSpPr>
          <p:cNvPr id="8" name="Rectangle 7"/>
          <p:cNvSpPr/>
          <p:nvPr/>
        </p:nvSpPr>
        <p:spPr>
          <a:xfrm>
            <a:off x="6199632" y="1261872"/>
            <a:ext cx="5349240" cy="2331720"/>
          </a:xfrm>
          <a:prstGeom prst="rect">
            <a:avLst/>
          </a:prstGeom>
          <a:solidFill>
            <a:srgbClr val="FEF2F2"/>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99632" y="1261872"/>
            <a:ext cx="109728" cy="233172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55664" y="1426463"/>
            <a:ext cx="4928616" cy="2039111"/>
          </a:xfrm>
          <a:prstGeom prst="rect">
            <a:avLst/>
          </a:prstGeom>
          <a:noFill/>
        </p:spPr>
        <p:txBody>
          <a:bodyPr wrap="square" anchor="t" lIns="0" tIns="0" rIns="0" bIns="0">
            <a:spAutoFit/>
          </a:bodyPr>
          <a:lstStyle/>
          <a:p>
            <a:pPr>
              <a:spcAft>
                <a:spcPts val="600"/>
              </a:spcAft>
              <a:defRPr sz="1550" b="1">
                <a:solidFill>
                  <a:srgbClr val="B91C1C"/>
                </a:solidFill>
              </a:defRPr>
            </a:pPr>
            <a:r>
              <a:t>RQ2: MYANMAR'S 36-YEAR TRAJECTORY (1990–2025)</a:t>
            </a:r>
          </a:p>
          <a:p>
            <a:pPr>
              <a:spcAft>
                <a:spcPts val="800"/>
              </a:spcAft>
              <a:defRPr sz="1450">
                <a:solidFill>
                  <a:srgbClr val="0F172A"/>
                </a:solidFill>
              </a:defRPr>
            </a:pPr>
            <a:r>
              <a:t>How did Myanmar transition from peak epidemic to ART scale-up and navigate the 2021 crisis?</a:t>
            </a:r>
          </a:p>
          <a:p>
            <a:pPr>
              <a:defRPr sz="1400" b="1">
                <a:solidFill>
                  <a:srgbClr val="172B4D"/>
                </a:solidFill>
              </a:defRPr>
            </a:pPr>
            <a:r>
              <a:t>▸  Hypothesis: Rapid ART cut deaths &gt;60%, while the 2021 dip caused a 2022 mortality rebound.</a:t>
            </a:r>
          </a:p>
        </p:txBody>
      </p:sp>
      <p:sp>
        <p:nvSpPr>
          <p:cNvPr id="11" name="Rectangle 10"/>
          <p:cNvSpPr/>
          <p:nvPr/>
        </p:nvSpPr>
        <p:spPr>
          <a:xfrm>
            <a:off x="640080" y="3803904"/>
            <a:ext cx="5349240" cy="2331720"/>
          </a:xfrm>
          <a:prstGeom prst="rect">
            <a:avLst/>
          </a:prstGeom>
          <a:solidFill>
            <a:srgbClr val="F0FDFA"/>
          </a:solidFill>
          <a:ln w="12700">
            <a:solidFill>
              <a:srgbClr val="0D6E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803904"/>
            <a:ext cx="109728" cy="2331720"/>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968496"/>
            <a:ext cx="4928616" cy="2039111"/>
          </a:xfrm>
          <a:prstGeom prst="rect">
            <a:avLst/>
          </a:prstGeom>
          <a:noFill/>
        </p:spPr>
        <p:txBody>
          <a:bodyPr wrap="square" anchor="t" lIns="0" tIns="0" rIns="0" bIns="0">
            <a:spAutoFit/>
          </a:bodyPr>
          <a:lstStyle/>
          <a:p>
            <a:pPr>
              <a:spcAft>
                <a:spcPts val="600"/>
              </a:spcAft>
              <a:defRPr sz="1550" b="1">
                <a:solidFill>
                  <a:srgbClr val="0D6E66"/>
                </a:solidFill>
              </a:defRPr>
            </a:pPr>
            <a:r>
              <a:t>RQ3: REGIONAL 95-95-95 CASCADE DISPARITIES</a:t>
            </a:r>
          </a:p>
          <a:p>
            <a:pPr>
              <a:spcAft>
                <a:spcPts val="800"/>
              </a:spcAft>
              <a:defRPr sz="1450">
                <a:solidFill>
                  <a:srgbClr val="0F172A"/>
                </a:solidFill>
              </a:defRPr>
            </a:pPr>
            <a:r>
              <a:t>Where do the largest diagnosis, linkage, and viral suppression bottlenecks persist in 2025?</a:t>
            </a:r>
          </a:p>
          <a:p>
            <a:pPr>
              <a:defRPr sz="1400" b="1">
                <a:solidFill>
                  <a:srgbClr val="172B4D"/>
                </a:solidFill>
              </a:defRPr>
            </a:pPr>
            <a:r>
              <a:t>▸  Hypothesis: Indonesia and the Philippines hold &gt;55% of all untreated PLHIV in SEA.</a:t>
            </a:r>
          </a:p>
        </p:txBody>
      </p:sp>
      <p:sp>
        <p:nvSpPr>
          <p:cNvPr id="14" name="Rectangle 13"/>
          <p:cNvSpPr/>
          <p:nvPr/>
        </p:nvSpPr>
        <p:spPr>
          <a:xfrm>
            <a:off x="6199632" y="3803904"/>
            <a:ext cx="5349240" cy="2331720"/>
          </a:xfrm>
          <a:prstGeom prst="rect">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3803904"/>
            <a:ext cx="109728" cy="2331720"/>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5664" y="3968496"/>
            <a:ext cx="4928616" cy="2039111"/>
          </a:xfrm>
          <a:prstGeom prst="rect">
            <a:avLst/>
          </a:prstGeom>
          <a:noFill/>
        </p:spPr>
        <p:txBody>
          <a:bodyPr wrap="square" anchor="t" lIns="0" tIns="0" rIns="0" bIns="0">
            <a:spAutoFit/>
          </a:bodyPr>
          <a:lstStyle/>
          <a:p>
            <a:pPr>
              <a:spcAft>
                <a:spcPts val="600"/>
              </a:spcAft>
              <a:defRPr sz="1550" b="1">
                <a:solidFill>
                  <a:srgbClr val="B45309"/>
                </a:solidFill>
              </a:defRPr>
            </a:pPr>
            <a:r>
              <a:t>RQ4: MACROECONOMIC WEALTH VS. TREATMENT</a:t>
            </a:r>
          </a:p>
          <a:p>
            <a:pPr>
              <a:spcAft>
                <a:spcPts val="800"/>
              </a:spcAft>
              <a:defRPr sz="1450">
                <a:solidFill>
                  <a:srgbClr val="0F172A"/>
                </a:solidFill>
              </a:defRPr>
            </a:pPr>
            <a:r>
              <a:t>Is higher GDP per capita (PPP) linearly associated with superior ART coverage in SEA?</a:t>
            </a:r>
          </a:p>
          <a:p>
            <a:pPr>
              <a:defRPr sz="1400" b="1">
                <a:solidFill>
                  <a:srgbClr val="172B4D"/>
                </a:solidFill>
              </a:defRPr>
            </a:pPr>
            <a:r>
              <a:t>▸  Hypothesis: National wealth is decoupled from ART coverage due to donor aid and policy gaps.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STAGE 1 DATA RECONNAISSANCE &amp; VERIFICATION</a:t>
            </a:r>
          </a:p>
          <a:p>
            <a:pPr>
              <a:spcBef>
                <a:spcPts val="200"/>
              </a:spcBef>
              <a:defRPr sz="2400" b="1">
                <a:solidFill>
                  <a:srgbClr val="172B4D"/>
                </a:solidFill>
              </a:defRPr>
            </a:pPr>
            <a:r>
              <a:t>Data Provenance: Authenticated Surveillance Architecture</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4 of 22</a:t>
            </a:r>
          </a:p>
        </p:txBody>
      </p:sp>
      <p:sp>
        <p:nvSpPr>
          <p:cNvPr id="5" name="Rectangle 4"/>
          <p:cNvSpPr/>
          <p:nvPr/>
        </p:nvSpPr>
        <p:spPr>
          <a:xfrm>
            <a:off x="640080"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261872"/>
            <a:ext cx="3474720" cy="914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481328"/>
            <a:ext cx="3108959" cy="4608576"/>
          </a:xfrm>
          <a:prstGeom prst="rect">
            <a:avLst/>
          </a:prstGeom>
          <a:noFill/>
        </p:spPr>
        <p:txBody>
          <a:bodyPr wrap="square" anchor="t" lIns="0" tIns="0" rIns="0" bIns="0">
            <a:spAutoFit/>
          </a:bodyPr>
          <a:lstStyle/>
          <a:p>
            <a:pPr>
              <a:spcAft>
                <a:spcPts val="400"/>
              </a:spcAft>
              <a:defRPr sz="1650" b="1">
                <a:solidFill>
                  <a:srgbClr val="B91C1C"/>
                </a:solidFill>
              </a:defRPr>
            </a:pPr>
            <a:r>
              <a:t>1. UNAIDS 2026 ESTIMATES</a:t>
            </a:r>
          </a:p>
          <a:p>
            <a:pPr>
              <a:spcAft>
                <a:spcPts val="1400"/>
              </a:spcAft>
              <a:defRPr sz="1400" b="1">
                <a:solidFill>
                  <a:srgbClr val="475569"/>
                </a:solidFill>
              </a:defRPr>
            </a:pPr>
            <a:r>
              <a:t>Primary Epidemiological Core</a:t>
            </a:r>
          </a:p>
          <a:p>
            <a:pPr>
              <a:spcAft>
                <a:spcPts val="1200"/>
              </a:spcAft>
              <a:defRPr sz="1500">
                <a:solidFill>
                  <a:srgbClr val="0F172A"/>
                </a:solidFill>
              </a:defRPr>
            </a:pPr>
            <a:r>
              <a:t>•  Official 2026 Spectrum/EPP workbook (6,228 burden rows, 1990–2025).</a:t>
            </a:r>
          </a:p>
          <a:p>
            <a:pPr>
              <a:spcAft>
                <a:spcPts val="1200"/>
              </a:spcAft>
              <a:defRPr sz="1500">
                <a:solidFill>
                  <a:srgbClr val="0F172A"/>
                </a:solidFill>
              </a:defRPr>
            </a:pPr>
            <a:r>
              <a:t>•  Test-&amp;-Treat cascade sheet (2,944 rows, 2010–2025) for 95-95-95 metrics.</a:t>
            </a:r>
          </a:p>
          <a:p>
            <a:pPr>
              <a:spcAft>
                <a:spcPts val="1200"/>
              </a:spcAft>
              <a:defRPr sz="1500">
                <a:solidFill>
                  <a:srgbClr val="0F172A"/>
                </a:solidFill>
              </a:defRPr>
            </a:pPr>
            <a:r>
              <a:t>•  Includes 95% Uncertainty Bounds (Low / High) for all core indicators.</a:t>
            </a:r>
          </a:p>
        </p:txBody>
      </p:sp>
      <p:sp>
        <p:nvSpPr>
          <p:cNvPr id="8" name="Rectangle 7"/>
          <p:cNvSpPr/>
          <p:nvPr/>
        </p:nvSpPr>
        <p:spPr>
          <a:xfrm>
            <a:off x="4352544"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52544" y="1261872"/>
            <a:ext cx="3474720" cy="91440"/>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3712" y="1481328"/>
            <a:ext cx="3108959" cy="4608576"/>
          </a:xfrm>
          <a:prstGeom prst="rect">
            <a:avLst/>
          </a:prstGeom>
          <a:noFill/>
        </p:spPr>
        <p:txBody>
          <a:bodyPr wrap="square" anchor="t" lIns="0" tIns="0" rIns="0" bIns="0">
            <a:spAutoFit/>
          </a:bodyPr>
          <a:lstStyle/>
          <a:p>
            <a:pPr>
              <a:spcAft>
                <a:spcPts val="400"/>
              </a:spcAft>
              <a:defRPr sz="1650" b="1">
                <a:solidFill>
                  <a:srgbClr val="0D6E66"/>
                </a:solidFill>
              </a:defRPr>
            </a:pPr>
            <a:r>
              <a:t>2. WHO GHO ODATA API</a:t>
            </a:r>
          </a:p>
          <a:p>
            <a:pPr>
              <a:spcAft>
                <a:spcPts val="1400"/>
              </a:spcAft>
              <a:defRPr sz="1400" b="1">
                <a:solidFill>
                  <a:srgbClr val="475569"/>
                </a:solidFill>
              </a:defRPr>
            </a:pPr>
            <a:r>
              <a:t>Independent Cross-Validation</a:t>
            </a:r>
          </a:p>
          <a:p>
            <a:pPr>
              <a:spcAft>
                <a:spcPts val="1200"/>
              </a:spcAft>
              <a:defRPr sz="1500">
                <a:solidFill>
                  <a:srgbClr val="0F172A"/>
                </a:solidFill>
              </a:defRPr>
            </a:pPr>
            <a:r>
              <a:t>•  Programmatically queried 15,320 records across 4 official HIV indicators.</a:t>
            </a:r>
          </a:p>
          <a:p>
            <a:pPr>
              <a:spcAft>
                <a:spcPts val="1200"/>
              </a:spcAft>
              <a:defRPr sz="1500">
                <a:solidFill>
                  <a:srgbClr val="0F172A"/>
                </a:solidFill>
              </a:defRPr>
            </a:pPr>
            <a:r>
              <a:t>•  Verified 100.0% exact numerical concordance with UNAIDS for Myanmar &amp; SEA.</a:t>
            </a:r>
          </a:p>
          <a:p>
            <a:pPr>
              <a:spcAft>
                <a:spcPts val="1200"/>
              </a:spcAft>
              <a:defRPr sz="1500">
                <a:solidFill>
                  <a:srgbClr val="0F172A"/>
                </a:solidFill>
              </a:defRPr>
            </a:pPr>
            <a:r>
              <a:t>•  Confirmed identical point estimates and uncertainty intervals.</a:t>
            </a:r>
          </a:p>
        </p:txBody>
      </p:sp>
      <p:sp>
        <p:nvSpPr>
          <p:cNvPr id="11" name="Rectangle 10"/>
          <p:cNvSpPr/>
          <p:nvPr/>
        </p:nvSpPr>
        <p:spPr>
          <a:xfrm>
            <a:off x="8065007"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65007" y="1261872"/>
            <a:ext cx="3474720" cy="91440"/>
          </a:xfrm>
          <a:prstGeom prst="rect">
            <a:avLst/>
          </a:prstGeom>
          <a:solidFill>
            <a:srgbClr val="17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5" y="1481328"/>
            <a:ext cx="3108959" cy="4608576"/>
          </a:xfrm>
          <a:prstGeom prst="rect">
            <a:avLst/>
          </a:prstGeom>
          <a:noFill/>
        </p:spPr>
        <p:txBody>
          <a:bodyPr wrap="square" anchor="t" lIns="0" tIns="0" rIns="0" bIns="0">
            <a:spAutoFit/>
          </a:bodyPr>
          <a:lstStyle/>
          <a:p>
            <a:pPr>
              <a:spcAft>
                <a:spcPts val="400"/>
              </a:spcAft>
              <a:defRPr sz="1650" b="1">
                <a:solidFill>
                  <a:srgbClr val="172B4D"/>
                </a:solidFill>
              </a:defRPr>
            </a:pPr>
            <a:r>
              <a:t>3. WORLD BANK WDI &amp; SQL DB</a:t>
            </a:r>
          </a:p>
          <a:p>
            <a:pPr>
              <a:spcAft>
                <a:spcPts val="1400"/>
              </a:spcAft>
              <a:defRPr sz="1400" b="1">
                <a:solidFill>
                  <a:srgbClr val="475569"/>
                </a:solidFill>
              </a:defRPr>
            </a:pPr>
            <a:r>
              <a:t>Macroeconomic &amp; Relational Layer</a:t>
            </a:r>
          </a:p>
          <a:p>
            <a:pPr>
              <a:spcAft>
                <a:spcPts val="1200"/>
              </a:spcAft>
              <a:defRPr sz="1500">
                <a:solidFill>
                  <a:srgbClr val="0F172A"/>
                </a:solidFill>
              </a:defRPr>
            </a:pPr>
            <a:r>
              <a:t>•  Extracted 28,728 records for GDP per capita (PPP &amp; US$) and Total Population.</a:t>
            </a:r>
          </a:p>
          <a:p>
            <a:pPr>
              <a:spcAft>
                <a:spcPts val="1200"/>
              </a:spcAft>
              <a:defRPr sz="1500">
                <a:solidFill>
                  <a:srgbClr val="0F172A"/>
                </a:solidFill>
              </a:defRPr>
            </a:pPr>
            <a:r>
              <a:t>•  Normalized into a 4-table SQLite star schema (hiv_surveillance.db).</a:t>
            </a:r>
          </a:p>
          <a:p>
            <a:pPr>
              <a:spcAft>
                <a:spcPts val="1200"/>
              </a:spcAft>
              <a:defRPr sz="1500">
                <a:solidFill>
                  <a:srgbClr val="0F172A"/>
                </a:solidFill>
              </a:defRPr>
            </a:pPr>
            <a:r>
              <a:t>•  Isolated Global (03M49WLD) &amp; Asia-Pacific (UNAAP) to prevent double-counting.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AUTOMATED SQL &amp; PYTHON VERIFICATION</a:t>
            </a:r>
          </a:p>
          <a:p>
            <a:pPr>
              <a:spcBef>
                <a:spcPts val="200"/>
              </a:spcBef>
              <a:defRPr sz="2400" b="1">
                <a:solidFill>
                  <a:srgbClr val="172B4D"/>
                </a:solidFill>
              </a:defRPr>
            </a:pPr>
            <a:r>
              <a:t>Programmatic Data Quality &amp; Reconciliation Audit</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5 of 22</a:t>
            </a:r>
          </a:p>
        </p:txBody>
      </p:sp>
      <p:graphicFrame>
        <p:nvGraphicFramePr>
          <p:cNvPr id="5" name="Table 4"/>
          <p:cNvGraphicFramePr>
            <a:graphicFrameLocks noGrp="1"/>
          </p:cNvGraphicFramePr>
          <p:nvPr/>
        </p:nvGraphicFramePr>
        <p:xfrm>
          <a:off x="640080" y="1261872"/>
          <a:ext cx="10908792" cy="3566160"/>
        </p:xfrm>
        <a:graphic>
          <a:graphicData uri="http://schemas.openxmlformats.org/drawingml/2006/table">
            <a:tbl>
              <a:tblPr firstRow="1" bandRow="1">
                <a:tableStyleId>{5C22544A-7EE6-4342-B048-85BDC9FD1C3A}</a:tableStyleId>
              </a:tblPr>
              <a:tblGrid>
                <a:gridCol w="2560320"/>
                <a:gridCol w="3959352"/>
                <a:gridCol w="3017520"/>
                <a:gridCol w="1371600"/>
              </a:tblGrid>
              <a:tr h="594360">
                <a:tc>
                  <a:txBody>
                    <a:bodyPr/>
                    <a:lstStyle/>
                    <a:p>
                      <a:pPr>
                        <a:defRPr sz="1450" b="1">
                          <a:solidFill>
                            <a:srgbClr val="FFFFFF"/>
                          </a:solidFill>
                        </a:defRPr>
                      </a:pPr>
                      <a:r>
                        <a:t>Audit Dimension</a:t>
                      </a:r>
                    </a:p>
                  </a:txBody>
                  <a:tcPr anchor="ctr">
                    <a:solidFill>
                      <a:srgbClr val="172B4D"/>
                    </a:solidFill>
                  </a:tcPr>
                </a:tc>
                <a:tc>
                  <a:txBody>
                    <a:bodyPr/>
                    <a:lstStyle/>
                    <a:p>
                      <a:pPr>
                        <a:defRPr sz="1450" b="1">
                          <a:solidFill>
                            <a:srgbClr val="FFFFFF"/>
                          </a:solidFill>
                        </a:defRPr>
                      </a:pPr>
                      <a:r>
                        <a:t>Verification Logic</a:t>
                      </a:r>
                    </a:p>
                  </a:txBody>
                  <a:tcPr anchor="ctr">
                    <a:solidFill>
                      <a:srgbClr val="172B4D"/>
                    </a:solidFill>
                  </a:tcPr>
                </a:tc>
                <a:tc>
                  <a:txBody>
                    <a:bodyPr/>
                    <a:lstStyle/>
                    <a:p>
                      <a:pPr>
                        <a:defRPr sz="1450" b="1">
                          <a:solidFill>
                            <a:srgbClr val="FFFFFF"/>
                          </a:solidFill>
                        </a:defRPr>
                      </a:pPr>
                      <a:r>
                        <a:t>Empirical Result</a:t>
                      </a:r>
                    </a:p>
                  </a:txBody>
                  <a:tcPr anchor="ctr">
                    <a:solidFill>
                      <a:srgbClr val="172B4D"/>
                    </a:solidFill>
                  </a:tcPr>
                </a:tc>
                <a:tc>
                  <a:txBody>
                    <a:bodyPr/>
                    <a:lstStyle/>
                    <a:p>
                      <a:pPr>
                        <a:defRPr sz="1450" b="1">
                          <a:solidFill>
                            <a:srgbClr val="FFFFFF"/>
                          </a:solidFill>
                        </a:defRPr>
                      </a:pPr>
                      <a:r>
                        <a:t>Status</a:t>
                      </a:r>
                    </a:p>
                  </a:txBody>
                  <a:tcPr anchor="ctr">
                    <a:solidFill>
                      <a:srgbClr val="172B4D"/>
                    </a:solidFill>
                  </a:tcPr>
                </a:tc>
              </a:tr>
              <a:tr h="594360">
                <a:tc>
                  <a:txBody>
                    <a:bodyPr/>
                    <a:lstStyle/>
                    <a:p>
                      <a:pPr>
                        <a:defRPr sz="1400" b="1">
                          <a:solidFill>
                            <a:srgbClr val="172B4D"/>
                          </a:solidFill>
                        </a:defRPr>
                      </a:pPr>
                      <a:r>
                        <a:t>Primary Key Uniqueness</a:t>
                      </a:r>
                    </a:p>
                  </a:txBody>
                  <a:tcPr anchor="ctr">
                    <a:solidFill>
                      <a:srgbClr val="FFFFFF"/>
                    </a:solidFill>
                  </a:tcPr>
                </a:tc>
                <a:tc>
                  <a:txBody>
                    <a:bodyPr/>
                    <a:lstStyle/>
                    <a:p>
                      <a:pPr>
                        <a:defRPr sz="1400" b="0">
                          <a:solidFill>
                            <a:srgbClr val="0F172A"/>
                          </a:solidFill>
                        </a:defRPr>
                      </a:pPr>
                      <a:r>
                        <a:t>GROUP BY (iso3, year) HAVING COUNT(*) &gt; 1</a:t>
                      </a:r>
                    </a:p>
                  </a:txBody>
                  <a:tcPr anchor="ctr">
                    <a:solidFill>
                      <a:srgbClr val="FFFFFF"/>
                    </a:solidFill>
                  </a:tcPr>
                </a:tc>
                <a:tc>
                  <a:txBody>
                    <a:bodyPr/>
                    <a:lstStyle/>
                    <a:p>
                      <a:pPr>
                        <a:defRPr sz="1400" b="0">
                          <a:solidFill>
                            <a:srgbClr val="0F172A"/>
                          </a:solidFill>
                        </a:defRPr>
                      </a:pPr>
                      <a:r>
                        <a:t>0 duplicates across 6,624 rows</a:t>
                      </a:r>
                    </a:p>
                  </a:txBody>
                  <a:tcPr anchor="ctr">
                    <a:solidFill>
                      <a:srgbClr val="FFFFFF"/>
                    </a:solidFill>
                  </a:tcPr>
                </a:tc>
                <a:tc>
                  <a:txBody>
                    <a:bodyPr/>
                    <a:lstStyle/>
                    <a:p>
                      <a:pPr>
                        <a:defRPr sz="1400" b="1">
                          <a:solidFill>
                            <a:srgbClr val="0D6E66"/>
                          </a:solidFill>
                        </a:defRPr>
                      </a:pPr>
                      <a:r>
                        <a:t>PASS (100%)</a:t>
                      </a:r>
                    </a:p>
                  </a:txBody>
                  <a:tcPr anchor="ctr">
                    <a:solidFill>
                      <a:srgbClr val="F0FDFA"/>
                    </a:solidFill>
                  </a:tcPr>
                </a:tc>
              </a:tr>
              <a:tr h="594360">
                <a:tc>
                  <a:txBody>
                    <a:bodyPr/>
                    <a:lstStyle/>
                    <a:p>
                      <a:pPr>
                        <a:defRPr sz="1400" b="1">
                          <a:solidFill>
                            <a:srgbClr val="172B4D"/>
                          </a:solidFill>
                        </a:defRPr>
                      </a:pPr>
                      <a:r>
                        <a:t>Foreign Key Integrity</a:t>
                      </a:r>
                    </a:p>
                  </a:txBody>
                  <a:tcPr anchor="ctr">
                    <a:solidFill>
                      <a:srgbClr val="F8FAFC"/>
                    </a:solidFill>
                  </a:tcPr>
                </a:tc>
                <a:tc>
                  <a:txBody>
                    <a:bodyPr/>
                    <a:lstStyle/>
                    <a:p>
                      <a:pPr>
                        <a:defRPr sz="1400" b="0">
                          <a:solidFill>
                            <a:srgbClr val="0F172A"/>
                          </a:solidFill>
                        </a:defRPr>
                      </a:pPr>
                      <a:r>
                        <a:t>LEFT JOIN dim_country WHERE iso3 IS NULL</a:t>
                      </a:r>
                    </a:p>
                  </a:txBody>
                  <a:tcPr anchor="ctr">
                    <a:solidFill>
                      <a:srgbClr val="F8FAFC"/>
                    </a:solidFill>
                  </a:tcPr>
                </a:tc>
                <a:tc>
                  <a:txBody>
                    <a:bodyPr/>
                    <a:lstStyle/>
                    <a:p>
                      <a:pPr>
                        <a:defRPr sz="1400" b="0">
                          <a:solidFill>
                            <a:srgbClr val="0F172A"/>
                          </a:solidFill>
                        </a:defRPr>
                      </a:pPr>
                      <a:r>
                        <a:t>0 orphaned rows across 3 fact tables</a:t>
                      </a:r>
                    </a:p>
                  </a:txBody>
                  <a:tcPr anchor="ctr">
                    <a:solidFill>
                      <a:srgbClr val="F8FAFC"/>
                    </a:solidFill>
                  </a:tcPr>
                </a:tc>
                <a:tc>
                  <a:txBody>
                    <a:bodyPr/>
                    <a:lstStyle/>
                    <a:p>
                      <a:pPr>
                        <a:defRPr sz="1400" b="1">
                          <a:solidFill>
                            <a:srgbClr val="0D6E66"/>
                          </a:solidFill>
                        </a:defRPr>
                      </a:pPr>
                      <a:r>
                        <a:t>PASS (100%)</a:t>
                      </a:r>
                    </a:p>
                  </a:txBody>
                  <a:tcPr anchor="ctr">
                    <a:solidFill>
                      <a:srgbClr val="F0FDFA"/>
                    </a:solidFill>
                  </a:tcPr>
                </a:tc>
              </a:tr>
              <a:tr h="594360">
                <a:tc>
                  <a:txBody>
                    <a:bodyPr/>
                    <a:lstStyle/>
                    <a:p>
                      <a:pPr>
                        <a:defRPr sz="1400" b="1">
                          <a:solidFill>
                            <a:srgbClr val="172B4D"/>
                          </a:solidFill>
                        </a:defRPr>
                      </a:pPr>
                      <a:r>
                        <a:t>Boundary &amp; Scale Parsing</a:t>
                      </a:r>
                    </a:p>
                  </a:txBody>
                  <a:tcPr anchor="ctr">
                    <a:solidFill>
                      <a:srgbClr val="FFFFFF"/>
                    </a:solidFill>
                  </a:tcPr>
                </a:tc>
                <a:tc>
                  <a:txBody>
                    <a:bodyPr/>
                    <a:lstStyle/>
                    <a:p>
                      <a:pPr>
                        <a:defRPr sz="1400" b="0">
                          <a:solidFill>
                            <a:srgbClr val="0F172A"/>
                          </a:solidFill>
                        </a:defRPr>
                      </a:pPr>
                      <a:r>
                        <a:t>Parse '&lt;100', '&gt;98%' cascade, and 'm' millions</a:t>
                      </a:r>
                    </a:p>
                  </a:txBody>
                  <a:tcPr anchor="ctr">
                    <a:solidFill>
                      <a:srgbClr val="FFFFFF"/>
                    </a:solidFill>
                  </a:tcPr>
                </a:tc>
                <a:tc>
                  <a:txBody>
                    <a:bodyPr/>
                    <a:lstStyle/>
                    <a:p>
                      <a:pPr>
                        <a:defRPr sz="1400" b="0">
                          <a:solidFill>
                            <a:srgbClr val="0F172A"/>
                          </a:solidFill>
                        </a:defRPr>
                      </a:pPr>
                      <a:r>
                        <a:t>100% parsed (KHM &gt;98%, Global 41m)</a:t>
                      </a:r>
                    </a:p>
                  </a:txBody>
                  <a:tcPr anchor="ctr">
                    <a:solidFill>
                      <a:srgbClr val="FFFFFF"/>
                    </a:solidFill>
                  </a:tcPr>
                </a:tc>
                <a:tc>
                  <a:txBody>
                    <a:bodyPr/>
                    <a:lstStyle/>
                    <a:p>
                      <a:pPr>
                        <a:defRPr sz="1400" b="1">
                          <a:solidFill>
                            <a:srgbClr val="0D6E66"/>
                          </a:solidFill>
                        </a:defRPr>
                      </a:pPr>
                      <a:r>
                        <a:t>VERIFIED</a:t>
                      </a:r>
                    </a:p>
                  </a:txBody>
                  <a:tcPr anchor="ctr">
                    <a:solidFill>
                      <a:srgbClr val="F0FDFA"/>
                    </a:solidFill>
                  </a:tcPr>
                </a:tc>
              </a:tr>
              <a:tr h="594360">
                <a:tc>
                  <a:txBody>
                    <a:bodyPr/>
                    <a:lstStyle/>
                    <a:p>
                      <a:pPr>
                        <a:defRPr sz="1400" b="1">
                          <a:solidFill>
                            <a:srgbClr val="172B4D"/>
                          </a:solidFill>
                        </a:defRPr>
                      </a:pPr>
                      <a:r>
                        <a:t>WHO vs. UNAIDS Identity</a:t>
                      </a:r>
                    </a:p>
                  </a:txBody>
                  <a:tcPr anchor="ctr">
                    <a:solidFill>
                      <a:srgbClr val="F8FAFC"/>
                    </a:solidFill>
                  </a:tcPr>
                </a:tc>
                <a:tc>
                  <a:txBody>
                    <a:bodyPr/>
                    <a:lstStyle/>
                    <a:p>
                      <a:pPr>
                        <a:defRPr sz="1400" b="0">
                          <a:solidFill>
                            <a:srgbClr val="0F172A"/>
                          </a:solidFill>
                        </a:defRPr>
                      </a:pPr>
                      <a:r>
                        <a:t>Cross-check MMR deaths &amp; ART (2000–2025)</a:t>
                      </a:r>
                    </a:p>
                  </a:txBody>
                  <a:tcPr anchor="ctr">
                    <a:solidFill>
                      <a:srgbClr val="F8FAFC"/>
                    </a:solidFill>
                  </a:tcPr>
                </a:tc>
                <a:tc>
                  <a:txBody>
                    <a:bodyPr/>
                    <a:lstStyle/>
                    <a:p>
                      <a:pPr>
                        <a:defRPr sz="1400" b="0">
                          <a:solidFill>
                            <a:srgbClr val="0F172A"/>
                          </a:solidFill>
                        </a:defRPr>
                      </a:pPr>
                      <a:r>
                        <a:t>100% match (2025: 4,400 deaths, 73% ART)</a:t>
                      </a:r>
                    </a:p>
                  </a:txBody>
                  <a:tcPr anchor="ctr">
                    <a:solidFill>
                      <a:srgbClr val="F8FAFC"/>
                    </a:solidFill>
                  </a:tcPr>
                </a:tc>
                <a:tc>
                  <a:txBody>
                    <a:bodyPr/>
                    <a:lstStyle/>
                    <a:p>
                      <a:pPr>
                        <a:defRPr sz="1400" b="1">
                          <a:solidFill>
                            <a:srgbClr val="0D6E66"/>
                          </a:solidFill>
                        </a:defRPr>
                      </a:pPr>
                      <a:r>
                        <a:t>EXACT MATCH</a:t>
                      </a:r>
                    </a:p>
                  </a:txBody>
                  <a:tcPr anchor="ctr">
                    <a:solidFill>
                      <a:srgbClr val="F0FDFA"/>
                    </a:solidFill>
                  </a:tcPr>
                </a:tc>
              </a:tr>
              <a:tr h="594360">
                <a:tc>
                  <a:txBody>
                    <a:bodyPr/>
                    <a:lstStyle/>
                    <a:p>
                      <a:pPr>
                        <a:defRPr sz="1400" b="1">
                          <a:solidFill>
                            <a:srgbClr val="172B4D"/>
                          </a:solidFill>
                        </a:defRPr>
                      </a:pPr>
                      <a:r>
                        <a:t>Python vs. SQL Parity</a:t>
                      </a:r>
                    </a:p>
                  </a:txBody>
                  <a:tcPr anchor="ctr">
                    <a:solidFill>
                      <a:srgbClr val="FFFFFF"/>
                    </a:solidFill>
                  </a:tcPr>
                </a:tc>
                <a:tc>
                  <a:txBody>
                    <a:bodyPr/>
                    <a:lstStyle/>
                    <a:p>
                      <a:pPr>
                        <a:defRPr sz="1400" b="0">
                          <a:solidFill>
                            <a:srgbClr val="0F172A"/>
                          </a:solidFill>
                        </a:defRPr>
                      </a:pPr>
                      <a:r>
                        <a:t>Compare Pandas vs. SQLite view aggregates</a:t>
                      </a:r>
                    </a:p>
                  </a:txBody>
                  <a:tcPr anchor="ctr">
                    <a:solidFill>
                      <a:srgbClr val="FFFFFF"/>
                    </a:solidFill>
                  </a:tcPr>
                </a:tc>
                <a:tc>
                  <a:txBody>
                    <a:bodyPr/>
                    <a:lstStyle/>
                    <a:p>
                      <a:pPr>
                        <a:defRPr sz="1400" b="0">
                          <a:solidFill>
                            <a:srgbClr val="0F172A"/>
                          </a:solidFill>
                        </a:defRPr>
                      </a:pPr>
                      <a:r>
                        <a:t>Discrepancy = 0.000000 (107,000 deaths)</a:t>
                      </a:r>
                    </a:p>
                  </a:txBody>
                  <a:tcPr anchor="ctr">
                    <a:solidFill>
                      <a:srgbClr val="FFFFFF"/>
                    </a:solidFill>
                  </a:tcPr>
                </a:tc>
                <a:tc>
                  <a:txBody>
                    <a:bodyPr/>
                    <a:lstStyle/>
                    <a:p>
                      <a:pPr>
                        <a:defRPr sz="1400" b="1">
                          <a:solidFill>
                            <a:srgbClr val="0D6E66"/>
                          </a:solidFill>
                        </a:defRPr>
                      </a:pPr>
                      <a:r>
                        <a:t>EXACT MATCH</a:t>
                      </a:r>
                    </a:p>
                  </a:txBody>
                  <a:tcPr anchor="ctr">
                    <a:solidFill>
                      <a:srgbClr val="F0FDFA"/>
                    </a:solidFill>
                  </a:tcPr>
                </a:tc>
              </a:tr>
            </a:tbl>
          </a:graphicData>
        </a:graphic>
      </p:graphicFrame>
      <p:sp>
        <p:nvSpPr>
          <p:cNvPr id="6" name="Rectangle 5"/>
          <p:cNvSpPr/>
          <p:nvPr/>
        </p:nvSpPr>
        <p:spPr>
          <a:xfrm>
            <a:off x="640080" y="5010912"/>
            <a:ext cx="10908792" cy="1261872"/>
          </a:xfrm>
          <a:prstGeom prst="rect">
            <a:avLst/>
          </a:prstGeom>
          <a:solidFill>
            <a:srgbClr val="EEF2FF"/>
          </a:solidFill>
          <a:ln w="12700">
            <a:solidFill>
              <a:srgbClr val="3730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5010912"/>
            <a:ext cx="91440" cy="1261872"/>
          </a:xfrm>
          <a:prstGeom prst="rect">
            <a:avLst/>
          </a:prstGeom>
          <a:solidFill>
            <a:srgbClr val="3730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5084064"/>
            <a:ext cx="10506456" cy="1115567"/>
          </a:xfrm>
          <a:prstGeom prst="rect">
            <a:avLst/>
          </a:prstGeom>
          <a:noFill/>
        </p:spPr>
        <p:txBody>
          <a:bodyPr wrap="square" anchor="t" lIns="0" tIns="0" rIns="0" bIns="0">
            <a:spAutoFit/>
          </a:bodyPr>
          <a:lstStyle/>
          <a:p>
            <a:pPr>
              <a:spcAft>
                <a:spcPts val="400"/>
              </a:spcAft>
              <a:defRPr sz="1500" b="1">
                <a:solidFill>
                  <a:srgbClr val="3730A3"/>
                </a:solidFill>
              </a:defRPr>
            </a:pPr>
            <a:r>
              <a:t>NON-NEGOTIABLE SCIENTIFIC INTEGRITY RULE: ZERO SYNTHETIC IMPUTATION</a:t>
            </a:r>
          </a:p>
          <a:p>
            <a:pPr>
              <a:defRPr sz="1450">
                <a:solidFill>
                  <a:srgbClr val="0F172A"/>
                </a:solidFill>
              </a:defRPr>
            </a:pPr>
            <a:r>
              <a:t>Brunei Darussalam (suppressed '...' due to microstate privacy) and Singapore's suppressed cascade cells are documented transparently and never interpolated.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EMPIRICAL FINDINGS • FIGURE 1 VISUALIZATION</a:t>
            </a:r>
          </a:p>
          <a:p>
            <a:pPr>
              <a:spcBef>
                <a:spcPts val="200"/>
              </a:spcBef>
              <a:defRPr sz="2400" b="1">
                <a:solidFill>
                  <a:srgbClr val="172B4D"/>
                </a:solidFill>
              </a:defRPr>
            </a:pPr>
            <a:r>
              <a:t>Myanmar 36-Year Epidemiological Trajectory (1990–2025)</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6 of 22</a:t>
            </a:r>
          </a:p>
        </p:txBody>
      </p:sp>
      <p:sp>
        <p:nvSpPr>
          <p:cNvPr id="5" name="Rectangle 4"/>
          <p:cNvSpPr/>
          <p:nvPr/>
        </p:nvSpPr>
        <p:spPr>
          <a:xfrm>
            <a:off x="640080" y="1170432"/>
            <a:ext cx="10908792" cy="658368"/>
          </a:xfrm>
          <a:prstGeom prst="rect">
            <a:avLst/>
          </a:prstGeom>
          <a:solidFill>
            <a:srgbClr val="FEF2F2"/>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170432"/>
            <a:ext cx="91440" cy="658368"/>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43584"/>
            <a:ext cx="10506456" cy="512064"/>
          </a:xfrm>
          <a:prstGeom prst="rect">
            <a:avLst/>
          </a:prstGeom>
          <a:noFill/>
        </p:spPr>
        <p:txBody>
          <a:bodyPr wrap="square" anchor="ctr" lIns="0" tIns="0" rIns="0" bIns="0">
            <a:spAutoFit/>
          </a:bodyPr>
          <a:lstStyle/>
          <a:p>
            <a:pPr>
              <a:defRPr sz="1400" b="1">
                <a:solidFill>
                  <a:srgbClr val="0F172A"/>
                </a:solidFill>
              </a:defRPr>
            </a:pPr>
            <a:r>
              <a:t>TAKEAWAY: New infections fell -64.8% from the 2000 peak (27k → 9.5k) and AIDS deaths fell -66.2% from the 2006 peak (13k → 4.4k).</a:t>
            </a:r>
          </a:p>
        </p:txBody>
      </p:sp>
      <p:pic>
        <p:nvPicPr>
          <p:cNvPr id="8" name="Picture 7" descr="fig1_myanmar_longitudinal_trajectory.png"/>
          <p:cNvPicPr>
            <a:picLocks noChangeAspect="1"/>
          </p:cNvPicPr>
          <p:nvPr/>
        </p:nvPicPr>
        <p:blipFill>
          <a:blip r:embed="rId2"/>
          <a:stretch>
            <a:fillRect/>
          </a:stretch>
        </p:blipFill>
        <p:spPr>
          <a:xfrm>
            <a:off x="3357256" y="1920240"/>
            <a:ext cx="5477182" cy="440740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CLINICAL &amp; HISTORICAL INTERPRETATION OF FIGURE 1</a:t>
            </a:r>
          </a:p>
          <a:p>
            <a:pPr>
              <a:spcBef>
                <a:spcPts val="200"/>
              </a:spcBef>
              <a:defRPr sz="2400" b="1">
                <a:solidFill>
                  <a:srgbClr val="172B4D"/>
                </a:solidFill>
              </a:defRPr>
            </a:pPr>
            <a:r>
              <a:t>Myanmar Longitudinal Analysis: Three Epidemiological Eras</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7 of 22</a:t>
            </a:r>
          </a:p>
        </p:txBody>
      </p:sp>
      <p:sp>
        <p:nvSpPr>
          <p:cNvPr id="5" name="Rectangle 4"/>
          <p:cNvSpPr/>
          <p:nvPr/>
        </p:nvSpPr>
        <p:spPr>
          <a:xfrm>
            <a:off x="640080"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261872"/>
            <a:ext cx="3474720" cy="914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481328"/>
            <a:ext cx="3108959" cy="4608576"/>
          </a:xfrm>
          <a:prstGeom prst="rect">
            <a:avLst/>
          </a:prstGeom>
          <a:noFill/>
        </p:spPr>
        <p:txBody>
          <a:bodyPr wrap="square" anchor="t" lIns="0" tIns="0" rIns="0" bIns="0">
            <a:spAutoFit/>
          </a:bodyPr>
          <a:lstStyle/>
          <a:p>
            <a:pPr>
              <a:spcAft>
                <a:spcPts val="400"/>
              </a:spcAft>
              <a:defRPr sz="1600" b="1">
                <a:solidFill>
                  <a:srgbClr val="B91C1C"/>
                </a:solidFill>
              </a:defRPr>
            </a:pPr>
            <a:r>
              <a:t>ERA 1: EXPANSION &amp; PEAK (1990–2006)</a:t>
            </a:r>
          </a:p>
          <a:p>
            <a:pPr>
              <a:spcAft>
                <a:spcPts val="1400"/>
              </a:spcAft>
              <a:defRPr sz="1400" b="1">
                <a:solidFill>
                  <a:srgbClr val="475569"/>
                </a:solidFill>
              </a:defRPr>
            </a:pPr>
            <a:r>
              <a:t>Pre-ART Public Health Emergency</a:t>
            </a:r>
          </a:p>
          <a:p>
            <a:pPr>
              <a:spcAft>
                <a:spcPts val="1200"/>
              </a:spcAft>
              <a:defRPr sz="1500">
                <a:solidFill>
                  <a:srgbClr val="0F172A"/>
                </a:solidFill>
              </a:defRPr>
            </a:pPr>
            <a:r>
              <a:t>•  Outbreaks in PWID and sex workers drove rapid early transmission.</a:t>
            </a:r>
          </a:p>
          <a:p>
            <a:pPr>
              <a:spcAft>
                <a:spcPts val="1200"/>
              </a:spcAft>
              <a:defRPr sz="1500">
                <a:solidFill>
                  <a:srgbClr val="0F172A"/>
                </a:solidFill>
              </a:defRPr>
            </a:pPr>
            <a:r>
              <a:t>•  New infections peaked at 27,000 in 2000; adult prevalence hit 0.9%.</a:t>
            </a:r>
          </a:p>
          <a:p>
            <a:pPr>
              <a:spcAft>
                <a:spcPts val="1200"/>
              </a:spcAft>
              <a:defRPr sz="1500">
                <a:solidFill>
                  <a:srgbClr val="0F172A"/>
                </a:solidFill>
              </a:defRPr>
            </a:pPr>
            <a:r>
              <a:t>•  Without public ART, annual AIDS deaths peaked at 13,000 in 2006.</a:t>
            </a:r>
          </a:p>
        </p:txBody>
      </p:sp>
      <p:sp>
        <p:nvSpPr>
          <p:cNvPr id="8" name="Rectangle 7"/>
          <p:cNvSpPr/>
          <p:nvPr/>
        </p:nvSpPr>
        <p:spPr>
          <a:xfrm>
            <a:off x="4352544"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52544" y="1261872"/>
            <a:ext cx="3474720" cy="91440"/>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3712" y="1481328"/>
            <a:ext cx="3108959" cy="4608576"/>
          </a:xfrm>
          <a:prstGeom prst="rect">
            <a:avLst/>
          </a:prstGeom>
          <a:noFill/>
        </p:spPr>
        <p:txBody>
          <a:bodyPr wrap="square" anchor="t" lIns="0" tIns="0" rIns="0" bIns="0">
            <a:spAutoFit/>
          </a:bodyPr>
          <a:lstStyle/>
          <a:p>
            <a:pPr>
              <a:spcAft>
                <a:spcPts val="400"/>
              </a:spcAft>
              <a:defRPr sz="1600" b="1">
                <a:solidFill>
                  <a:srgbClr val="0D6E66"/>
                </a:solidFill>
              </a:defRPr>
            </a:pPr>
            <a:r>
              <a:t>ERA 2: RAPID ART SCALE-UP (2010–2020)</a:t>
            </a:r>
          </a:p>
          <a:p>
            <a:pPr>
              <a:spcAft>
                <a:spcPts val="1400"/>
              </a:spcAft>
              <a:defRPr sz="1400" b="1">
                <a:solidFill>
                  <a:srgbClr val="475569"/>
                </a:solidFill>
              </a:defRPr>
            </a:pPr>
            <a:r>
              <a:t>Decentralized Clinical Transformation</a:t>
            </a:r>
          </a:p>
          <a:p>
            <a:pPr>
              <a:spcAft>
                <a:spcPts val="1200"/>
              </a:spcAft>
              <a:defRPr sz="1500">
                <a:solidFill>
                  <a:srgbClr val="0F172A"/>
                </a:solidFill>
              </a:defRPr>
            </a:pPr>
            <a:r>
              <a:t>•  NAP and NGO clinics scaled national ART coverage from 12% to 69%.</a:t>
            </a:r>
          </a:p>
          <a:p>
            <a:pPr>
              <a:spcAft>
                <a:spcPts val="1200"/>
              </a:spcAft>
              <a:defRPr sz="1500">
                <a:solidFill>
                  <a:srgbClr val="0F172A"/>
                </a:solidFill>
              </a:defRPr>
            </a:pPr>
            <a:r>
              <a:t>•  Annual AIDS deaths plunged -63.3% (12,000 in 2010 → 4,400 in 2020).</a:t>
            </a:r>
          </a:p>
          <a:p>
            <a:pPr>
              <a:spcAft>
                <a:spcPts val="1200"/>
              </a:spcAft>
              <a:defRPr sz="1500">
                <a:solidFill>
                  <a:srgbClr val="0F172A"/>
                </a:solidFill>
              </a:defRPr>
            </a:pPr>
            <a:r>
              <a:t>•  Total PLHIV rose to 290,000 as patients survived long-term.</a:t>
            </a:r>
          </a:p>
        </p:txBody>
      </p:sp>
      <p:sp>
        <p:nvSpPr>
          <p:cNvPr id="11" name="Rectangle 10"/>
          <p:cNvSpPr/>
          <p:nvPr/>
        </p:nvSpPr>
        <p:spPr>
          <a:xfrm>
            <a:off x="8065007"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65007" y="1261872"/>
            <a:ext cx="3474720" cy="91440"/>
          </a:xfrm>
          <a:prstGeom prst="rect">
            <a:avLst/>
          </a:prstGeom>
          <a:solidFill>
            <a:srgbClr val="17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5" y="1481328"/>
            <a:ext cx="3108959" cy="4608576"/>
          </a:xfrm>
          <a:prstGeom prst="rect">
            <a:avLst/>
          </a:prstGeom>
          <a:noFill/>
        </p:spPr>
        <p:txBody>
          <a:bodyPr wrap="square" anchor="t" lIns="0" tIns="0" rIns="0" bIns="0">
            <a:spAutoFit/>
          </a:bodyPr>
          <a:lstStyle/>
          <a:p>
            <a:pPr>
              <a:spcAft>
                <a:spcPts val="400"/>
              </a:spcAft>
              <a:defRPr sz="1600" b="1">
                <a:solidFill>
                  <a:srgbClr val="172B4D"/>
                </a:solidFill>
              </a:defRPr>
            </a:pPr>
            <a:r>
              <a:t>ERA 3: CRISIS &amp; RESILIENCE (2021–2025)</a:t>
            </a:r>
          </a:p>
          <a:p>
            <a:pPr>
              <a:spcAft>
                <a:spcPts val="1400"/>
              </a:spcAft>
              <a:defRPr sz="1400" b="1">
                <a:solidFill>
                  <a:srgbClr val="475569"/>
                </a:solidFill>
              </a:defRPr>
            </a:pPr>
            <a:r>
              <a:t>System Shock &amp; Community Recovery</a:t>
            </a:r>
          </a:p>
          <a:p>
            <a:pPr>
              <a:spcAft>
                <a:spcPts val="1200"/>
              </a:spcAft>
              <a:defRPr sz="1500">
                <a:solidFill>
                  <a:srgbClr val="0F172A"/>
                </a:solidFill>
              </a:defRPr>
            </a:pPr>
            <a:r>
              <a:t>•  In 2021, political crisis and COVID-19 caused ART to dip (69% → 66%).</a:t>
            </a:r>
          </a:p>
          <a:p>
            <a:pPr>
              <a:spcAft>
                <a:spcPts val="1200"/>
              </a:spcAft>
              <a:defRPr sz="1500">
                <a:solidFill>
                  <a:srgbClr val="0F172A"/>
                </a:solidFill>
              </a:defRPr>
            </a:pPr>
            <a:r>
              <a:t>•  Interruptions triggered an +11.6% mortality rebound in 2022 (4,800 deaths).</a:t>
            </a:r>
          </a:p>
          <a:p>
            <a:pPr>
              <a:spcAft>
                <a:spcPts val="1200"/>
              </a:spcAft>
              <a:defRPr sz="1500">
                <a:solidFill>
                  <a:srgbClr val="0F172A"/>
                </a:solidFill>
              </a:defRPr>
            </a:pPr>
            <a:r>
              <a:t>•  Multi-month dispensing restored ART to 73% (4,400 deaths) by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QUANTITATIVE ANATOMY OF THE 2021–2022 MORTALITY REBOUND</a:t>
            </a:r>
          </a:p>
          <a:p>
            <a:pPr>
              <a:spcBef>
                <a:spcPts val="200"/>
              </a:spcBef>
              <a:defRPr sz="2400" b="1">
                <a:solidFill>
                  <a:srgbClr val="172B4D"/>
                </a:solidFill>
              </a:defRPr>
            </a:pPr>
            <a:r>
              <a:t>Myanmar Surveillance Milestone Table (2010–2025)</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8 of 22</a:t>
            </a:r>
          </a:p>
        </p:txBody>
      </p:sp>
      <p:graphicFrame>
        <p:nvGraphicFramePr>
          <p:cNvPr id="5" name="Table 4"/>
          <p:cNvGraphicFramePr>
            <a:graphicFrameLocks noGrp="1"/>
          </p:cNvGraphicFramePr>
          <p:nvPr/>
        </p:nvGraphicFramePr>
        <p:xfrm>
          <a:off x="640080" y="1261872"/>
          <a:ext cx="10908792" cy="4892040"/>
        </p:xfrm>
        <a:graphic>
          <a:graphicData uri="http://schemas.openxmlformats.org/drawingml/2006/table">
            <a:tbl>
              <a:tblPr firstRow="1" bandRow="1">
                <a:tableStyleId>{5C22544A-7EE6-4342-B048-85BDC9FD1C3A}</a:tableStyleId>
              </a:tblPr>
              <a:tblGrid>
                <a:gridCol w="1051560"/>
                <a:gridCol w="1508760"/>
                <a:gridCol w="1600200"/>
                <a:gridCol w="1691640"/>
                <a:gridCol w="1600200"/>
                <a:gridCol w="1691640"/>
                <a:gridCol w="1764792"/>
              </a:tblGrid>
              <a:tr h="611505">
                <a:tc>
                  <a:txBody>
                    <a:bodyPr/>
                    <a:lstStyle/>
                    <a:p>
                      <a:pPr>
                        <a:defRPr sz="1400" b="1">
                          <a:solidFill>
                            <a:srgbClr val="FFFFFF"/>
                          </a:solidFill>
                        </a:defRPr>
                      </a:pPr>
                      <a:r>
                        <a:t>Year</a:t>
                      </a:r>
                    </a:p>
                  </a:txBody>
                  <a:tcPr anchor="ctr">
                    <a:solidFill>
                      <a:srgbClr val="172B4D"/>
                    </a:solidFill>
                  </a:tcPr>
                </a:tc>
                <a:tc>
                  <a:txBody>
                    <a:bodyPr/>
                    <a:lstStyle/>
                    <a:p>
                      <a:pPr>
                        <a:defRPr sz="1400" b="1">
                          <a:solidFill>
                            <a:srgbClr val="FFFFFF"/>
                          </a:solidFill>
                        </a:defRPr>
                      </a:pPr>
                      <a:r>
                        <a:t>Total PLHIV</a:t>
                      </a:r>
                    </a:p>
                  </a:txBody>
                  <a:tcPr anchor="ctr">
                    <a:solidFill>
                      <a:srgbClr val="172B4D"/>
                    </a:solidFill>
                  </a:tcPr>
                </a:tc>
                <a:tc>
                  <a:txBody>
                    <a:bodyPr/>
                    <a:lstStyle/>
                    <a:p>
                      <a:pPr>
                        <a:defRPr sz="1400" b="1">
                          <a:solidFill>
                            <a:srgbClr val="FFFFFF"/>
                          </a:solidFill>
                        </a:defRPr>
                      </a:pPr>
                      <a:r>
                        <a:t>New Infections</a:t>
                      </a:r>
                    </a:p>
                  </a:txBody>
                  <a:tcPr anchor="ctr">
                    <a:solidFill>
                      <a:srgbClr val="172B4D"/>
                    </a:solidFill>
                  </a:tcPr>
                </a:tc>
                <a:tc>
                  <a:txBody>
                    <a:bodyPr/>
                    <a:lstStyle/>
                    <a:p>
                      <a:pPr>
                        <a:defRPr sz="1400" b="1">
                          <a:solidFill>
                            <a:srgbClr val="FFFFFF"/>
                          </a:solidFill>
                        </a:defRPr>
                      </a:pPr>
                      <a:r>
                        <a:t>AIDS Deaths</a:t>
                      </a:r>
                    </a:p>
                  </a:txBody>
                  <a:tcPr anchor="ctr">
                    <a:solidFill>
                      <a:srgbClr val="172B4D"/>
                    </a:solidFill>
                  </a:tcPr>
                </a:tc>
                <a:tc>
                  <a:txBody>
                    <a:bodyPr/>
                    <a:lstStyle/>
                    <a:p>
                      <a:pPr>
                        <a:defRPr sz="1400" b="1">
                          <a:solidFill>
                            <a:srgbClr val="FFFFFF"/>
                          </a:solidFill>
                        </a:defRPr>
                      </a:pPr>
                      <a:r>
                        <a:t>ART Coverage</a:t>
                      </a:r>
                    </a:p>
                  </a:txBody>
                  <a:tcPr anchor="ctr">
                    <a:solidFill>
                      <a:srgbClr val="172B4D"/>
                    </a:solidFill>
                  </a:tcPr>
                </a:tc>
                <a:tc>
                  <a:txBody>
                    <a:bodyPr/>
                    <a:lstStyle/>
                    <a:p>
                      <a:pPr>
                        <a:defRPr sz="1400" b="1">
                          <a:solidFill>
                            <a:srgbClr val="FFFFFF"/>
                          </a:solidFill>
                        </a:defRPr>
                      </a:pPr>
                      <a:r>
                        <a:t>Mortality / PLHIV</a:t>
                      </a:r>
                    </a:p>
                  </a:txBody>
                  <a:tcPr anchor="ctr">
                    <a:solidFill>
                      <a:srgbClr val="172B4D"/>
                    </a:solidFill>
                  </a:tcPr>
                </a:tc>
                <a:tc>
                  <a:txBody>
                    <a:bodyPr/>
                    <a:lstStyle/>
                    <a:p>
                      <a:pPr>
                        <a:defRPr sz="1400" b="1">
                          <a:solidFill>
                            <a:srgbClr val="FFFFFF"/>
                          </a:solidFill>
                        </a:defRPr>
                      </a:pPr>
                      <a:r>
                        <a:t>Clinical Phase</a:t>
                      </a:r>
                    </a:p>
                  </a:txBody>
                  <a:tcPr anchor="ctr">
                    <a:solidFill>
                      <a:srgbClr val="172B4D"/>
                    </a:solidFill>
                  </a:tcPr>
                </a:tc>
              </a:tr>
              <a:tr h="611505">
                <a:tc>
                  <a:txBody>
                    <a:bodyPr/>
                    <a:lstStyle/>
                    <a:p>
                      <a:pPr>
                        <a:defRPr sz="1400" b="1">
                          <a:solidFill>
                            <a:srgbClr val="172B4D"/>
                          </a:solidFill>
                        </a:defRPr>
                      </a:pPr>
                      <a:r>
                        <a:t>2010</a:t>
                      </a:r>
                    </a:p>
                  </a:txBody>
                  <a:tcPr anchor="ctr">
                    <a:solidFill>
                      <a:srgbClr val="FFFFFF"/>
                    </a:solidFill>
                  </a:tcPr>
                </a:tc>
                <a:tc>
                  <a:txBody>
                    <a:bodyPr/>
                    <a:lstStyle/>
                    <a:p>
                      <a:pPr>
                        <a:defRPr sz="1400" b="0">
                          <a:solidFill>
                            <a:srgbClr val="0F172A"/>
                          </a:solidFill>
                        </a:defRPr>
                      </a:pPr>
                      <a:r>
                        <a:t>250,000</a:t>
                      </a:r>
                    </a:p>
                  </a:txBody>
                  <a:tcPr anchor="ctr">
                    <a:solidFill>
                      <a:srgbClr val="FFFFFF"/>
                    </a:solidFill>
                  </a:tcPr>
                </a:tc>
                <a:tc>
                  <a:txBody>
                    <a:bodyPr/>
                    <a:lstStyle/>
                    <a:p>
                      <a:pPr>
                        <a:defRPr sz="1400" b="0">
                          <a:solidFill>
                            <a:srgbClr val="0F172A"/>
                          </a:solidFill>
                        </a:defRPr>
                      </a:pPr>
                      <a:r>
                        <a:t>17,000</a:t>
                      </a:r>
                    </a:p>
                  </a:txBody>
                  <a:tcPr anchor="ctr">
                    <a:solidFill>
                      <a:srgbClr val="FFFFFF"/>
                    </a:solidFill>
                  </a:tcPr>
                </a:tc>
                <a:tc>
                  <a:txBody>
                    <a:bodyPr/>
                    <a:lstStyle/>
                    <a:p>
                      <a:pPr>
                        <a:defRPr sz="1400" b="0">
                          <a:solidFill>
                            <a:srgbClr val="0F172A"/>
                          </a:solidFill>
                        </a:defRPr>
                      </a:pPr>
                      <a:r>
                        <a:t>12,000</a:t>
                      </a:r>
                    </a:p>
                  </a:txBody>
                  <a:tcPr anchor="ctr">
                    <a:solidFill>
                      <a:srgbClr val="FFFFFF"/>
                    </a:solidFill>
                  </a:tcPr>
                </a:tc>
                <a:tc>
                  <a:txBody>
                    <a:bodyPr/>
                    <a:lstStyle/>
                    <a:p>
                      <a:pPr>
                        <a:defRPr sz="1400" b="0">
                          <a:solidFill>
                            <a:srgbClr val="0F172A"/>
                          </a:solidFill>
                        </a:defRPr>
                      </a:pPr>
                      <a:r>
                        <a:t>12%</a:t>
                      </a:r>
                    </a:p>
                  </a:txBody>
                  <a:tcPr anchor="ctr">
                    <a:solidFill>
                      <a:srgbClr val="FFFFFF"/>
                    </a:solidFill>
                  </a:tcPr>
                </a:tc>
                <a:tc>
                  <a:txBody>
                    <a:bodyPr/>
                    <a:lstStyle/>
                    <a:p>
                      <a:pPr>
                        <a:defRPr sz="1400" b="0">
                          <a:solidFill>
                            <a:srgbClr val="0F172A"/>
                          </a:solidFill>
                        </a:defRPr>
                      </a:pPr>
                      <a:r>
                        <a:t>4.80%</a:t>
                      </a:r>
                    </a:p>
                  </a:txBody>
                  <a:tcPr anchor="ctr">
                    <a:solidFill>
                      <a:srgbClr val="FFFFFF"/>
                    </a:solidFill>
                  </a:tcPr>
                </a:tc>
                <a:tc>
                  <a:txBody>
                    <a:bodyPr/>
                    <a:lstStyle/>
                    <a:p>
                      <a:pPr>
                        <a:defRPr sz="1400" b="0">
                          <a:solidFill>
                            <a:srgbClr val="0F172A"/>
                          </a:solidFill>
                        </a:defRPr>
                      </a:pPr>
                      <a:r>
                        <a:t>Baseline Expansion</a:t>
                      </a:r>
                    </a:p>
                  </a:txBody>
                  <a:tcPr anchor="ctr">
                    <a:solidFill>
                      <a:srgbClr val="FFFFFF"/>
                    </a:solidFill>
                  </a:tcPr>
                </a:tc>
              </a:tr>
              <a:tr h="611505">
                <a:tc>
                  <a:txBody>
                    <a:bodyPr/>
                    <a:lstStyle/>
                    <a:p>
                      <a:pPr>
                        <a:defRPr sz="1400" b="1">
                          <a:solidFill>
                            <a:srgbClr val="172B4D"/>
                          </a:solidFill>
                        </a:defRPr>
                      </a:pPr>
                      <a:r>
                        <a:t>2015</a:t>
                      </a:r>
                    </a:p>
                  </a:txBody>
                  <a:tcPr anchor="ctr">
                    <a:solidFill>
                      <a:srgbClr val="F8FAFC"/>
                    </a:solidFill>
                  </a:tcPr>
                </a:tc>
                <a:tc>
                  <a:txBody>
                    <a:bodyPr/>
                    <a:lstStyle/>
                    <a:p>
                      <a:pPr>
                        <a:defRPr sz="1400" b="0">
                          <a:solidFill>
                            <a:srgbClr val="0F172A"/>
                          </a:solidFill>
                        </a:defRPr>
                      </a:pPr>
                      <a:r>
                        <a:t>270,000</a:t>
                      </a:r>
                    </a:p>
                  </a:txBody>
                  <a:tcPr anchor="ctr">
                    <a:solidFill>
                      <a:srgbClr val="F8FAFC"/>
                    </a:solidFill>
                  </a:tcPr>
                </a:tc>
                <a:tc>
                  <a:txBody>
                    <a:bodyPr/>
                    <a:lstStyle/>
                    <a:p>
                      <a:pPr>
                        <a:defRPr sz="1400" b="0">
                          <a:solidFill>
                            <a:srgbClr val="0F172A"/>
                          </a:solidFill>
                        </a:defRPr>
                      </a:pPr>
                      <a:r>
                        <a:t>14,000</a:t>
                      </a:r>
                    </a:p>
                  </a:txBody>
                  <a:tcPr anchor="ctr">
                    <a:solidFill>
                      <a:srgbClr val="F8FAFC"/>
                    </a:solidFill>
                  </a:tcPr>
                </a:tc>
                <a:tc>
                  <a:txBody>
                    <a:bodyPr/>
                    <a:lstStyle/>
                    <a:p>
                      <a:pPr>
                        <a:defRPr sz="1400" b="0">
                          <a:solidFill>
                            <a:srgbClr val="0F172A"/>
                          </a:solidFill>
                        </a:defRPr>
                      </a:pPr>
                      <a:r>
                        <a:t>7,800</a:t>
                      </a:r>
                    </a:p>
                  </a:txBody>
                  <a:tcPr anchor="ctr">
                    <a:solidFill>
                      <a:srgbClr val="F8FAFC"/>
                    </a:solidFill>
                  </a:tcPr>
                </a:tc>
                <a:tc>
                  <a:txBody>
                    <a:bodyPr/>
                    <a:lstStyle/>
                    <a:p>
                      <a:pPr>
                        <a:defRPr sz="1400" b="0">
                          <a:solidFill>
                            <a:srgbClr val="0F172A"/>
                          </a:solidFill>
                        </a:defRPr>
                      </a:pPr>
                      <a:r>
                        <a:t>40%</a:t>
                      </a:r>
                    </a:p>
                  </a:txBody>
                  <a:tcPr anchor="ctr">
                    <a:solidFill>
                      <a:srgbClr val="F8FAFC"/>
                    </a:solidFill>
                  </a:tcPr>
                </a:tc>
                <a:tc>
                  <a:txBody>
                    <a:bodyPr/>
                    <a:lstStyle/>
                    <a:p>
                      <a:pPr>
                        <a:defRPr sz="1400" b="0">
                          <a:solidFill>
                            <a:srgbClr val="0F172A"/>
                          </a:solidFill>
                        </a:defRPr>
                      </a:pPr>
                      <a:r>
                        <a:t>2.89%</a:t>
                      </a:r>
                    </a:p>
                  </a:txBody>
                  <a:tcPr anchor="ctr">
                    <a:solidFill>
                      <a:srgbClr val="F8FAFC"/>
                    </a:solidFill>
                  </a:tcPr>
                </a:tc>
                <a:tc>
                  <a:txBody>
                    <a:bodyPr/>
                    <a:lstStyle/>
                    <a:p>
                      <a:pPr>
                        <a:defRPr sz="1400" b="0">
                          <a:solidFill>
                            <a:srgbClr val="0F172A"/>
                          </a:solidFill>
                        </a:defRPr>
                      </a:pPr>
                      <a:r>
                        <a:t>Rapid Scale-Up</a:t>
                      </a:r>
                    </a:p>
                  </a:txBody>
                  <a:tcPr anchor="ctr">
                    <a:solidFill>
                      <a:srgbClr val="F8FAFC"/>
                    </a:solidFill>
                  </a:tcPr>
                </a:tc>
              </a:tr>
              <a:tr h="611505">
                <a:tc>
                  <a:txBody>
                    <a:bodyPr/>
                    <a:lstStyle/>
                    <a:p>
                      <a:pPr>
                        <a:defRPr sz="1400" b="1">
                          <a:solidFill>
                            <a:srgbClr val="172B4D"/>
                          </a:solidFill>
                        </a:defRPr>
                      </a:pPr>
                      <a:r>
                        <a:t>2020</a:t>
                      </a:r>
                    </a:p>
                  </a:txBody>
                  <a:tcPr anchor="ctr">
                    <a:solidFill>
                      <a:srgbClr val="FFFFFF"/>
                    </a:solidFill>
                  </a:tcPr>
                </a:tc>
                <a:tc>
                  <a:txBody>
                    <a:bodyPr/>
                    <a:lstStyle/>
                    <a:p>
                      <a:pPr>
                        <a:defRPr sz="1400" b="0">
                          <a:solidFill>
                            <a:srgbClr val="0F172A"/>
                          </a:solidFill>
                        </a:defRPr>
                      </a:pPr>
                      <a:r>
                        <a:t>290,000</a:t>
                      </a:r>
                    </a:p>
                  </a:txBody>
                  <a:tcPr anchor="ctr">
                    <a:solidFill>
                      <a:srgbClr val="FFFFFF"/>
                    </a:solidFill>
                  </a:tcPr>
                </a:tc>
                <a:tc>
                  <a:txBody>
                    <a:bodyPr/>
                    <a:lstStyle/>
                    <a:p>
                      <a:pPr>
                        <a:defRPr sz="1400" b="0">
                          <a:solidFill>
                            <a:srgbClr val="0F172A"/>
                          </a:solidFill>
                        </a:defRPr>
                      </a:pPr>
                      <a:r>
                        <a:t>10,000</a:t>
                      </a:r>
                    </a:p>
                  </a:txBody>
                  <a:tcPr anchor="ctr">
                    <a:solidFill>
                      <a:srgbClr val="FFFFFF"/>
                    </a:solidFill>
                  </a:tcPr>
                </a:tc>
                <a:tc>
                  <a:txBody>
                    <a:bodyPr/>
                    <a:lstStyle/>
                    <a:p>
                      <a:pPr>
                        <a:defRPr sz="1400" b="0">
                          <a:solidFill>
                            <a:srgbClr val="0F172A"/>
                          </a:solidFill>
                        </a:defRPr>
                      </a:pPr>
                      <a:r>
                        <a:t>4,400</a:t>
                      </a:r>
                    </a:p>
                  </a:txBody>
                  <a:tcPr anchor="ctr">
                    <a:solidFill>
                      <a:srgbClr val="FFFFFF"/>
                    </a:solidFill>
                  </a:tcPr>
                </a:tc>
                <a:tc>
                  <a:txBody>
                    <a:bodyPr/>
                    <a:lstStyle/>
                    <a:p>
                      <a:pPr>
                        <a:defRPr sz="1400" b="0">
                          <a:solidFill>
                            <a:srgbClr val="0F172A"/>
                          </a:solidFill>
                        </a:defRPr>
                      </a:pPr>
                      <a:r>
                        <a:t>69%</a:t>
                      </a:r>
                    </a:p>
                  </a:txBody>
                  <a:tcPr anchor="ctr">
                    <a:solidFill>
                      <a:srgbClr val="FFFFFF"/>
                    </a:solidFill>
                  </a:tcPr>
                </a:tc>
                <a:tc>
                  <a:txBody>
                    <a:bodyPr/>
                    <a:lstStyle/>
                    <a:p>
                      <a:pPr>
                        <a:defRPr sz="1400" b="0">
                          <a:solidFill>
                            <a:srgbClr val="0F172A"/>
                          </a:solidFill>
                        </a:defRPr>
                      </a:pPr>
                      <a:r>
                        <a:t>1.52%</a:t>
                      </a:r>
                    </a:p>
                  </a:txBody>
                  <a:tcPr anchor="ctr">
                    <a:solidFill>
                      <a:srgbClr val="FFFFFF"/>
                    </a:solidFill>
                  </a:tcPr>
                </a:tc>
                <a:tc>
                  <a:txBody>
                    <a:bodyPr/>
                    <a:lstStyle/>
                    <a:p>
                      <a:pPr>
                        <a:defRPr sz="1400" b="0">
                          <a:solidFill>
                            <a:srgbClr val="0F172A"/>
                          </a:solidFill>
                        </a:defRPr>
                      </a:pPr>
                      <a:r>
                        <a:t>Pre-Crisis Peak</a:t>
                      </a:r>
                    </a:p>
                  </a:txBody>
                  <a:tcPr anchor="ctr">
                    <a:solidFill>
                      <a:srgbClr val="FFFFFF"/>
                    </a:solidFill>
                  </a:tcPr>
                </a:tc>
              </a:tr>
              <a:tr h="611505">
                <a:tc>
                  <a:txBody>
                    <a:bodyPr/>
                    <a:lstStyle/>
                    <a:p>
                      <a:pPr>
                        <a:defRPr sz="1400" b="1">
                          <a:solidFill>
                            <a:srgbClr val="B91C1C"/>
                          </a:solidFill>
                        </a:defRPr>
                      </a:pPr>
                      <a:r>
                        <a:t>2021</a:t>
                      </a:r>
                    </a:p>
                  </a:txBody>
                  <a:tcPr anchor="ctr">
                    <a:solidFill>
                      <a:srgbClr val="FEF2F2"/>
                    </a:solidFill>
                  </a:tcPr>
                </a:tc>
                <a:tc>
                  <a:txBody>
                    <a:bodyPr/>
                    <a:lstStyle/>
                    <a:p>
                      <a:pPr>
                        <a:defRPr sz="1400" b="1">
                          <a:solidFill>
                            <a:srgbClr val="B91C1C"/>
                          </a:solidFill>
                        </a:defRPr>
                      </a:pPr>
                      <a:r>
                        <a:t>290,000</a:t>
                      </a:r>
                    </a:p>
                  </a:txBody>
                  <a:tcPr anchor="ctr">
                    <a:solidFill>
                      <a:srgbClr val="FEF2F2"/>
                    </a:solidFill>
                  </a:tcPr>
                </a:tc>
                <a:tc>
                  <a:txBody>
                    <a:bodyPr/>
                    <a:lstStyle/>
                    <a:p>
                      <a:pPr>
                        <a:defRPr sz="1400" b="1">
                          <a:solidFill>
                            <a:srgbClr val="B91C1C"/>
                          </a:solidFill>
                        </a:defRPr>
                      </a:pPr>
                      <a:r>
                        <a:t>11,000</a:t>
                      </a:r>
                    </a:p>
                  </a:txBody>
                  <a:tcPr anchor="ctr">
                    <a:solidFill>
                      <a:srgbClr val="FEF2F2"/>
                    </a:solidFill>
                  </a:tcPr>
                </a:tc>
                <a:tc>
                  <a:txBody>
                    <a:bodyPr/>
                    <a:lstStyle/>
                    <a:p>
                      <a:pPr>
                        <a:defRPr sz="1400" b="1">
                          <a:solidFill>
                            <a:srgbClr val="B91C1C"/>
                          </a:solidFill>
                        </a:defRPr>
                      </a:pPr>
                      <a:r>
                        <a:t>4,300</a:t>
                      </a:r>
                    </a:p>
                  </a:txBody>
                  <a:tcPr anchor="ctr">
                    <a:solidFill>
                      <a:srgbClr val="FEF2F2"/>
                    </a:solidFill>
                  </a:tcPr>
                </a:tc>
                <a:tc>
                  <a:txBody>
                    <a:bodyPr/>
                    <a:lstStyle/>
                    <a:p>
                      <a:pPr>
                        <a:defRPr sz="1400" b="1">
                          <a:solidFill>
                            <a:srgbClr val="B91C1C"/>
                          </a:solidFill>
                        </a:defRPr>
                      </a:pPr>
                      <a:r>
                        <a:t>66% (-3 pp)</a:t>
                      </a:r>
                    </a:p>
                  </a:txBody>
                  <a:tcPr anchor="ctr">
                    <a:solidFill>
                      <a:srgbClr val="FEF2F2"/>
                    </a:solidFill>
                  </a:tcPr>
                </a:tc>
                <a:tc>
                  <a:txBody>
                    <a:bodyPr/>
                    <a:lstStyle/>
                    <a:p>
                      <a:pPr>
                        <a:defRPr sz="1400" b="1">
                          <a:solidFill>
                            <a:srgbClr val="B91C1C"/>
                          </a:solidFill>
                        </a:defRPr>
                      </a:pPr>
                      <a:r>
                        <a:t>1.48%</a:t>
                      </a:r>
                    </a:p>
                  </a:txBody>
                  <a:tcPr anchor="ctr">
                    <a:solidFill>
                      <a:srgbClr val="FEF2F2"/>
                    </a:solidFill>
                  </a:tcPr>
                </a:tc>
                <a:tc>
                  <a:txBody>
                    <a:bodyPr/>
                    <a:lstStyle/>
                    <a:p>
                      <a:pPr>
                        <a:defRPr sz="1400" b="1">
                          <a:solidFill>
                            <a:srgbClr val="B91C1C"/>
                          </a:solidFill>
                        </a:defRPr>
                      </a:pPr>
                      <a:r>
                        <a:t>Supply &amp; Clinic Shock</a:t>
                      </a:r>
                    </a:p>
                  </a:txBody>
                  <a:tcPr anchor="ctr">
                    <a:solidFill>
                      <a:srgbClr val="FEF2F2"/>
                    </a:solidFill>
                  </a:tcPr>
                </a:tc>
              </a:tr>
              <a:tr h="611505">
                <a:tc>
                  <a:txBody>
                    <a:bodyPr/>
                    <a:lstStyle/>
                    <a:p>
                      <a:pPr>
                        <a:defRPr sz="1400" b="1">
                          <a:solidFill>
                            <a:srgbClr val="B91C1C"/>
                          </a:solidFill>
                        </a:defRPr>
                      </a:pPr>
                      <a:r>
                        <a:t>2022</a:t>
                      </a:r>
                    </a:p>
                  </a:txBody>
                  <a:tcPr anchor="ctr">
                    <a:solidFill>
                      <a:srgbClr val="FEF2F2"/>
                    </a:solidFill>
                  </a:tcPr>
                </a:tc>
                <a:tc>
                  <a:txBody>
                    <a:bodyPr/>
                    <a:lstStyle/>
                    <a:p>
                      <a:pPr>
                        <a:defRPr sz="1400" b="1">
                          <a:solidFill>
                            <a:srgbClr val="B91C1C"/>
                          </a:solidFill>
                        </a:defRPr>
                      </a:pPr>
                      <a:r>
                        <a:t>300,000</a:t>
                      </a:r>
                    </a:p>
                  </a:txBody>
                  <a:tcPr anchor="ctr">
                    <a:solidFill>
                      <a:srgbClr val="FEF2F2"/>
                    </a:solidFill>
                  </a:tcPr>
                </a:tc>
                <a:tc>
                  <a:txBody>
                    <a:bodyPr/>
                    <a:lstStyle/>
                    <a:p>
                      <a:pPr>
                        <a:defRPr sz="1400" b="1">
                          <a:solidFill>
                            <a:srgbClr val="B91C1C"/>
                          </a:solidFill>
                        </a:defRPr>
                      </a:pPr>
                      <a:r>
                        <a:t>11,000</a:t>
                      </a:r>
                    </a:p>
                  </a:txBody>
                  <a:tcPr anchor="ctr">
                    <a:solidFill>
                      <a:srgbClr val="FEF2F2"/>
                    </a:solidFill>
                  </a:tcPr>
                </a:tc>
                <a:tc>
                  <a:txBody>
                    <a:bodyPr/>
                    <a:lstStyle/>
                    <a:p>
                      <a:pPr>
                        <a:defRPr sz="1400" b="1">
                          <a:solidFill>
                            <a:srgbClr val="B91C1C"/>
                          </a:solidFill>
                        </a:defRPr>
                      </a:pPr>
                      <a:r>
                        <a:t>4,800 (+11.6%)</a:t>
                      </a:r>
                    </a:p>
                  </a:txBody>
                  <a:tcPr anchor="ctr">
                    <a:solidFill>
                      <a:srgbClr val="FEF2F2"/>
                    </a:solidFill>
                  </a:tcPr>
                </a:tc>
                <a:tc>
                  <a:txBody>
                    <a:bodyPr/>
                    <a:lstStyle/>
                    <a:p>
                      <a:pPr>
                        <a:defRPr sz="1400" b="1">
                          <a:solidFill>
                            <a:srgbClr val="B91C1C"/>
                          </a:solidFill>
                        </a:defRPr>
                      </a:pPr>
                      <a:r>
                        <a:t>70%</a:t>
                      </a:r>
                    </a:p>
                  </a:txBody>
                  <a:tcPr anchor="ctr">
                    <a:solidFill>
                      <a:srgbClr val="FEF2F2"/>
                    </a:solidFill>
                  </a:tcPr>
                </a:tc>
                <a:tc>
                  <a:txBody>
                    <a:bodyPr/>
                    <a:lstStyle/>
                    <a:p>
                      <a:pPr>
                        <a:defRPr sz="1400" b="1">
                          <a:solidFill>
                            <a:srgbClr val="B91C1C"/>
                          </a:solidFill>
                        </a:defRPr>
                      </a:pPr>
                      <a:r>
                        <a:t>1.60% (Spike)</a:t>
                      </a:r>
                    </a:p>
                  </a:txBody>
                  <a:tcPr anchor="ctr">
                    <a:solidFill>
                      <a:srgbClr val="FEF2F2"/>
                    </a:solidFill>
                  </a:tcPr>
                </a:tc>
                <a:tc>
                  <a:txBody>
                    <a:bodyPr/>
                    <a:lstStyle/>
                    <a:p>
                      <a:pPr>
                        <a:defRPr sz="1400" b="1">
                          <a:solidFill>
                            <a:srgbClr val="B91C1C"/>
                          </a:solidFill>
                        </a:defRPr>
                      </a:pPr>
                      <a:r>
                        <a:t>1-Yr Lagged Rebound</a:t>
                      </a:r>
                    </a:p>
                  </a:txBody>
                  <a:tcPr anchor="ctr">
                    <a:solidFill>
                      <a:srgbClr val="FEF2F2"/>
                    </a:solidFill>
                  </a:tcPr>
                </a:tc>
              </a:tr>
              <a:tr h="611505">
                <a:tc>
                  <a:txBody>
                    <a:bodyPr/>
                    <a:lstStyle/>
                    <a:p>
                      <a:pPr>
                        <a:defRPr sz="1400" b="1">
                          <a:solidFill>
                            <a:srgbClr val="172B4D"/>
                          </a:solidFill>
                        </a:defRPr>
                      </a:pPr>
                      <a:r>
                        <a:t>2024</a:t>
                      </a:r>
                    </a:p>
                  </a:txBody>
                  <a:tcPr anchor="ctr">
                    <a:solidFill>
                      <a:srgbClr val="F8FAFC"/>
                    </a:solidFill>
                  </a:tcPr>
                </a:tc>
                <a:tc>
                  <a:txBody>
                    <a:bodyPr/>
                    <a:lstStyle/>
                    <a:p>
                      <a:pPr>
                        <a:defRPr sz="1400" b="0">
                          <a:solidFill>
                            <a:srgbClr val="0F172A"/>
                          </a:solidFill>
                        </a:defRPr>
                      </a:pPr>
                      <a:r>
                        <a:t>300,000</a:t>
                      </a:r>
                    </a:p>
                  </a:txBody>
                  <a:tcPr anchor="ctr">
                    <a:solidFill>
                      <a:srgbClr val="F8FAFC"/>
                    </a:solidFill>
                  </a:tcPr>
                </a:tc>
                <a:tc>
                  <a:txBody>
                    <a:bodyPr/>
                    <a:lstStyle/>
                    <a:p>
                      <a:pPr>
                        <a:defRPr sz="1400" b="0">
                          <a:solidFill>
                            <a:srgbClr val="0F172A"/>
                          </a:solidFill>
                        </a:defRPr>
                      </a:pPr>
                      <a:r>
                        <a:t>9,900</a:t>
                      </a:r>
                    </a:p>
                  </a:txBody>
                  <a:tcPr anchor="ctr">
                    <a:solidFill>
                      <a:srgbClr val="F8FAFC"/>
                    </a:solidFill>
                  </a:tcPr>
                </a:tc>
                <a:tc>
                  <a:txBody>
                    <a:bodyPr/>
                    <a:lstStyle/>
                    <a:p>
                      <a:pPr>
                        <a:defRPr sz="1400" b="0">
                          <a:solidFill>
                            <a:srgbClr val="0F172A"/>
                          </a:solidFill>
                        </a:defRPr>
                      </a:pPr>
                      <a:r>
                        <a:t>4,400</a:t>
                      </a:r>
                    </a:p>
                  </a:txBody>
                  <a:tcPr anchor="ctr">
                    <a:solidFill>
                      <a:srgbClr val="F8FAFC"/>
                    </a:solidFill>
                  </a:tcPr>
                </a:tc>
                <a:tc>
                  <a:txBody>
                    <a:bodyPr/>
                    <a:lstStyle/>
                    <a:p>
                      <a:pPr>
                        <a:defRPr sz="1400" b="0">
                          <a:solidFill>
                            <a:srgbClr val="0F172A"/>
                          </a:solidFill>
                        </a:defRPr>
                      </a:pPr>
                      <a:r>
                        <a:t>72%</a:t>
                      </a:r>
                    </a:p>
                  </a:txBody>
                  <a:tcPr anchor="ctr">
                    <a:solidFill>
                      <a:srgbClr val="F8FAFC"/>
                    </a:solidFill>
                  </a:tcPr>
                </a:tc>
                <a:tc>
                  <a:txBody>
                    <a:bodyPr/>
                    <a:lstStyle/>
                    <a:p>
                      <a:pPr>
                        <a:defRPr sz="1400" b="0">
                          <a:solidFill>
                            <a:srgbClr val="0F172A"/>
                          </a:solidFill>
                        </a:defRPr>
                      </a:pPr>
                      <a:r>
                        <a:t>1.47%</a:t>
                      </a:r>
                    </a:p>
                  </a:txBody>
                  <a:tcPr anchor="ctr">
                    <a:solidFill>
                      <a:srgbClr val="F8FAFC"/>
                    </a:solidFill>
                  </a:tcPr>
                </a:tc>
                <a:tc>
                  <a:txBody>
                    <a:bodyPr/>
                    <a:lstStyle/>
                    <a:p>
                      <a:pPr>
                        <a:defRPr sz="1400" b="0">
                          <a:solidFill>
                            <a:srgbClr val="0F172A"/>
                          </a:solidFill>
                        </a:defRPr>
                      </a:pPr>
                      <a:r>
                        <a:t>NGO / MMD Stabilization</a:t>
                      </a:r>
                    </a:p>
                  </a:txBody>
                  <a:tcPr anchor="ctr">
                    <a:solidFill>
                      <a:srgbClr val="F8FAFC"/>
                    </a:solidFill>
                  </a:tcPr>
                </a:tc>
              </a:tr>
              <a:tr h="611505">
                <a:tc>
                  <a:txBody>
                    <a:bodyPr/>
                    <a:lstStyle/>
                    <a:p>
                      <a:pPr>
                        <a:defRPr sz="1400" b="1">
                          <a:solidFill>
                            <a:srgbClr val="172B4D"/>
                          </a:solidFill>
                        </a:defRPr>
                      </a:pPr>
                      <a:r>
                        <a:t>2025</a:t>
                      </a:r>
                    </a:p>
                  </a:txBody>
                  <a:tcPr anchor="ctr">
                    <a:solidFill>
                      <a:srgbClr val="FFFFFF"/>
                    </a:solidFill>
                  </a:tcPr>
                </a:tc>
                <a:tc>
                  <a:txBody>
                    <a:bodyPr/>
                    <a:lstStyle/>
                    <a:p>
                      <a:pPr>
                        <a:defRPr sz="1400" b="0">
                          <a:solidFill>
                            <a:srgbClr val="0F172A"/>
                          </a:solidFill>
                        </a:defRPr>
                      </a:pPr>
                      <a:r>
                        <a:t>310,000</a:t>
                      </a:r>
                    </a:p>
                  </a:txBody>
                  <a:tcPr anchor="ctr">
                    <a:solidFill>
                      <a:srgbClr val="FFFFFF"/>
                    </a:solidFill>
                  </a:tcPr>
                </a:tc>
                <a:tc>
                  <a:txBody>
                    <a:bodyPr/>
                    <a:lstStyle/>
                    <a:p>
                      <a:pPr>
                        <a:defRPr sz="1400" b="0">
                          <a:solidFill>
                            <a:srgbClr val="0F172A"/>
                          </a:solidFill>
                        </a:defRPr>
                      </a:pPr>
                      <a:r>
                        <a:t>9,500</a:t>
                      </a:r>
                    </a:p>
                  </a:txBody>
                  <a:tcPr anchor="ctr">
                    <a:solidFill>
                      <a:srgbClr val="FFFFFF"/>
                    </a:solidFill>
                  </a:tcPr>
                </a:tc>
                <a:tc>
                  <a:txBody>
                    <a:bodyPr/>
                    <a:lstStyle/>
                    <a:p>
                      <a:pPr>
                        <a:defRPr sz="1400" b="0">
                          <a:solidFill>
                            <a:srgbClr val="0F172A"/>
                          </a:solidFill>
                        </a:defRPr>
                      </a:pPr>
                      <a:r>
                        <a:t>4,400</a:t>
                      </a:r>
                    </a:p>
                  </a:txBody>
                  <a:tcPr anchor="ctr">
                    <a:solidFill>
                      <a:srgbClr val="FFFFFF"/>
                    </a:solidFill>
                  </a:tcPr>
                </a:tc>
                <a:tc>
                  <a:txBody>
                    <a:bodyPr/>
                    <a:lstStyle/>
                    <a:p>
                      <a:pPr>
                        <a:defRPr sz="1400" b="0">
                          <a:solidFill>
                            <a:srgbClr val="0F172A"/>
                          </a:solidFill>
                        </a:defRPr>
                      </a:pPr>
                      <a:r>
                        <a:t>73%</a:t>
                      </a:r>
                    </a:p>
                  </a:txBody>
                  <a:tcPr anchor="ctr">
                    <a:solidFill>
                      <a:srgbClr val="FFFFFF"/>
                    </a:solidFill>
                  </a:tcPr>
                </a:tc>
                <a:tc>
                  <a:txBody>
                    <a:bodyPr/>
                    <a:lstStyle/>
                    <a:p>
                      <a:pPr>
                        <a:defRPr sz="1400" b="0">
                          <a:solidFill>
                            <a:srgbClr val="0F172A"/>
                          </a:solidFill>
                        </a:defRPr>
                      </a:pPr>
                      <a:r>
                        <a:t>1.42%</a:t>
                      </a:r>
                    </a:p>
                  </a:txBody>
                  <a:tcPr anchor="ctr">
                    <a:solidFill>
                      <a:srgbClr val="FFFFFF"/>
                    </a:solidFill>
                  </a:tcPr>
                </a:tc>
                <a:tc>
                  <a:txBody>
                    <a:bodyPr/>
                    <a:lstStyle/>
                    <a:p>
                      <a:pPr>
                        <a:defRPr sz="1400" b="0">
                          <a:solidFill>
                            <a:srgbClr val="0F172A"/>
                          </a:solidFill>
                        </a:defRPr>
                      </a:pPr>
                      <a:r>
                        <a:t>Current Equilibrium</a:t>
                      </a:r>
                    </a:p>
                  </a:txBody>
                  <a:tcPr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COMPARATIVE REGIONAL OUTCOMES • FIGURE 2 VISUALIZATION</a:t>
            </a:r>
          </a:p>
          <a:p>
            <a:pPr>
              <a:spcBef>
                <a:spcPts val="200"/>
              </a:spcBef>
              <a:defRPr sz="2400" b="1">
                <a:solidFill>
                  <a:srgbClr val="172B4D"/>
                </a:solidFill>
              </a:defRPr>
            </a:pPr>
            <a:r>
              <a:t>Regional Fast-Track Divergence in Southeast Asia (2010–2025)</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9 of 22</a:t>
            </a:r>
          </a:p>
        </p:txBody>
      </p:sp>
      <p:sp>
        <p:nvSpPr>
          <p:cNvPr id="5" name="Rectangle 4"/>
          <p:cNvSpPr/>
          <p:nvPr/>
        </p:nvSpPr>
        <p:spPr>
          <a:xfrm>
            <a:off x="640080" y="1170432"/>
            <a:ext cx="10908792" cy="658368"/>
          </a:xfrm>
          <a:prstGeom prst="rect">
            <a:avLst/>
          </a:prstGeom>
          <a:solidFill>
            <a:srgbClr val="EEF2FF"/>
          </a:solidFill>
          <a:ln w="12700">
            <a:solidFill>
              <a:srgbClr val="172B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170432"/>
            <a:ext cx="91440" cy="658368"/>
          </a:xfrm>
          <a:prstGeom prst="rect">
            <a:avLst/>
          </a:prstGeom>
          <a:solidFill>
            <a:srgbClr val="17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43584"/>
            <a:ext cx="10506456" cy="512064"/>
          </a:xfrm>
          <a:prstGeom prst="rect">
            <a:avLst/>
          </a:prstGeom>
          <a:noFill/>
        </p:spPr>
        <p:txBody>
          <a:bodyPr wrap="square" anchor="ctr" lIns="0" tIns="0" rIns="0" bIns="0">
            <a:spAutoFit/>
          </a:bodyPr>
          <a:lstStyle/>
          <a:p>
            <a:pPr>
              <a:defRPr sz="1400" b="1">
                <a:solidFill>
                  <a:srgbClr val="0F172A"/>
                </a:solidFill>
              </a:defRPr>
            </a:pPr>
            <a:r>
              <a:t>TAKEAWAY: Thailand (-79.5%) and Myanmar (-63.3%) beat the Global mortality drop (-56.2%), while the Philippines surged +440%.</a:t>
            </a:r>
          </a:p>
        </p:txBody>
      </p:sp>
      <p:pic>
        <p:nvPicPr>
          <p:cNvPr id="8" name="Picture 7" descr="fig2_southeast_asia_mortality_infection_divergence.png"/>
          <p:cNvPicPr>
            <a:picLocks noChangeAspect="1"/>
          </p:cNvPicPr>
          <p:nvPr/>
        </p:nvPicPr>
        <p:blipFill>
          <a:blip r:embed="rId2"/>
          <a:stretch>
            <a:fillRect/>
          </a:stretch>
        </p:blipFill>
        <p:spPr>
          <a:xfrm>
            <a:off x="1510424" y="1920240"/>
            <a:ext cx="9170846" cy="440740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EPIDEMIOLOGICAL DRIVERS OF FIGURE 2</a:t>
            </a:r>
          </a:p>
          <a:p>
            <a:pPr>
              <a:spcBef>
                <a:spcPts val="200"/>
              </a:spcBef>
              <a:defRPr sz="2400" b="1">
                <a:solidFill>
                  <a:srgbClr val="172B4D"/>
                </a:solidFill>
              </a:defRPr>
            </a:pPr>
            <a:r>
              <a:t>Regional Divergence Insights: Why Trajectories Split</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10 of 22</a:t>
            </a:r>
          </a:p>
        </p:txBody>
      </p:sp>
      <p:sp>
        <p:nvSpPr>
          <p:cNvPr id="5" name="Rectangle 4"/>
          <p:cNvSpPr/>
          <p:nvPr/>
        </p:nvSpPr>
        <p:spPr>
          <a:xfrm>
            <a:off x="640080"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261872"/>
            <a:ext cx="3474720" cy="91440"/>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481328"/>
            <a:ext cx="3108959" cy="4608576"/>
          </a:xfrm>
          <a:prstGeom prst="rect">
            <a:avLst/>
          </a:prstGeom>
          <a:noFill/>
        </p:spPr>
        <p:txBody>
          <a:bodyPr wrap="square" anchor="t" lIns="0" tIns="0" rIns="0" bIns="0">
            <a:spAutoFit/>
          </a:bodyPr>
          <a:lstStyle/>
          <a:p>
            <a:pPr>
              <a:spcAft>
                <a:spcPts val="400"/>
              </a:spcAft>
              <a:defRPr sz="1600" b="1">
                <a:solidFill>
                  <a:srgbClr val="0D6E66"/>
                </a:solidFill>
              </a:defRPr>
            </a:pPr>
            <a:r>
              <a:t>1. EPIDEMIC CONTROL LEADERS</a:t>
            </a:r>
          </a:p>
          <a:p>
            <a:pPr>
              <a:spcAft>
                <a:spcPts val="1400"/>
              </a:spcAft>
              <a:defRPr sz="1400" b="1">
                <a:solidFill>
                  <a:srgbClr val="475569"/>
                </a:solidFill>
              </a:defRPr>
            </a:pPr>
            <a:r>
              <a:t>Thailand, Myanmar &amp; Cambodia</a:t>
            </a:r>
          </a:p>
          <a:p>
            <a:pPr>
              <a:spcAft>
                <a:spcPts val="1200"/>
              </a:spcAft>
              <a:defRPr sz="1500">
                <a:solidFill>
                  <a:srgbClr val="0F172A"/>
                </a:solidFill>
              </a:defRPr>
            </a:pPr>
            <a:r>
              <a:t>•  Thailand cut AIDS deaths by -79.5% (41k → 8.4k) and new infections by -65.2%.</a:t>
            </a:r>
          </a:p>
          <a:p>
            <a:pPr>
              <a:spcAft>
                <a:spcPts val="1200"/>
              </a:spcAft>
              <a:defRPr sz="1500">
                <a:solidFill>
                  <a:srgbClr val="0F172A"/>
                </a:solidFill>
              </a:defRPr>
            </a:pPr>
            <a:r>
              <a:t>•  Myanmar achieved the 2nd largest mortality reduction in SEA (-63.3%).</a:t>
            </a:r>
          </a:p>
          <a:p>
            <a:pPr>
              <a:spcAft>
                <a:spcPts val="1200"/>
              </a:spcAft>
              <a:defRPr sz="1500">
                <a:solidFill>
                  <a:srgbClr val="0F172A"/>
                </a:solidFill>
              </a:defRPr>
            </a:pPr>
            <a:r>
              <a:t>•  Cambodia reduced new infections by -58.3% via 95% ART coverage.</a:t>
            </a:r>
          </a:p>
        </p:txBody>
      </p:sp>
      <p:sp>
        <p:nvSpPr>
          <p:cNvPr id="8" name="Rectangle 7"/>
          <p:cNvSpPr/>
          <p:nvPr/>
        </p:nvSpPr>
        <p:spPr>
          <a:xfrm>
            <a:off x="4352544"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52544" y="1261872"/>
            <a:ext cx="3474720" cy="914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3712" y="1481328"/>
            <a:ext cx="3108959" cy="4608576"/>
          </a:xfrm>
          <a:prstGeom prst="rect">
            <a:avLst/>
          </a:prstGeom>
          <a:noFill/>
        </p:spPr>
        <p:txBody>
          <a:bodyPr wrap="square" anchor="t" lIns="0" tIns="0" rIns="0" bIns="0">
            <a:spAutoFit/>
          </a:bodyPr>
          <a:lstStyle/>
          <a:p>
            <a:pPr>
              <a:spcAft>
                <a:spcPts val="400"/>
              </a:spcAft>
              <a:defRPr sz="1600" b="1">
                <a:solidFill>
                  <a:srgbClr val="B91C1C"/>
                </a:solidFill>
              </a:defRPr>
            </a:pPr>
            <a:r>
              <a:t>2. PHILIPPINE HYPER-OUTBREAK</a:t>
            </a:r>
          </a:p>
          <a:p>
            <a:pPr>
              <a:spcAft>
                <a:spcPts val="1400"/>
              </a:spcAft>
              <a:defRPr sz="1400" b="1">
                <a:solidFill>
                  <a:srgbClr val="475569"/>
                </a:solidFill>
              </a:defRPr>
            </a:pPr>
            <a:r>
              <a:t>+639.1% Infections | +440% Deaths</a:t>
            </a:r>
          </a:p>
          <a:p>
            <a:pPr>
              <a:spcAft>
                <a:spcPts val="1200"/>
              </a:spcAft>
              <a:defRPr sz="1500">
                <a:solidFill>
                  <a:srgbClr val="0F172A"/>
                </a:solidFill>
              </a:defRPr>
            </a:pPr>
            <a:r>
              <a:t>•  Annual new infections surged 7.4-fold from 4,600 (2010) to 34,000 (2025).</a:t>
            </a:r>
          </a:p>
          <a:p>
            <a:pPr>
              <a:spcAft>
                <a:spcPts val="1200"/>
              </a:spcAft>
              <a:defRPr sz="1500">
                <a:solidFill>
                  <a:srgbClr val="0F172A"/>
                </a:solidFill>
              </a:defRPr>
            </a:pPr>
            <a:r>
              <a:t>•  Driven by youth MSM transmission, legal testing barriers, and low PrEP access.</a:t>
            </a:r>
          </a:p>
          <a:p>
            <a:pPr>
              <a:spcAft>
                <a:spcPts val="1200"/>
              </a:spcAft>
              <a:defRPr sz="1500">
                <a:solidFill>
                  <a:srgbClr val="0F172A"/>
                </a:solidFill>
              </a:defRPr>
            </a:pPr>
            <a:r>
              <a:t>•  With 41% ART coverage, annual AIDS deaths rose from 500 to 2,700 (+440%).</a:t>
            </a:r>
          </a:p>
        </p:txBody>
      </p:sp>
      <p:sp>
        <p:nvSpPr>
          <p:cNvPr id="11" name="Rectangle 10"/>
          <p:cNvSpPr/>
          <p:nvPr/>
        </p:nvSpPr>
        <p:spPr>
          <a:xfrm>
            <a:off x="8065007"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65007" y="1261872"/>
            <a:ext cx="3474720" cy="91440"/>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5" y="1481328"/>
            <a:ext cx="3108959" cy="4608576"/>
          </a:xfrm>
          <a:prstGeom prst="rect">
            <a:avLst/>
          </a:prstGeom>
          <a:noFill/>
        </p:spPr>
        <p:txBody>
          <a:bodyPr wrap="square" anchor="t" lIns="0" tIns="0" rIns="0" bIns="0">
            <a:spAutoFit/>
          </a:bodyPr>
          <a:lstStyle/>
          <a:p>
            <a:pPr>
              <a:spcAft>
                <a:spcPts val="400"/>
              </a:spcAft>
              <a:defRPr sz="1600" b="1">
                <a:solidFill>
                  <a:srgbClr val="B45309"/>
                </a:solidFill>
              </a:defRPr>
            </a:pPr>
            <a:r>
              <a:t>3. INDONESIA'S PARADOX</a:t>
            </a:r>
          </a:p>
          <a:p>
            <a:pPr>
              <a:spcAft>
                <a:spcPts val="1400"/>
              </a:spcAft>
              <a:defRPr sz="1400" b="1">
                <a:solidFill>
                  <a:srgbClr val="475569"/>
                </a:solidFill>
              </a:defRPr>
            </a:pPr>
            <a:r>
              <a:t>-56.2% Infections vs. +28.6% Deaths</a:t>
            </a:r>
          </a:p>
          <a:p>
            <a:pPr>
              <a:spcAft>
                <a:spcPts val="1200"/>
              </a:spcAft>
              <a:defRPr sz="1500">
                <a:solidFill>
                  <a:srgbClr val="0F172A"/>
                </a:solidFill>
              </a:defRPr>
            </a:pPr>
            <a:r>
              <a:t>•  New infections dropped -56.2%, yet AIDS deaths rose +28.6% (14k → 18k).</a:t>
            </a:r>
          </a:p>
          <a:p>
            <a:pPr>
              <a:spcAft>
                <a:spcPts val="1200"/>
              </a:spcAft>
              <a:defRPr sz="1500">
                <a:solidFill>
                  <a:srgbClr val="0F172A"/>
                </a:solidFill>
              </a:defRPr>
            </a:pPr>
            <a:r>
              <a:t>•  Only 48% of Indonesia's 560,000 PLHIV receive ART (291,200 untreated).</a:t>
            </a:r>
          </a:p>
          <a:p>
            <a:pPr>
              <a:spcAft>
                <a:spcPts val="1200"/>
              </a:spcAft>
              <a:defRPr sz="1500">
                <a:solidFill>
                  <a:srgbClr val="0F172A"/>
                </a:solidFill>
              </a:defRPr>
            </a:pPr>
            <a:r>
              <a:t>•  Untreated cohorts from earlier waves are now progressing to late-stage AIDS.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LONGITUDINAL TREATMENT SCALE-UP • FIGURE 6 VISUALIZATION</a:t>
            </a:r>
          </a:p>
          <a:p>
            <a:pPr>
              <a:spcBef>
                <a:spcPts val="200"/>
              </a:spcBef>
              <a:defRPr sz="2400" b="1">
                <a:solidFill>
                  <a:srgbClr val="172B4D"/>
                </a:solidFill>
              </a:defRPr>
            </a:pPr>
            <a:r>
              <a:t>16-Year ART Coverage Expansion Trajectories (2010–2025)</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11 of 22</a:t>
            </a:r>
          </a:p>
        </p:txBody>
      </p:sp>
      <p:sp>
        <p:nvSpPr>
          <p:cNvPr id="5" name="Rectangle 4"/>
          <p:cNvSpPr/>
          <p:nvPr/>
        </p:nvSpPr>
        <p:spPr>
          <a:xfrm>
            <a:off x="640080" y="1170432"/>
            <a:ext cx="10908792" cy="658368"/>
          </a:xfrm>
          <a:prstGeom prst="rect">
            <a:avLst/>
          </a:prstGeom>
          <a:solidFill>
            <a:srgbClr val="F0FDFA"/>
          </a:solidFill>
          <a:ln w="12700">
            <a:solidFill>
              <a:srgbClr val="0D6E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170432"/>
            <a:ext cx="91440" cy="658368"/>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43584"/>
            <a:ext cx="10506456" cy="512064"/>
          </a:xfrm>
          <a:prstGeom prst="rect">
            <a:avLst/>
          </a:prstGeom>
          <a:noFill/>
        </p:spPr>
        <p:txBody>
          <a:bodyPr wrap="square" anchor="ctr" lIns="0" tIns="0" rIns="0" bIns="0">
            <a:spAutoFit/>
          </a:bodyPr>
          <a:lstStyle/>
          <a:p>
            <a:pPr>
              <a:defRPr sz="1400" b="1">
                <a:solidFill>
                  <a:srgbClr val="0F172A"/>
                </a:solidFill>
              </a:defRPr>
            </a:pPr>
            <a:r>
              <a:t>TAKEAWAY: Myanmar achieved the largest absolute ART coverage gain in Southeast Asia (+61 percentage points: 12% → 73%).</a:t>
            </a:r>
          </a:p>
        </p:txBody>
      </p:sp>
      <p:pic>
        <p:nvPicPr>
          <p:cNvPr id="8" name="Picture 7" descr="fig6_southeast_asia_art_trajectories_2010_2025.png"/>
          <p:cNvPicPr>
            <a:picLocks noChangeAspect="1"/>
          </p:cNvPicPr>
          <p:nvPr/>
        </p:nvPicPr>
        <p:blipFill>
          <a:blip r:embed="rId2"/>
          <a:stretch>
            <a:fillRect/>
          </a:stretch>
        </p:blipFill>
        <p:spPr>
          <a:xfrm>
            <a:off x="2243760" y="1920240"/>
            <a:ext cx="7704174" cy="440740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REGIONAL TYPOLOGY &amp; BENCHMARK MATRIX (2010–2025)</a:t>
            </a:r>
          </a:p>
          <a:p>
            <a:pPr>
              <a:spcBef>
                <a:spcPts val="200"/>
              </a:spcBef>
              <a:defRPr sz="2400" b="1">
                <a:solidFill>
                  <a:srgbClr val="172B4D"/>
                </a:solidFill>
              </a:defRPr>
            </a:pPr>
            <a:r>
              <a:t>Tripartite Classification of Southeast Asian Health Systems</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12 of 22</a:t>
            </a:r>
          </a:p>
        </p:txBody>
      </p:sp>
      <p:graphicFrame>
        <p:nvGraphicFramePr>
          <p:cNvPr id="5" name="Table 4"/>
          <p:cNvGraphicFramePr>
            <a:graphicFrameLocks noGrp="1"/>
          </p:cNvGraphicFramePr>
          <p:nvPr/>
        </p:nvGraphicFramePr>
        <p:xfrm>
          <a:off x="640080" y="1243584"/>
          <a:ext cx="10908792" cy="5074920"/>
        </p:xfrm>
        <a:graphic>
          <a:graphicData uri="http://schemas.openxmlformats.org/drawingml/2006/table">
            <a:tbl>
              <a:tblPr firstRow="1" bandRow="1">
                <a:tableStyleId>{5C22544A-7EE6-4342-B048-85BDC9FD1C3A}</a:tableStyleId>
              </a:tblPr>
              <a:tblGrid>
                <a:gridCol w="1645920"/>
                <a:gridCol w="1143000"/>
                <a:gridCol w="1234440"/>
                <a:gridCol w="1234440"/>
                <a:gridCol w="1371600"/>
                <a:gridCol w="2176272"/>
                <a:gridCol w="2103120"/>
              </a:tblGrid>
              <a:tr h="461356">
                <a:tc>
                  <a:txBody>
                    <a:bodyPr/>
                    <a:lstStyle/>
                    <a:p>
                      <a:pPr>
                        <a:defRPr sz="1300" b="1">
                          <a:solidFill>
                            <a:srgbClr val="FFFFFF"/>
                          </a:solidFill>
                        </a:defRPr>
                      </a:pPr>
                      <a:r>
                        <a:t>Country / Benchmark</a:t>
                      </a:r>
                    </a:p>
                  </a:txBody>
                  <a:tcPr anchor="ctr">
                    <a:solidFill>
                      <a:srgbClr val="172B4D"/>
                    </a:solidFill>
                  </a:tcPr>
                </a:tc>
                <a:tc>
                  <a:txBody>
                    <a:bodyPr/>
                    <a:lstStyle/>
                    <a:p>
                      <a:pPr>
                        <a:defRPr sz="1300" b="1">
                          <a:solidFill>
                            <a:srgbClr val="FFFFFF"/>
                          </a:solidFill>
                        </a:defRPr>
                      </a:pPr>
                      <a:r>
                        <a:t>2025 PLHIV</a:t>
                      </a:r>
                    </a:p>
                  </a:txBody>
                  <a:tcPr anchor="ctr">
                    <a:solidFill>
                      <a:srgbClr val="172B4D"/>
                    </a:solidFill>
                  </a:tcPr>
                </a:tc>
                <a:tc>
                  <a:txBody>
                    <a:bodyPr/>
                    <a:lstStyle/>
                    <a:p>
                      <a:pPr>
                        <a:defRPr sz="1300" b="1">
                          <a:solidFill>
                            <a:srgbClr val="FFFFFF"/>
                          </a:solidFill>
                        </a:defRPr>
                      </a:pPr>
                      <a:r>
                        <a:t>Deaths Δ%</a:t>
                      </a:r>
                    </a:p>
                  </a:txBody>
                  <a:tcPr anchor="ctr">
                    <a:solidFill>
                      <a:srgbClr val="172B4D"/>
                    </a:solidFill>
                  </a:tcPr>
                </a:tc>
                <a:tc>
                  <a:txBody>
                    <a:bodyPr/>
                    <a:lstStyle/>
                    <a:p>
                      <a:pPr>
                        <a:defRPr sz="1300" b="1">
                          <a:solidFill>
                            <a:srgbClr val="FFFFFF"/>
                          </a:solidFill>
                        </a:defRPr>
                      </a:pPr>
                      <a:r>
                        <a:t>New Inf Δ%</a:t>
                      </a:r>
                    </a:p>
                  </a:txBody>
                  <a:tcPr anchor="ctr">
                    <a:solidFill>
                      <a:srgbClr val="172B4D"/>
                    </a:solidFill>
                  </a:tcPr>
                </a:tc>
                <a:tc>
                  <a:txBody>
                    <a:bodyPr/>
                    <a:lstStyle/>
                    <a:p>
                      <a:pPr>
                        <a:defRPr sz="1300" b="1">
                          <a:solidFill>
                            <a:srgbClr val="FFFFFF"/>
                          </a:solidFill>
                        </a:defRPr>
                      </a:pPr>
                      <a:r>
                        <a:t>2025 ART Cov</a:t>
                      </a:r>
                    </a:p>
                  </a:txBody>
                  <a:tcPr anchor="ctr">
                    <a:solidFill>
                      <a:srgbClr val="172B4D"/>
                    </a:solidFill>
                  </a:tcPr>
                </a:tc>
                <a:tc>
                  <a:txBody>
                    <a:bodyPr/>
                    <a:lstStyle/>
                    <a:p>
                      <a:pPr>
                        <a:defRPr sz="1300" b="1">
                          <a:solidFill>
                            <a:srgbClr val="FFFFFF"/>
                          </a:solidFill>
                        </a:defRPr>
                      </a:pPr>
                      <a:r>
                        <a:t>Epidemiological Archetype</a:t>
                      </a:r>
                    </a:p>
                  </a:txBody>
                  <a:tcPr anchor="ctr">
                    <a:solidFill>
                      <a:srgbClr val="172B4D"/>
                    </a:solidFill>
                  </a:tcPr>
                </a:tc>
                <a:tc>
                  <a:txBody>
                    <a:bodyPr/>
                    <a:lstStyle/>
                    <a:p>
                      <a:pPr>
                        <a:defRPr sz="1300" b="1">
                          <a:solidFill>
                            <a:srgbClr val="FFFFFF"/>
                          </a:solidFill>
                        </a:defRPr>
                      </a:pPr>
                      <a:r>
                        <a:t>Primary System Driver</a:t>
                      </a:r>
                    </a:p>
                  </a:txBody>
                  <a:tcPr anchor="ctr">
                    <a:solidFill>
                      <a:srgbClr val="172B4D"/>
                    </a:solidFill>
                  </a:tcPr>
                </a:tc>
              </a:tr>
              <a:tr h="461356">
                <a:tc>
                  <a:txBody>
                    <a:bodyPr/>
                    <a:lstStyle/>
                    <a:p>
                      <a:pPr>
                        <a:defRPr sz="1280" b="1">
                          <a:solidFill>
                            <a:srgbClr val="172B4D"/>
                          </a:solidFill>
                        </a:defRPr>
                      </a:pPr>
                      <a:r>
                        <a:t>Cambodia (KHM)</a:t>
                      </a:r>
                    </a:p>
                  </a:txBody>
                  <a:tcPr anchor="ctr">
                    <a:solidFill>
                      <a:srgbClr val="FFFFFF"/>
                    </a:solidFill>
                  </a:tcPr>
                </a:tc>
                <a:tc>
                  <a:txBody>
                    <a:bodyPr/>
                    <a:lstStyle/>
                    <a:p>
                      <a:pPr>
                        <a:defRPr sz="1280" b="0">
                          <a:solidFill>
                            <a:srgbClr val="0F172A"/>
                          </a:solidFill>
                        </a:defRPr>
                      </a:pPr>
                      <a:r>
                        <a:t>76,000</a:t>
                      </a:r>
                    </a:p>
                  </a:txBody>
                  <a:tcPr anchor="ctr">
                    <a:solidFill>
                      <a:srgbClr val="FFFFFF"/>
                    </a:solidFill>
                  </a:tcPr>
                </a:tc>
                <a:tc>
                  <a:txBody>
                    <a:bodyPr/>
                    <a:lstStyle/>
                    <a:p>
                      <a:pPr>
                        <a:defRPr sz="1280" b="0">
                          <a:solidFill>
                            <a:srgbClr val="0F172A"/>
                          </a:solidFill>
                        </a:defRPr>
                      </a:pPr>
                      <a:r>
                        <a:t>-41.2%</a:t>
                      </a:r>
                    </a:p>
                  </a:txBody>
                  <a:tcPr anchor="ctr">
                    <a:solidFill>
                      <a:srgbClr val="FFFFFF"/>
                    </a:solidFill>
                  </a:tcPr>
                </a:tc>
                <a:tc>
                  <a:txBody>
                    <a:bodyPr/>
                    <a:lstStyle/>
                    <a:p>
                      <a:pPr>
                        <a:defRPr sz="1280" b="0">
                          <a:solidFill>
                            <a:srgbClr val="0F172A"/>
                          </a:solidFill>
                        </a:defRPr>
                      </a:pPr>
                      <a:r>
                        <a:t>-58.3%</a:t>
                      </a:r>
                    </a:p>
                  </a:txBody>
                  <a:tcPr anchor="ctr">
                    <a:solidFill>
                      <a:srgbClr val="FFFFFF"/>
                    </a:solidFill>
                  </a:tcPr>
                </a:tc>
                <a:tc>
                  <a:txBody>
                    <a:bodyPr/>
                    <a:lstStyle/>
                    <a:p>
                      <a:pPr>
                        <a:defRPr sz="1280" b="1">
                          <a:solidFill>
                            <a:srgbClr val="0F172A"/>
                          </a:solidFill>
                        </a:defRPr>
                      </a:pPr>
                      <a:r>
                        <a:t>95% (Gap 5%)</a:t>
                      </a:r>
                    </a:p>
                  </a:txBody>
                  <a:tcPr anchor="ctr">
                    <a:solidFill>
                      <a:srgbClr val="FFFFFF"/>
                    </a:solidFill>
                  </a:tcPr>
                </a:tc>
                <a:tc>
                  <a:txBody>
                    <a:bodyPr/>
                    <a:lstStyle/>
                    <a:p>
                      <a:pPr>
                        <a:defRPr sz="1280" b="1">
                          <a:solidFill>
                            <a:srgbClr val="0D6E66"/>
                          </a:solidFill>
                        </a:defRPr>
                      </a:pPr>
                      <a:r>
                        <a:t>Archetype A: Accelerated Control</a:t>
                      </a:r>
                    </a:p>
                  </a:txBody>
                  <a:tcPr anchor="ctr">
                    <a:solidFill>
                      <a:srgbClr val="F0FDFA"/>
                    </a:solidFill>
                  </a:tcPr>
                </a:tc>
                <a:tc>
                  <a:txBody>
                    <a:bodyPr/>
                    <a:lstStyle/>
                    <a:p>
                      <a:pPr>
                        <a:defRPr sz="1280" b="0">
                          <a:solidFill>
                            <a:srgbClr val="0F172A"/>
                          </a:solidFill>
                        </a:defRPr>
                      </a:pPr>
                      <a:r>
                        <a:t>Universal ART &amp; retention</a:t>
                      </a:r>
                    </a:p>
                  </a:txBody>
                  <a:tcPr anchor="ctr">
                    <a:solidFill>
                      <a:srgbClr val="FFFFFF"/>
                    </a:solidFill>
                  </a:tcPr>
                </a:tc>
              </a:tr>
              <a:tr h="461356">
                <a:tc>
                  <a:txBody>
                    <a:bodyPr/>
                    <a:lstStyle/>
                    <a:p>
                      <a:pPr>
                        <a:defRPr sz="1280" b="1">
                          <a:solidFill>
                            <a:srgbClr val="172B4D"/>
                          </a:solidFill>
                        </a:defRPr>
                      </a:pPr>
                      <a:r>
                        <a:t>Thailand (THA)</a:t>
                      </a:r>
                    </a:p>
                  </a:txBody>
                  <a:tcPr anchor="ctr">
                    <a:solidFill>
                      <a:srgbClr val="F8FAFC"/>
                    </a:solidFill>
                  </a:tcPr>
                </a:tc>
                <a:tc>
                  <a:txBody>
                    <a:bodyPr/>
                    <a:lstStyle/>
                    <a:p>
                      <a:pPr>
                        <a:defRPr sz="1280" b="0">
                          <a:solidFill>
                            <a:srgbClr val="0F172A"/>
                          </a:solidFill>
                        </a:defRPr>
                      </a:pPr>
                      <a:r>
                        <a:t>620,000</a:t>
                      </a:r>
                    </a:p>
                  </a:txBody>
                  <a:tcPr anchor="ctr">
                    <a:solidFill>
                      <a:srgbClr val="F8FAFC"/>
                    </a:solidFill>
                  </a:tcPr>
                </a:tc>
                <a:tc>
                  <a:txBody>
                    <a:bodyPr/>
                    <a:lstStyle/>
                    <a:p>
                      <a:pPr>
                        <a:defRPr sz="1280" b="0">
                          <a:solidFill>
                            <a:srgbClr val="0F172A"/>
                          </a:solidFill>
                        </a:defRPr>
                      </a:pPr>
                      <a:r>
                        <a:t>-79.5%</a:t>
                      </a:r>
                    </a:p>
                  </a:txBody>
                  <a:tcPr anchor="ctr">
                    <a:solidFill>
                      <a:srgbClr val="F8FAFC"/>
                    </a:solidFill>
                  </a:tcPr>
                </a:tc>
                <a:tc>
                  <a:txBody>
                    <a:bodyPr/>
                    <a:lstStyle/>
                    <a:p>
                      <a:pPr>
                        <a:defRPr sz="1280" b="0">
                          <a:solidFill>
                            <a:srgbClr val="0F172A"/>
                          </a:solidFill>
                        </a:defRPr>
                      </a:pPr>
                      <a:r>
                        <a:t>-65.2%</a:t>
                      </a:r>
                    </a:p>
                  </a:txBody>
                  <a:tcPr anchor="ctr">
                    <a:solidFill>
                      <a:srgbClr val="F8FAFC"/>
                    </a:solidFill>
                  </a:tcPr>
                </a:tc>
                <a:tc>
                  <a:txBody>
                    <a:bodyPr/>
                    <a:lstStyle/>
                    <a:p>
                      <a:pPr>
                        <a:defRPr sz="1280" b="1">
                          <a:solidFill>
                            <a:srgbClr val="0F172A"/>
                          </a:solidFill>
                        </a:defRPr>
                      </a:pPr>
                      <a:r>
                        <a:t>82% (Gap 18%)</a:t>
                      </a:r>
                    </a:p>
                  </a:txBody>
                  <a:tcPr anchor="ctr">
                    <a:solidFill>
                      <a:srgbClr val="F8FAFC"/>
                    </a:solidFill>
                  </a:tcPr>
                </a:tc>
                <a:tc>
                  <a:txBody>
                    <a:bodyPr/>
                    <a:lstStyle/>
                    <a:p>
                      <a:pPr>
                        <a:defRPr sz="1280" b="1">
                          <a:solidFill>
                            <a:srgbClr val="0D6E66"/>
                          </a:solidFill>
                        </a:defRPr>
                      </a:pPr>
                      <a:r>
                        <a:t>Archetype A: Accelerated Control</a:t>
                      </a:r>
                    </a:p>
                  </a:txBody>
                  <a:tcPr anchor="ctr">
                    <a:solidFill>
                      <a:srgbClr val="F0FDFA"/>
                    </a:solidFill>
                  </a:tcPr>
                </a:tc>
                <a:tc>
                  <a:txBody>
                    <a:bodyPr/>
                    <a:lstStyle/>
                    <a:p>
                      <a:pPr>
                        <a:defRPr sz="1280" b="0">
                          <a:solidFill>
                            <a:srgbClr val="0F172A"/>
                          </a:solidFill>
                        </a:defRPr>
                      </a:pPr>
                      <a:r>
                        <a:t>UHC &amp; 100% Condom Program</a:t>
                      </a:r>
                    </a:p>
                  </a:txBody>
                  <a:tcPr anchor="ctr">
                    <a:solidFill>
                      <a:srgbClr val="F8FAFC"/>
                    </a:solidFill>
                  </a:tcPr>
                </a:tc>
              </a:tr>
              <a:tr h="461356">
                <a:tc>
                  <a:txBody>
                    <a:bodyPr/>
                    <a:lstStyle/>
                    <a:p>
                      <a:pPr>
                        <a:defRPr sz="1280" b="1">
                          <a:solidFill>
                            <a:srgbClr val="172B4D"/>
                          </a:solidFill>
                        </a:defRPr>
                      </a:pPr>
                      <a:r>
                        <a:t>Viet Nam (VNM)</a:t>
                      </a:r>
                    </a:p>
                  </a:txBody>
                  <a:tcPr anchor="ctr">
                    <a:solidFill>
                      <a:srgbClr val="FFFFFF"/>
                    </a:solidFill>
                  </a:tcPr>
                </a:tc>
                <a:tc>
                  <a:txBody>
                    <a:bodyPr/>
                    <a:lstStyle/>
                    <a:p>
                      <a:pPr>
                        <a:defRPr sz="1280" b="0">
                          <a:solidFill>
                            <a:srgbClr val="0F172A"/>
                          </a:solidFill>
                        </a:defRPr>
                      </a:pPr>
                      <a:r>
                        <a:t>270,000</a:t>
                      </a:r>
                    </a:p>
                  </a:txBody>
                  <a:tcPr anchor="ctr">
                    <a:solidFill>
                      <a:srgbClr val="FFFFFF"/>
                    </a:solidFill>
                  </a:tcPr>
                </a:tc>
                <a:tc>
                  <a:txBody>
                    <a:bodyPr/>
                    <a:lstStyle/>
                    <a:p>
                      <a:pPr>
                        <a:defRPr sz="1280" b="0">
                          <a:solidFill>
                            <a:srgbClr val="0F172A"/>
                          </a:solidFill>
                        </a:defRPr>
                      </a:pPr>
                      <a:r>
                        <a:t>-14.6%</a:t>
                      </a:r>
                    </a:p>
                  </a:txBody>
                  <a:tcPr anchor="ctr">
                    <a:solidFill>
                      <a:srgbClr val="FFFFFF"/>
                    </a:solidFill>
                  </a:tcPr>
                </a:tc>
                <a:tc>
                  <a:txBody>
                    <a:bodyPr/>
                    <a:lstStyle/>
                    <a:p>
                      <a:pPr>
                        <a:defRPr sz="1280" b="0">
                          <a:solidFill>
                            <a:srgbClr val="0F172A"/>
                          </a:solidFill>
                        </a:defRPr>
                      </a:pPr>
                      <a:r>
                        <a:t>-56.4%</a:t>
                      </a:r>
                    </a:p>
                  </a:txBody>
                  <a:tcPr anchor="ctr">
                    <a:solidFill>
                      <a:srgbClr val="FFFFFF"/>
                    </a:solidFill>
                  </a:tcPr>
                </a:tc>
                <a:tc>
                  <a:txBody>
                    <a:bodyPr/>
                    <a:lstStyle/>
                    <a:p>
                      <a:pPr>
                        <a:defRPr sz="1280" b="1">
                          <a:solidFill>
                            <a:srgbClr val="0F172A"/>
                          </a:solidFill>
                        </a:defRPr>
                      </a:pPr>
                      <a:r>
                        <a:t>75% (Gap 25%)</a:t>
                      </a:r>
                    </a:p>
                  </a:txBody>
                  <a:tcPr anchor="ctr">
                    <a:solidFill>
                      <a:srgbClr val="FFFFFF"/>
                    </a:solidFill>
                  </a:tcPr>
                </a:tc>
                <a:tc>
                  <a:txBody>
                    <a:bodyPr/>
                    <a:lstStyle/>
                    <a:p>
                      <a:pPr>
                        <a:defRPr sz="1280" b="1">
                          <a:solidFill>
                            <a:srgbClr val="0D6E66"/>
                          </a:solidFill>
                        </a:defRPr>
                      </a:pPr>
                      <a:r>
                        <a:t>Archetype A: Accelerated Control</a:t>
                      </a:r>
                    </a:p>
                  </a:txBody>
                  <a:tcPr anchor="ctr">
                    <a:solidFill>
                      <a:srgbClr val="F0FDFA"/>
                    </a:solidFill>
                  </a:tcPr>
                </a:tc>
                <a:tc>
                  <a:txBody>
                    <a:bodyPr/>
                    <a:lstStyle/>
                    <a:p>
                      <a:pPr>
                        <a:defRPr sz="1280" b="0">
                          <a:solidFill>
                            <a:srgbClr val="0F172A"/>
                          </a:solidFill>
                        </a:defRPr>
                      </a:pPr>
                      <a:r>
                        <a:t>Harm reduction &amp; methadone</a:t>
                      </a:r>
                    </a:p>
                  </a:txBody>
                  <a:tcPr anchor="ctr">
                    <a:solidFill>
                      <a:srgbClr val="FFFFFF"/>
                    </a:solidFill>
                  </a:tcPr>
                </a:tc>
              </a:tr>
              <a:tr h="461356">
                <a:tc>
                  <a:txBody>
                    <a:bodyPr/>
                    <a:lstStyle/>
                    <a:p>
                      <a:pPr>
                        <a:defRPr sz="1280" b="1">
                          <a:solidFill>
                            <a:srgbClr val="172B4D"/>
                          </a:solidFill>
                        </a:defRPr>
                      </a:pPr>
                      <a:r>
                        <a:t>Myanmar (MMR)</a:t>
                      </a:r>
                    </a:p>
                  </a:txBody>
                  <a:tcPr anchor="ctr">
                    <a:solidFill>
                      <a:srgbClr val="F8FAFC"/>
                    </a:solidFill>
                  </a:tcPr>
                </a:tc>
                <a:tc>
                  <a:txBody>
                    <a:bodyPr/>
                    <a:lstStyle/>
                    <a:p>
                      <a:pPr>
                        <a:defRPr sz="1280" b="0">
                          <a:solidFill>
                            <a:srgbClr val="0F172A"/>
                          </a:solidFill>
                        </a:defRPr>
                      </a:pPr>
                      <a:r>
                        <a:t>310,000</a:t>
                      </a:r>
                    </a:p>
                  </a:txBody>
                  <a:tcPr anchor="ctr">
                    <a:solidFill>
                      <a:srgbClr val="F8FAFC"/>
                    </a:solidFill>
                  </a:tcPr>
                </a:tc>
                <a:tc>
                  <a:txBody>
                    <a:bodyPr/>
                    <a:lstStyle/>
                    <a:p>
                      <a:pPr>
                        <a:defRPr sz="1280" b="0">
                          <a:solidFill>
                            <a:srgbClr val="0F172A"/>
                          </a:solidFill>
                        </a:defRPr>
                      </a:pPr>
                      <a:r>
                        <a:t>-63.3%</a:t>
                      </a:r>
                    </a:p>
                  </a:txBody>
                  <a:tcPr anchor="ctr">
                    <a:solidFill>
                      <a:srgbClr val="F8FAFC"/>
                    </a:solidFill>
                  </a:tcPr>
                </a:tc>
                <a:tc>
                  <a:txBody>
                    <a:bodyPr/>
                    <a:lstStyle/>
                    <a:p>
                      <a:pPr>
                        <a:defRPr sz="1280" b="0">
                          <a:solidFill>
                            <a:srgbClr val="0F172A"/>
                          </a:solidFill>
                        </a:defRPr>
                      </a:pPr>
                      <a:r>
                        <a:t>-44.1%</a:t>
                      </a:r>
                    </a:p>
                  </a:txBody>
                  <a:tcPr anchor="ctr">
                    <a:solidFill>
                      <a:srgbClr val="F8FAFC"/>
                    </a:solidFill>
                  </a:tcPr>
                </a:tc>
                <a:tc>
                  <a:txBody>
                    <a:bodyPr/>
                    <a:lstStyle/>
                    <a:p>
                      <a:pPr>
                        <a:defRPr sz="1280" b="1">
                          <a:solidFill>
                            <a:srgbClr val="0F172A"/>
                          </a:solidFill>
                        </a:defRPr>
                      </a:pPr>
                      <a:r>
                        <a:t>73% (Gap 27%)</a:t>
                      </a:r>
                    </a:p>
                  </a:txBody>
                  <a:tcPr anchor="ctr">
                    <a:solidFill>
                      <a:srgbClr val="F8FAFC"/>
                    </a:solidFill>
                  </a:tcPr>
                </a:tc>
                <a:tc>
                  <a:txBody>
                    <a:bodyPr/>
                    <a:lstStyle/>
                    <a:p>
                      <a:pPr>
                        <a:defRPr sz="1280" b="1">
                          <a:solidFill>
                            <a:srgbClr val="3730A3"/>
                          </a:solidFill>
                        </a:defRPr>
                      </a:pPr>
                      <a:r>
                        <a:t>Archetype B: Fragile Progress</a:t>
                      </a:r>
                    </a:p>
                  </a:txBody>
                  <a:tcPr anchor="ctr">
                    <a:solidFill>
                      <a:srgbClr val="EEF2FF"/>
                    </a:solidFill>
                  </a:tcPr>
                </a:tc>
                <a:tc>
                  <a:txBody>
                    <a:bodyPr/>
                    <a:lstStyle/>
                    <a:p>
                      <a:pPr>
                        <a:defRPr sz="1280" b="0">
                          <a:solidFill>
                            <a:srgbClr val="0F172A"/>
                          </a:solidFill>
                        </a:defRPr>
                      </a:pPr>
                      <a:r>
                        <a:t>Rapid scale-up; 2021 shock</a:t>
                      </a:r>
                    </a:p>
                  </a:txBody>
                  <a:tcPr anchor="ctr">
                    <a:solidFill>
                      <a:srgbClr val="F8FAFC"/>
                    </a:solidFill>
                  </a:tcPr>
                </a:tc>
              </a:tr>
              <a:tr h="461356">
                <a:tc>
                  <a:txBody>
                    <a:bodyPr/>
                    <a:lstStyle/>
                    <a:p>
                      <a:pPr>
                        <a:defRPr sz="1280" b="1">
                          <a:solidFill>
                            <a:srgbClr val="172B4D"/>
                          </a:solidFill>
                        </a:defRPr>
                      </a:pPr>
                      <a:r>
                        <a:t>Timor-Leste (TLS)</a:t>
                      </a:r>
                    </a:p>
                  </a:txBody>
                  <a:tcPr anchor="ctr">
                    <a:solidFill>
                      <a:srgbClr val="FFFFFF"/>
                    </a:solidFill>
                  </a:tcPr>
                </a:tc>
                <a:tc>
                  <a:txBody>
                    <a:bodyPr/>
                    <a:lstStyle/>
                    <a:p>
                      <a:pPr>
                        <a:defRPr sz="1280" b="0">
                          <a:solidFill>
                            <a:srgbClr val="0F172A"/>
                          </a:solidFill>
                        </a:defRPr>
                      </a:pPr>
                      <a:r>
                        <a:t>2,200</a:t>
                      </a:r>
                    </a:p>
                  </a:txBody>
                  <a:tcPr anchor="ctr">
                    <a:solidFill>
                      <a:srgbClr val="FFFFFF"/>
                    </a:solidFill>
                  </a:tcPr>
                </a:tc>
                <a:tc>
                  <a:txBody>
                    <a:bodyPr/>
                    <a:lstStyle/>
                    <a:p>
                      <a:pPr>
                        <a:defRPr sz="1280" b="0">
                          <a:solidFill>
                            <a:srgbClr val="0F172A"/>
                          </a:solidFill>
                        </a:defRPr>
                      </a:pPr>
                      <a:r>
                        <a:t>0.0%</a:t>
                      </a:r>
                    </a:p>
                  </a:txBody>
                  <a:tcPr anchor="ctr">
                    <a:solidFill>
                      <a:srgbClr val="FFFFFF"/>
                    </a:solidFill>
                  </a:tcPr>
                </a:tc>
                <a:tc>
                  <a:txBody>
                    <a:bodyPr/>
                    <a:lstStyle/>
                    <a:p>
                      <a:pPr>
                        <a:defRPr sz="1280" b="0">
                          <a:solidFill>
                            <a:srgbClr val="0F172A"/>
                          </a:solidFill>
                        </a:defRPr>
                      </a:pPr>
                      <a:r>
                        <a:t>0.0%</a:t>
                      </a:r>
                    </a:p>
                  </a:txBody>
                  <a:tcPr anchor="ctr">
                    <a:solidFill>
                      <a:srgbClr val="FFFFFF"/>
                    </a:solidFill>
                  </a:tcPr>
                </a:tc>
                <a:tc>
                  <a:txBody>
                    <a:bodyPr/>
                    <a:lstStyle/>
                    <a:p>
                      <a:pPr>
                        <a:defRPr sz="1280" b="1">
                          <a:solidFill>
                            <a:srgbClr val="0F172A"/>
                          </a:solidFill>
                        </a:defRPr>
                      </a:pPr>
                      <a:r>
                        <a:t>66% (Gap 34%)</a:t>
                      </a:r>
                    </a:p>
                  </a:txBody>
                  <a:tcPr anchor="ctr">
                    <a:solidFill>
                      <a:srgbClr val="FFFFFF"/>
                    </a:solidFill>
                  </a:tcPr>
                </a:tc>
                <a:tc>
                  <a:txBody>
                    <a:bodyPr/>
                    <a:lstStyle/>
                    <a:p>
                      <a:pPr>
                        <a:defRPr sz="1280" b="1">
                          <a:solidFill>
                            <a:srgbClr val="3730A3"/>
                          </a:solidFill>
                        </a:defRPr>
                      </a:pPr>
                      <a:r>
                        <a:t>Archetype B: Fragile Progress</a:t>
                      </a:r>
                    </a:p>
                  </a:txBody>
                  <a:tcPr anchor="ctr">
                    <a:solidFill>
                      <a:srgbClr val="EEF2FF"/>
                    </a:solidFill>
                  </a:tcPr>
                </a:tc>
                <a:tc>
                  <a:txBody>
                    <a:bodyPr/>
                    <a:lstStyle/>
                    <a:p>
                      <a:pPr>
                        <a:defRPr sz="1280" b="0">
                          <a:solidFill>
                            <a:srgbClr val="0F172A"/>
                          </a:solidFill>
                        </a:defRPr>
                      </a:pPr>
                      <a:r>
                        <a:t>Small cohort containment</a:t>
                      </a:r>
                    </a:p>
                  </a:txBody>
                  <a:tcPr anchor="ctr">
                    <a:solidFill>
                      <a:srgbClr val="FFFFFF"/>
                    </a:solidFill>
                  </a:tcPr>
                </a:tc>
              </a:tr>
              <a:tr h="461356">
                <a:tc>
                  <a:txBody>
                    <a:bodyPr/>
                    <a:lstStyle/>
                    <a:p>
                      <a:pPr>
                        <a:defRPr sz="1280" b="1">
                          <a:solidFill>
                            <a:srgbClr val="172B4D"/>
                          </a:solidFill>
                        </a:defRPr>
                      </a:pPr>
                      <a:r>
                        <a:t>Lao PDR (LAO)</a:t>
                      </a:r>
                    </a:p>
                  </a:txBody>
                  <a:tcPr anchor="ctr">
                    <a:solidFill>
                      <a:srgbClr val="F8FAFC"/>
                    </a:solidFill>
                  </a:tcPr>
                </a:tc>
                <a:tc>
                  <a:txBody>
                    <a:bodyPr/>
                    <a:lstStyle/>
                    <a:p>
                      <a:pPr>
                        <a:defRPr sz="1280" b="0">
                          <a:solidFill>
                            <a:srgbClr val="0F172A"/>
                          </a:solidFill>
                        </a:defRPr>
                      </a:pPr>
                      <a:r>
                        <a:t>23,000</a:t>
                      </a:r>
                    </a:p>
                  </a:txBody>
                  <a:tcPr anchor="ctr">
                    <a:solidFill>
                      <a:srgbClr val="F8FAFC"/>
                    </a:solidFill>
                  </a:tcPr>
                </a:tc>
                <a:tc>
                  <a:txBody>
                    <a:bodyPr/>
                    <a:lstStyle/>
                    <a:p>
                      <a:pPr>
                        <a:defRPr sz="1280" b="0">
                          <a:solidFill>
                            <a:srgbClr val="0F172A"/>
                          </a:solidFill>
                        </a:defRPr>
                      </a:pPr>
                      <a:r>
                        <a:t>0.0%</a:t>
                      </a:r>
                    </a:p>
                  </a:txBody>
                  <a:tcPr anchor="ctr">
                    <a:solidFill>
                      <a:srgbClr val="F8FAFC"/>
                    </a:solidFill>
                  </a:tcPr>
                </a:tc>
                <a:tc>
                  <a:txBody>
                    <a:bodyPr/>
                    <a:lstStyle/>
                    <a:p>
                      <a:pPr>
                        <a:defRPr sz="1280" b="0">
                          <a:solidFill>
                            <a:srgbClr val="0F172A"/>
                          </a:solidFill>
                        </a:defRPr>
                      </a:pPr>
                      <a:r>
                        <a:t>+8.3%</a:t>
                      </a:r>
                    </a:p>
                  </a:txBody>
                  <a:tcPr anchor="ctr">
                    <a:solidFill>
                      <a:srgbClr val="F8FAFC"/>
                    </a:solidFill>
                  </a:tcPr>
                </a:tc>
                <a:tc>
                  <a:txBody>
                    <a:bodyPr/>
                    <a:lstStyle/>
                    <a:p>
                      <a:pPr>
                        <a:defRPr sz="1280" b="1">
                          <a:solidFill>
                            <a:srgbClr val="0F172A"/>
                          </a:solidFill>
                        </a:defRPr>
                      </a:pPr>
                      <a:r>
                        <a:t>64% (Gap 36%)</a:t>
                      </a:r>
                    </a:p>
                  </a:txBody>
                  <a:tcPr anchor="ctr">
                    <a:solidFill>
                      <a:srgbClr val="F8FAFC"/>
                    </a:solidFill>
                  </a:tcPr>
                </a:tc>
                <a:tc>
                  <a:txBody>
                    <a:bodyPr/>
                    <a:lstStyle/>
                    <a:p>
                      <a:pPr>
                        <a:defRPr sz="1280" b="1">
                          <a:solidFill>
                            <a:srgbClr val="3730A3"/>
                          </a:solidFill>
                        </a:defRPr>
                      </a:pPr>
                      <a:r>
                        <a:t>Archetype B: Fragile Progress</a:t>
                      </a:r>
                    </a:p>
                  </a:txBody>
                  <a:tcPr anchor="ctr">
                    <a:solidFill>
                      <a:srgbClr val="EEF2FF"/>
                    </a:solidFill>
                  </a:tcPr>
                </a:tc>
                <a:tc>
                  <a:txBody>
                    <a:bodyPr/>
                    <a:lstStyle/>
                    <a:p>
                      <a:pPr>
                        <a:defRPr sz="1280" b="0">
                          <a:solidFill>
                            <a:srgbClr val="0F172A"/>
                          </a:solidFill>
                        </a:defRPr>
                      </a:pPr>
                      <a:r>
                        <a:t>Cross-border mobility</a:t>
                      </a:r>
                    </a:p>
                  </a:txBody>
                  <a:tcPr anchor="ctr">
                    <a:solidFill>
                      <a:srgbClr val="F8FAFC"/>
                    </a:solidFill>
                  </a:tcPr>
                </a:tc>
              </a:tr>
              <a:tr h="461356">
                <a:tc>
                  <a:txBody>
                    <a:bodyPr/>
                    <a:lstStyle/>
                    <a:p>
                      <a:pPr>
                        <a:defRPr sz="1280" b="1">
                          <a:solidFill>
                            <a:srgbClr val="172B4D"/>
                          </a:solidFill>
                        </a:defRPr>
                      </a:pPr>
                      <a:r>
                        <a:t>Malaysia (MYS)</a:t>
                      </a:r>
                    </a:p>
                  </a:txBody>
                  <a:tcPr anchor="ctr">
                    <a:solidFill>
                      <a:srgbClr val="FFFFFF"/>
                    </a:solidFill>
                  </a:tcPr>
                </a:tc>
                <a:tc>
                  <a:txBody>
                    <a:bodyPr/>
                    <a:lstStyle/>
                    <a:p>
                      <a:pPr>
                        <a:defRPr sz="1280" b="0">
                          <a:solidFill>
                            <a:srgbClr val="0F172A"/>
                          </a:solidFill>
                        </a:defRPr>
                      </a:pPr>
                      <a:r>
                        <a:t>85,000</a:t>
                      </a:r>
                    </a:p>
                  </a:txBody>
                  <a:tcPr anchor="ctr">
                    <a:solidFill>
                      <a:srgbClr val="FFFFFF"/>
                    </a:solidFill>
                  </a:tcPr>
                </a:tc>
                <a:tc>
                  <a:txBody>
                    <a:bodyPr/>
                    <a:lstStyle/>
                    <a:p>
                      <a:pPr>
                        <a:defRPr sz="1280" b="0">
                          <a:solidFill>
                            <a:srgbClr val="0F172A"/>
                          </a:solidFill>
                        </a:defRPr>
                      </a:pPr>
                      <a:r>
                        <a:t>-41.2%</a:t>
                      </a:r>
                    </a:p>
                  </a:txBody>
                  <a:tcPr anchor="ctr">
                    <a:solidFill>
                      <a:srgbClr val="FFFFFF"/>
                    </a:solidFill>
                  </a:tcPr>
                </a:tc>
                <a:tc>
                  <a:txBody>
                    <a:bodyPr/>
                    <a:lstStyle/>
                    <a:p>
                      <a:pPr>
                        <a:defRPr sz="1280" b="0">
                          <a:solidFill>
                            <a:srgbClr val="0F172A"/>
                          </a:solidFill>
                        </a:defRPr>
                      </a:pPr>
                      <a:r>
                        <a:t>-52.5%</a:t>
                      </a:r>
                    </a:p>
                  </a:txBody>
                  <a:tcPr anchor="ctr">
                    <a:solidFill>
                      <a:srgbClr val="FFFFFF"/>
                    </a:solidFill>
                  </a:tcPr>
                </a:tc>
                <a:tc>
                  <a:txBody>
                    <a:bodyPr/>
                    <a:lstStyle/>
                    <a:p>
                      <a:pPr>
                        <a:defRPr sz="1280" b="1">
                          <a:solidFill>
                            <a:srgbClr val="0F172A"/>
                          </a:solidFill>
                        </a:defRPr>
                      </a:pPr>
                      <a:r>
                        <a:t>63% (Gap 37%)</a:t>
                      </a:r>
                    </a:p>
                  </a:txBody>
                  <a:tcPr anchor="ctr">
                    <a:solidFill>
                      <a:srgbClr val="FFFFFF"/>
                    </a:solidFill>
                  </a:tcPr>
                </a:tc>
                <a:tc>
                  <a:txBody>
                    <a:bodyPr/>
                    <a:lstStyle/>
                    <a:p>
                      <a:pPr>
                        <a:defRPr sz="1280" b="1">
                          <a:solidFill>
                            <a:srgbClr val="3730A3"/>
                          </a:solidFill>
                        </a:defRPr>
                      </a:pPr>
                      <a:r>
                        <a:t>Archetype B: Fragile Progress</a:t>
                      </a:r>
                    </a:p>
                  </a:txBody>
                  <a:tcPr anchor="ctr">
                    <a:solidFill>
                      <a:srgbClr val="EEF2FF"/>
                    </a:solidFill>
                  </a:tcPr>
                </a:tc>
                <a:tc>
                  <a:txBody>
                    <a:bodyPr/>
                    <a:lstStyle/>
                    <a:p>
                      <a:pPr>
                        <a:defRPr sz="1280" b="0">
                          <a:solidFill>
                            <a:srgbClr val="0F172A"/>
                          </a:solidFill>
                        </a:defRPr>
                      </a:pPr>
                      <a:r>
                        <a:t>PWID success; MSM barriers</a:t>
                      </a:r>
                    </a:p>
                  </a:txBody>
                  <a:tcPr anchor="ctr">
                    <a:solidFill>
                      <a:srgbClr val="FFFFFF"/>
                    </a:solidFill>
                  </a:tcPr>
                </a:tc>
              </a:tr>
              <a:tr h="461356">
                <a:tc>
                  <a:txBody>
                    <a:bodyPr/>
                    <a:lstStyle/>
                    <a:p>
                      <a:pPr>
                        <a:defRPr sz="1280" b="1">
                          <a:solidFill>
                            <a:srgbClr val="172B4D"/>
                          </a:solidFill>
                        </a:defRPr>
                      </a:pPr>
                      <a:r>
                        <a:t>Indonesia (IDN)</a:t>
                      </a:r>
                    </a:p>
                  </a:txBody>
                  <a:tcPr anchor="ctr">
                    <a:solidFill>
                      <a:srgbClr val="F8FAFC"/>
                    </a:solidFill>
                  </a:tcPr>
                </a:tc>
                <a:tc>
                  <a:txBody>
                    <a:bodyPr/>
                    <a:lstStyle/>
                    <a:p>
                      <a:pPr>
                        <a:defRPr sz="1280" b="0">
                          <a:solidFill>
                            <a:srgbClr val="0F172A"/>
                          </a:solidFill>
                        </a:defRPr>
                      </a:pPr>
                      <a:r>
                        <a:t>560,000</a:t>
                      </a:r>
                    </a:p>
                  </a:txBody>
                  <a:tcPr anchor="ctr">
                    <a:solidFill>
                      <a:srgbClr val="F8FAFC"/>
                    </a:solidFill>
                  </a:tcPr>
                </a:tc>
                <a:tc>
                  <a:txBody>
                    <a:bodyPr/>
                    <a:lstStyle/>
                    <a:p>
                      <a:pPr>
                        <a:defRPr sz="1280" b="0">
                          <a:solidFill>
                            <a:srgbClr val="0F172A"/>
                          </a:solidFill>
                        </a:defRPr>
                      </a:pPr>
                      <a:r>
                        <a:t>+28.6%</a:t>
                      </a:r>
                    </a:p>
                  </a:txBody>
                  <a:tcPr anchor="ctr">
                    <a:solidFill>
                      <a:srgbClr val="F8FAFC"/>
                    </a:solidFill>
                  </a:tcPr>
                </a:tc>
                <a:tc>
                  <a:txBody>
                    <a:bodyPr/>
                    <a:lstStyle/>
                    <a:p>
                      <a:pPr>
                        <a:defRPr sz="1280" b="0">
                          <a:solidFill>
                            <a:srgbClr val="0F172A"/>
                          </a:solidFill>
                        </a:defRPr>
                      </a:pPr>
                      <a:r>
                        <a:t>-56.2%</a:t>
                      </a:r>
                    </a:p>
                  </a:txBody>
                  <a:tcPr anchor="ctr">
                    <a:solidFill>
                      <a:srgbClr val="F8FAFC"/>
                    </a:solidFill>
                  </a:tcPr>
                </a:tc>
                <a:tc>
                  <a:txBody>
                    <a:bodyPr/>
                    <a:lstStyle/>
                    <a:p>
                      <a:pPr>
                        <a:defRPr sz="1280" b="1">
                          <a:solidFill>
                            <a:srgbClr val="0F172A"/>
                          </a:solidFill>
                        </a:defRPr>
                      </a:pPr>
                      <a:r>
                        <a:t>48% (Gap 52%)</a:t>
                      </a:r>
                    </a:p>
                  </a:txBody>
                  <a:tcPr anchor="ctr">
                    <a:solidFill>
                      <a:srgbClr val="F8FAFC"/>
                    </a:solidFill>
                  </a:tcPr>
                </a:tc>
                <a:tc>
                  <a:txBody>
                    <a:bodyPr/>
                    <a:lstStyle/>
                    <a:p>
                      <a:pPr>
                        <a:defRPr sz="1280" b="1">
                          <a:solidFill>
                            <a:srgbClr val="B91C1C"/>
                          </a:solidFill>
                        </a:defRPr>
                      </a:pPr>
                      <a:r>
                        <a:t>Archetype C: Severe Gap</a:t>
                      </a:r>
                    </a:p>
                  </a:txBody>
                  <a:tcPr anchor="ctr">
                    <a:solidFill>
                      <a:srgbClr val="FEF2F2"/>
                    </a:solidFill>
                  </a:tcPr>
                </a:tc>
                <a:tc>
                  <a:txBody>
                    <a:bodyPr/>
                    <a:lstStyle/>
                    <a:p>
                      <a:pPr>
                        <a:defRPr sz="1280" b="0">
                          <a:solidFill>
                            <a:srgbClr val="0F172A"/>
                          </a:solidFill>
                        </a:defRPr>
                      </a:pPr>
                      <a:r>
                        <a:t>Decentralized LTFU</a:t>
                      </a:r>
                    </a:p>
                  </a:txBody>
                  <a:tcPr anchor="ctr">
                    <a:solidFill>
                      <a:srgbClr val="F8FAFC"/>
                    </a:solidFill>
                  </a:tcPr>
                </a:tc>
              </a:tr>
              <a:tr h="461356">
                <a:tc>
                  <a:txBody>
                    <a:bodyPr/>
                    <a:lstStyle/>
                    <a:p>
                      <a:pPr>
                        <a:defRPr sz="1280" b="1">
                          <a:solidFill>
                            <a:srgbClr val="172B4D"/>
                          </a:solidFill>
                        </a:defRPr>
                      </a:pPr>
                      <a:r>
                        <a:t>Philippines (PHL)</a:t>
                      </a:r>
                    </a:p>
                  </a:txBody>
                  <a:tcPr anchor="ctr">
                    <a:solidFill>
                      <a:srgbClr val="FFFFFF"/>
                    </a:solidFill>
                  </a:tcPr>
                </a:tc>
                <a:tc>
                  <a:txBody>
                    <a:bodyPr/>
                    <a:lstStyle/>
                    <a:p>
                      <a:pPr>
                        <a:defRPr sz="1280" b="0">
                          <a:solidFill>
                            <a:srgbClr val="0F172A"/>
                          </a:solidFill>
                        </a:defRPr>
                      </a:pPr>
                      <a:r>
                        <a:t>250,000</a:t>
                      </a:r>
                    </a:p>
                  </a:txBody>
                  <a:tcPr anchor="ctr">
                    <a:solidFill>
                      <a:srgbClr val="FFFFFF"/>
                    </a:solidFill>
                  </a:tcPr>
                </a:tc>
                <a:tc>
                  <a:txBody>
                    <a:bodyPr/>
                    <a:lstStyle/>
                    <a:p>
                      <a:pPr>
                        <a:defRPr sz="1280" b="0">
                          <a:solidFill>
                            <a:srgbClr val="0F172A"/>
                          </a:solidFill>
                        </a:defRPr>
                      </a:pPr>
                      <a:r>
                        <a:t>+440.0%</a:t>
                      </a:r>
                    </a:p>
                  </a:txBody>
                  <a:tcPr anchor="ctr">
                    <a:solidFill>
                      <a:srgbClr val="FFFFFF"/>
                    </a:solidFill>
                  </a:tcPr>
                </a:tc>
                <a:tc>
                  <a:txBody>
                    <a:bodyPr/>
                    <a:lstStyle/>
                    <a:p>
                      <a:pPr>
                        <a:defRPr sz="1280" b="0">
                          <a:solidFill>
                            <a:srgbClr val="0F172A"/>
                          </a:solidFill>
                        </a:defRPr>
                      </a:pPr>
                      <a:r>
                        <a:t>+639.1%</a:t>
                      </a:r>
                    </a:p>
                  </a:txBody>
                  <a:tcPr anchor="ctr">
                    <a:solidFill>
                      <a:srgbClr val="FFFFFF"/>
                    </a:solidFill>
                  </a:tcPr>
                </a:tc>
                <a:tc>
                  <a:txBody>
                    <a:bodyPr/>
                    <a:lstStyle/>
                    <a:p>
                      <a:pPr>
                        <a:defRPr sz="1280" b="1">
                          <a:solidFill>
                            <a:srgbClr val="0F172A"/>
                          </a:solidFill>
                        </a:defRPr>
                      </a:pPr>
                      <a:r>
                        <a:t>41% (Gap 59%)</a:t>
                      </a:r>
                    </a:p>
                  </a:txBody>
                  <a:tcPr anchor="ctr">
                    <a:solidFill>
                      <a:srgbClr val="FFFFFF"/>
                    </a:solidFill>
                  </a:tcPr>
                </a:tc>
                <a:tc>
                  <a:txBody>
                    <a:bodyPr/>
                    <a:lstStyle/>
                    <a:p>
                      <a:pPr>
                        <a:defRPr sz="1280" b="1">
                          <a:solidFill>
                            <a:srgbClr val="B91C1C"/>
                          </a:solidFill>
                        </a:defRPr>
                      </a:pPr>
                      <a:r>
                        <a:t>Archetype C: Counter-Epidemic</a:t>
                      </a:r>
                    </a:p>
                  </a:txBody>
                  <a:tcPr anchor="ctr">
                    <a:solidFill>
                      <a:srgbClr val="FEF2F2"/>
                    </a:solidFill>
                  </a:tcPr>
                </a:tc>
                <a:tc>
                  <a:txBody>
                    <a:bodyPr/>
                    <a:lstStyle/>
                    <a:p>
                      <a:pPr>
                        <a:defRPr sz="1280" b="0">
                          <a:solidFill>
                            <a:srgbClr val="0F172A"/>
                          </a:solidFill>
                        </a:defRPr>
                      </a:pPr>
                      <a:r>
                        <a:t>Youth MSM surge; low ART</a:t>
                      </a:r>
                    </a:p>
                  </a:txBody>
                  <a:tcPr anchor="ctr">
                    <a:solidFill>
                      <a:srgbClr val="FFFFFF"/>
                    </a:solidFill>
                  </a:tcPr>
                </a:tc>
              </a:tr>
              <a:tr h="461360">
                <a:tc>
                  <a:txBody>
                    <a:bodyPr/>
                    <a:lstStyle/>
                    <a:p>
                      <a:pPr>
                        <a:defRPr sz="1280" b="1">
                          <a:solidFill>
                            <a:srgbClr val="172B4D"/>
                          </a:solidFill>
                        </a:defRPr>
                      </a:pPr>
                      <a:r>
                        <a:t>Global (03M49WLD)</a:t>
                      </a:r>
                    </a:p>
                  </a:txBody>
                  <a:tcPr anchor="ctr">
                    <a:solidFill>
                      <a:srgbClr val="F8FAFC"/>
                    </a:solidFill>
                  </a:tcPr>
                </a:tc>
                <a:tc>
                  <a:txBody>
                    <a:bodyPr/>
                    <a:lstStyle/>
                    <a:p>
                      <a:pPr>
                        <a:defRPr sz="1280" b="0">
                          <a:solidFill>
                            <a:srgbClr val="0F172A"/>
                          </a:solidFill>
                        </a:defRPr>
                      </a:pPr>
                      <a:r>
                        <a:t>41,000,000</a:t>
                      </a:r>
                    </a:p>
                  </a:txBody>
                  <a:tcPr anchor="ctr">
                    <a:solidFill>
                      <a:srgbClr val="F8FAFC"/>
                    </a:solidFill>
                  </a:tcPr>
                </a:tc>
                <a:tc>
                  <a:txBody>
                    <a:bodyPr/>
                    <a:lstStyle/>
                    <a:p>
                      <a:pPr>
                        <a:defRPr sz="1280" b="0">
                          <a:solidFill>
                            <a:srgbClr val="0F172A"/>
                          </a:solidFill>
                        </a:defRPr>
                      </a:pPr>
                      <a:r>
                        <a:t>-56.2%</a:t>
                      </a:r>
                    </a:p>
                  </a:txBody>
                  <a:tcPr anchor="ctr">
                    <a:solidFill>
                      <a:srgbClr val="F8FAFC"/>
                    </a:solidFill>
                  </a:tcPr>
                </a:tc>
                <a:tc>
                  <a:txBody>
                    <a:bodyPr/>
                    <a:lstStyle/>
                    <a:p>
                      <a:pPr>
                        <a:defRPr sz="1280" b="0">
                          <a:solidFill>
                            <a:srgbClr val="0F172A"/>
                          </a:solidFill>
                        </a:defRPr>
                      </a:pPr>
                      <a:r>
                        <a:t>-42.9%</a:t>
                      </a:r>
                    </a:p>
                  </a:txBody>
                  <a:tcPr anchor="ctr">
                    <a:solidFill>
                      <a:srgbClr val="F8FAFC"/>
                    </a:solidFill>
                  </a:tcPr>
                </a:tc>
                <a:tc>
                  <a:txBody>
                    <a:bodyPr/>
                    <a:lstStyle/>
                    <a:p>
                      <a:pPr>
                        <a:defRPr sz="1280" b="1">
                          <a:solidFill>
                            <a:srgbClr val="0F172A"/>
                          </a:solidFill>
                        </a:defRPr>
                      </a:pPr>
                      <a:r>
                        <a:t>78% (Gap 22%)</a:t>
                      </a:r>
                    </a:p>
                  </a:txBody>
                  <a:tcPr anchor="ctr">
                    <a:solidFill>
                      <a:srgbClr val="F8FAFC"/>
                    </a:solidFill>
                  </a:tcPr>
                </a:tc>
                <a:tc>
                  <a:txBody>
                    <a:bodyPr/>
                    <a:lstStyle/>
                    <a:p>
                      <a:pPr>
                        <a:defRPr sz="1280" b="1">
                          <a:solidFill>
                            <a:srgbClr val="B45309"/>
                          </a:solidFill>
                        </a:defRPr>
                      </a:pPr>
                      <a:r>
                        <a:t>Global Benchmark</a:t>
                      </a:r>
                    </a:p>
                  </a:txBody>
                  <a:tcPr anchor="ctr">
                    <a:solidFill>
                      <a:srgbClr val="FEF3C7"/>
                    </a:solidFill>
                  </a:tcPr>
                </a:tc>
                <a:tc>
                  <a:txBody>
                    <a:bodyPr/>
                    <a:lstStyle/>
                    <a:p>
                      <a:pPr>
                        <a:defRPr sz="1280" b="0">
                          <a:solidFill>
                            <a:srgbClr val="0F172A"/>
                          </a:solidFill>
                        </a:defRPr>
                      </a:pPr>
                      <a:r>
                        <a:t>Worldwide Fast-Track reference</a:t>
                      </a:r>
                    </a:p>
                  </a:txBody>
                  <a:tcPr anchor="ctr">
                    <a:solidFill>
                      <a:srgbClr val="F8FAFC"/>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CLINICAL CONTINUUM OF CARE • FIGURE 3 VISUALIZATION</a:t>
            </a:r>
          </a:p>
          <a:p>
            <a:pPr>
              <a:spcBef>
                <a:spcPts val="200"/>
              </a:spcBef>
              <a:defRPr sz="2400" b="1">
                <a:solidFill>
                  <a:srgbClr val="172B4D"/>
                </a:solidFill>
              </a:defRPr>
            </a:pPr>
            <a:r>
              <a:t>UNAIDS 95-95-95 Cascade &amp; Treatment Gap Burden (2025)</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13 of 22</a:t>
            </a:r>
          </a:p>
        </p:txBody>
      </p:sp>
      <p:sp>
        <p:nvSpPr>
          <p:cNvPr id="5" name="Rectangle 4"/>
          <p:cNvSpPr/>
          <p:nvPr/>
        </p:nvSpPr>
        <p:spPr>
          <a:xfrm>
            <a:off x="640080" y="1170432"/>
            <a:ext cx="10908792" cy="658368"/>
          </a:xfrm>
          <a:prstGeom prst="rect">
            <a:avLst/>
          </a:prstGeom>
          <a:solidFill>
            <a:srgbClr val="FEF2F2"/>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170432"/>
            <a:ext cx="91440" cy="658368"/>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43584"/>
            <a:ext cx="10506456" cy="512064"/>
          </a:xfrm>
          <a:prstGeom prst="rect">
            <a:avLst/>
          </a:prstGeom>
          <a:noFill/>
        </p:spPr>
        <p:txBody>
          <a:bodyPr wrap="square" anchor="ctr" lIns="0" tIns="0" rIns="0" bIns="0">
            <a:spAutoFit/>
          </a:bodyPr>
          <a:lstStyle/>
          <a:p>
            <a:pPr>
              <a:defRPr sz="1400" b="1">
                <a:solidFill>
                  <a:srgbClr val="0F172A"/>
                </a:solidFill>
              </a:defRPr>
            </a:pPr>
            <a:r>
              <a:t>TAKEAWAY: Cambodia (95–&gt;98–&gt;98) met all three targets; Indonesia (291.2k) and Philippines (147.5k) hold 58.8% of untreated PLHIV.</a:t>
            </a:r>
          </a:p>
        </p:txBody>
      </p:sp>
      <p:pic>
        <p:nvPicPr>
          <p:cNvPr id="8" name="Picture 7" descr="fig3_unaids_95_95_95_cascade_2025.png"/>
          <p:cNvPicPr>
            <a:picLocks noChangeAspect="1"/>
          </p:cNvPicPr>
          <p:nvPr/>
        </p:nvPicPr>
        <p:blipFill>
          <a:blip r:embed="rId2"/>
          <a:stretch>
            <a:fillRect/>
          </a:stretch>
        </p:blipFill>
        <p:spPr>
          <a:xfrm>
            <a:off x="1206015" y="1920240"/>
            <a:ext cx="9779663" cy="440740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DIAGNOSIS, LINKAGE &amp; VIRAL SUPPRESSION BOTTLENECKS</a:t>
            </a:r>
          </a:p>
          <a:p>
            <a:pPr>
              <a:spcBef>
                <a:spcPts val="200"/>
              </a:spcBef>
              <a:defRPr sz="2400" b="1">
                <a:solidFill>
                  <a:srgbClr val="172B4D"/>
                </a:solidFill>
              </a:defRPr>
            </a:pPr>
            <a:r>
              <a:t>Clinical Continuum Analysis: Where the Cascade Breaks</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14 of 22</a:t>
            </a:r>
          </a:p>
        </p:txBody>
      </p:sp>
      <p:sp>
        <p:nvSpPr>
          <p:cNvPr id="5" name="Rectangle 4"/>
          <p:cNvSpPr/>
          <p:nvPr/>
        </p:nvSpPr>
        <p:spPr>
          <a:xfrm>
            <a:off x="640080"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261872"/>
            <a:ext cx="3474720" cy="91440"/>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481328"/>
            <a:ext cx="3108959" cy="4608576"/>
          </a:xfrm>
          <a:prstGeom prst="rect">
            <a:avLst/>
          </a:prstGeom>
          <a:noFill/>
        </p:spPr>
        <p:txBody>
          <a:bodyPr wrap="square" anchor="t" lIns="0" tIns="0" rIns="0" bIns="0">
            <a:spAutoFit/>
          </a:bodyPr>
          <a:lstStyle/>
          <a:p>
            <a:pPr>
              <a:spcAft>
                <a:spcPts val="400"/>
              </a:spcAft>
              <a:defRPr sz="1600" b="1">
                <a:solidFill>
                  <a:srgbClr val="0D6E66"/>
                </a:solidFill>
              </a:defRPr>
            </a:pPr>
            <a:r>
              <a:t>1. HIGH VIRAL SUPPRESSION</a:t>
            </a:r>
          </a:p>
          <a:p>
            <a:pPr>
              <a:spcAft>
                <a:spcPts val="1400"/>
              </a:spcAft>
              <a:defRPr sz="1400" b="1">
                <a:solidFill>
                  <a:srgbClr val="475569"/>
                </a:solidFill>
              </a:defRPr>
            </a:pPr>
            <a:r>
              <a:t>3rd 95 Exceeds 95% Across SEA</a:t>
            </a:r>
          </a:p>
          <a:p>
            <a:pPr>
              <a:spcAft>
                <a:spcPts val="1200"/>
              </a:spcAft>
              <a:defRPr sz="1480">
                <a:solidFill>
                  <a:srgbClr val="0F172A"/>
                </a:solidFill>
              </a:defRPr>
            </a:pPr>
            <a:r>
              <a:t>•  Once on dolutegravir-based ART, &gt;95% achieve viral suppression in KHM (&gt;98%), THA (&gt;98%), PHL (97%), VNM (96%), and MMR (96%).</a:t>
            </a:r>
          </a:p>
          <a:p>
            <a:pPr>
              <a:spcAft>
                <a:spcPts val="1200"/>
              </a:spcAft>
              <a:defRPr sz="1480">
                <a:solidFill>
                  <a:srgbClr val="0F172A"/>
                </a:solidFill>
              </a:defRPr>
            </a:pPr>
            <a:r>
              <a:t>•  Clinical insight: Treatment gaps stem from upstream testing and linkage, not drug resistance.</a:t>
            </a:r>
          </a:p>
        </p:txBody>
      </p:sp>
      <p:sp>
        <p:nvSpPr>
          <p:cNvPr id="8" name="Rectangle 7"/>
          <p:cNvSpPr/>
          <p:nvPr/>
        </p:nvSpPr>
        <p:spPr>
          <a:xfrm>
            <a:off x="4352544"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52544" y="1261872"/>
            <a:ext cx="3474720" cy="914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3712" y="1481328"/>
            <a:ext cx="3108959" cy="4608576"/>
          </a:xfrm>
          <a:prstGeom prst="rect">
            <a:avLst/>
          </a:prstGeom>
          <a:noFill/>
        </p:spPr>
        <p:txBody>
          <a:bodyPr wrap="square" anchor="t" lIns="0" tIns="0" rIns="0" bIns="0">
            <a:spAutoFit/>
          </a:bodyPr>
          <a:lstStyle/>
          <a:p>
            <a:pPr>
              <a:spcAft>
                <a:spcPts val="400"/>
              </a:spcAft>
              <a:defRPr sz="1600" b="1">
                <a:solidFill>
                  <a:srgbClr val="B91C1C"/>
                </a:solidFill>
              </a:defRPr>
            </a:pPr>
            <a:r>
              <a:t>2. UPSTREAM BOTTLENECKS</a:t>
            </a:r>
          </a:p>
          <a:p>
            <a:pPr>
              <a:spcAft>
                <a:spcPts val="1400"/>
              </a:spcAft>
              <a:defRPr sz="1400" b="1">
                <a:solidFill>
                  <a:srgbClr val="475569"/>
                </a:solidFill>
              </a:defRPr>
            </a:pPr>
            <a:r>
              <a:t>1st &amp; 2nd 95 Attrition</a:t>
            </a:r>
          </a:p>
          <a:p>
            <a:pPr>
              <a:spcAft>
                <a:spcPts val="1200"/>
              </a:spcAft>
              <a:defRPr sz="1480">
                <a:solidFill>
                  <a:srgbClr val="0F172A"/>
                </a:solidFill>
              </a:defRPr>
            </a:pPr>
            <a:r>
              <a:t>•  Philippines: 62% diagnosed (1st 95) and 66% linked to ART (2nd 95) -&gt; 41% coverage.</a:t>
            </a:r>
          </a:p>
          <a:p>
            <a:pPr>
              <a:spcAft>
                <a:spcPts val="1200"/>
              </a:spcAft>
              <a:defRPr sz="1480">
                <a:solidFill>
                  <a:srgbClr val="0F172A"/>
                </a:solidFill>
              </a:defRPr>
            </a:pPr>
            <a:r>
              <a:t>•  Indonesia: 67% diagnosed and 72% linked to ART -&gt; 48% coverage (291.2k untreated).</a:t>
            </a:r>
          </a:p>
          <a:p>
            <a:pPr>
              <a:spcAft>
                <a:spcPts val="1200"/>
              </a:spcAft>
              <a:defRPr sz="1480">
                <a:solidFill>
                  <a:srgbClr val="0F172A"/>
                </a:solidFill>
              </a:defRPr>
            </a:pPr>
            <a:r>
              <a:t>•  Malaysia: 66% diagnosed, though 95% of diagnosed initiate ART.</a:t>
            </a:r>
          </a:p>
        </p:txBody>
      </p:sp>
      <p:sp>
        <p:nvSpPr>
          <p:cNvPr id="11" name="Rectangle 10"/>
          <p:cNvSpPr/>
          <p:nvPr/>
        </p:nvSpPr>
        <p:spPr>
          <a:xfrm>
            <a:off x="8065007"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65007" y="1261872"/>
            <a:ext cx="3474720" cy="91440"/>
          </a:xfrm>
          <a:prstGeom prst="rect">
            <a:avLst/>
          </a:prstGeom>
          <a:solidFill>
            <a:srgbClr val="17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5" y="1481328"/>
            <a:ext cx="3108959" cy="4608576"/>
          </a:xfrm>
          <a:prstGeom prst="rect">
            <a:avLst/>
          </a:prstGeom>
          <a:noFill/>
        </p:spPr>
        <p:txBody>
          <a:bodyPr wrap="square" anchor="t" lIns="0" tIns="0" rIns="0" bIns="0">
            <a:spAutoFit/>
          </a:bodyPr>
          <a:lstStyle/>
          <a:p>
            <a:pPr>
              <a:spcAft>
                <a:spcPts val="400"/>
              </a:spcAft>
              <a:defRPr sz="1600" b="1">
                <a:solidFill>
                  <a:srgbClr val="172B4D"/>
                </a:solidFill>
              </a:defRPr>
            </a:pPr>
            <a:r>
              <a:t>3. MYANMAR'S 2025 CASCADE</a:t>
            </a:r>
          </a:p>
          <a:p>
            <a:pPr>
              <a:spcAft>
                <a:spcPts val="1400"/>
              </a:spcAft>
              <a:defRPr sz="1400" b="1">
                <a:solidFill>
                  <a:srgbClr val="475569"/>
                </a:solidFill>
              </a:defRPr>
            </a:pPr>
            <a:r>
              <a:t>84% Diagnosed – 86% ART – 96% Suppressed</a:t>
            </a:r>
          </a:p>
          <a:p>
            <a:pPr>
              <a:spcAft>
                <a:spcPts val="1200"/>
              </a:spcAft>
              <a:defRPr sz="1480">
                <a:solidFill>
                  <a:srgbClr val="0F172A"/>
                </a:solidFill>
              </a:defRPr>
            </a:pPr>
            <a:r>
              <a:t>•  Myanmar outperforms the Asia-Pacific average (81% Diagnosed, 72% ART Coverage).</a:t>
            </a:r>
          </a:p>
          <a:p>
            <a:pPr>
              <a:spcAft>
                <a:spcPts val="1200"/>
              </a:spcAft>
              <a:defRPr sz="1480">
                <a:solidFill>
                  <a:srgbClr val="0F172A"/>
                </a:solidFill>
              </a:defRPr>
            </a:pPr>
            <a:r>
              <a:t>•  Population viral suppression is 69.4% of all PLHIV in Myanmar (vs. 68.4% in Asia-Pacific).</a:t>
            </a:r>
          </a:p>
          <a:p>
            <a:pPr>
              <a:spcAft>
                <a:spcPts val="1200"/>
              </a:spcAft>
              <a:defRPr sz="1480">
                <a:solidFill>
                  <a:srgbClr val="0F172A"/>
                </a:solidFill>
              </a:defRPr>
            </a:pPr>
            <a:r>
              <a:t>•  Remaining gap: Reaching 83,700 untreated PLHIV (27%) in conflict zones.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FIXED-EFFECTS PANEL MODELING • FIGURE 4 VISUALIZATION</a:t>
            </a:r>
          </a:p>
          <a:p>
            <a:pPr>
              <a:spcBef>
                <a:spcPts val="200"/>
              </a:spcBef>
              <a:defRPr sz="2400" b="1">
                <a:solidFill>
                  <a:srgbClr val="172B4D"/>
                </a:solidFill>
              </a:defRPr>
            </a:pPr>
            <a:r>
              <a:t>Econometric Dose-Response: Lagged ART vs. Mortality</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15 of 22</a:t>
            </a:r>
          </a:p>
        </p:txBody>
      </p:sp>
      <p:sp>
        <p:nvSpPr>
          <p:cNvPr id="5" name="Rectangle 4"/>
          <p:cNvSpPr/>
          <p:nvPr/>
        </p:nvSpPr>
        <p:spPr>
          <a:xfrm>
            <a:off x="640080" y="1170432"/>
            <a:ext cx="10908792" cy="658368"/>
          </a:xfrm>
          <a:prstGeom prst="rect">
            <a:avLst/>
          </a:prstGeom>
          <a:solidFill>
            <a:srgbClr val="EEF2FF"/>
          </a:solidFill>
          <a:ln w="12700">
            <a:solidFill>
              <a:srgbClr val="3730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170432"/>
            <a:ext cx="91440" cy="658368"/>
          </a:xfrm>
          <a:prstGeom prst="rect">
            <a:avLst/>
          </a:prstGeom>
          <a:solidFill>
            <a:srgbClr val="3730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43584"/>
            <a:ext cx="10506456" cy="512064"/>
          </a:xfrm>
          <a:prstGeom prst="rect">
            <a:avLst/>
          </a:prstGeom>
          <a:noFill/>
        </p:spPr>
        <p:txBody>
          <a:bodyPr wrap="square" anchor="ctr" lIns="0" tIns="0" rIns="0" bIns="0">
            <a:spAutoFit/>
          </a:bodyPr>
          <a:lstStyle/>
          <a:p>
            <a:pPr>
              <a:defRPr sz="1400" b="1">
                <a:solidFill>
                  <a:srgbClr val="0F172A"/>
                </a:solidFill>
              </a:defRPr>
            </a:pPr>
            <a:r>
              <a:t>TAKEAWAY: Within-country fixed-effects OLS confirms β = -0.0491 (t = -14.20, p &lt; 0.00001, Within R² = 68.7%, N = 135).</a:t>
            </a:r>
          </a:p>
        </p:txBody>
      </p:sp>
      <p:pic>
        <p:nvPicPr>
          <p:cNvPr id="8" name="Picture 7" descr="fig4_lagged_art_mortality_dose_response.png"/>
          <p:cNvPicPr>
            <a:picLocks noChangeAspect="1"/>
          </p:cNvPicPr>
          <p:nvPr/>
        </p:nvPicPr>
        <p:blipFill>
          <a:blip r:embed="rId2"/>
          <a:stretch>
            <a:fillRect/>
          </a:stretch>
        </p:blipFill>
        <p:spPr>
          <a:xfrm>
            <a:off x="1340377" y="1920240"/>
            <a:ext cx="9510939" cy="440740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ECONOMETRIC PARAMETER ESTIMATES &amp; ROBUSTNESS CHECKS</a:t>
            </a:r>
          </a:p>
          <a:p>
            <a:pPr>
              <a:spcBef>
                <a:spcPts val="200"/>
              </a:spcBef>
              <a:defRPr sz="2400" b="1">
                <a:solidFill>
                  <a:srgbClr val="172B4D"/>
                </a:solidFill>
              </a:defRPr>
            </a:pPr>
            <a:r>
              <a:t>Fixed-Effects Panel Regression Models (2010–2025)</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16 of 22</a:t>
            </a:r>
          </a:p>
        </p:txBody>
      </p:sp>
      <p:graphicFrame>
        <p:nvGraphicFramePr>
          <p:cNvPr id="5" name="Table 4"/>
          <p:cNvGraphicFramePr>
            <a:graphicFrameLocks noGrp="1"/>
          </p:cNvGraphicFramePr>
          <p:nvPr/>
        </p:nvGraphicFramePr>
        <p:xfrm>
          <a:off x="640080" y="1261872"/>
          <a:ext cx="10908792" cy="3520440"/>
        </p:xfrm>
        <a:graphic>
          <a:graphicData uri="http://schemas.openxmlformats.org/drawingml/2006/table">
            <a:tbl>
              <a:tblPr firstRow="1" bandRow="1">
                <a:tableStyleId>{5C22544A-7EE6-4342-B048-85BDC9FD1C3A}</a:tableStyleId>
              </a:tblPr>
              <a:tblGrid>
                <a:gridCol w="2697480"/>
                <a:gridCol w="1965960"/>
                <a:gridCol w="1234440"/>
                <a:gridCol w="1234440"/>
                <a:gridCol w="1234440"/>
                <a:gridCol w="1261872"/>
                <a:gridCol w="1280160"/>
              </a:tblGrid>
              <a:tr h="586740">
                <a:tc>
                  <a:txBody>
                    <a:bodyPr/>
                    <a:lstStyle/>
                    <a:p>
                      <a:pPr>
                        <a:defRPr sz="1350" b="1">
                          <a:solidFill>
                            <a:srgbClr val="FFFFFF"/>
                          </a:solidFill>
                        </a:defRPr>
                      </a:pPr>
                      <a:r>
                        <a:t>Model Specification (Within FE)</a:t>
                      </a:r>
                    </a:p>
                  </a:txBody>
                  <a:tcPr anchor="ctr">
                    <a:solidFill>
                      <a:srgbClr val="172B4D"/>
                    </a:solidFill>
                  </a:tcPr>
                </a:tc>
                <a:tc>
                  <a:txBody>
                    <a:bodyPr/>
                    <a:lstStyle/>
                    <a:p>
                      <a:pPr>
                        <a:defRPr sz="1350" b="1">
                          <a:solidFill>
                            <a:srgbClr val="FFFFFF"/>
                          </a:solidFill>
                        </a:defRPr>
                      </a:pPr>
                      <a:r>
                        <a:t>Regressor</a:t>
                      </a:r>
                    </a:p>
                  </a:txBody>
                  <a:tcPr anchor="ctr">
                    <a:solidFill>
                      <a:srgbClr val="172B4D"/>
                    </a:solidFill>
                  </a:tcPr>
                </a:tc>
                <a:tc>
                  <a:txBody>
                    <a:bodyPr/>
                    <a:lstStyle/>
                    <a:p>
                      <a:pPr>
                        <a:defRPr sz="1350" b="1">
                          <a:solidFill>
                            <a:srgbClr val="FFFFFF"/>
                          </a:solidFill>
                        </a:defRPr>
                      </a:pPr>
                      <a:r>
                        <a:t>Beta Coef</a:t>
                      </a:r>
                    </a:p>
                  </a:txBody>
                  <a:tcPr anchor="ctr">
                    <a:solidFill>
                      <a:srgbClr val="172B4D"/>
                    </a:solidFill>
                  </a:tcPr>
                </a:tc>
                <a:tc>
                  <a:txBody>
                    <a:bodyPr/>
                    <a:lstStyle/>
                    <a:p>
                      <a:pPr>
                        <a:defRPr sz="1350" b="1">
                          <a:solidFill>
                            <a:srgbClr val="FFFFFF"/>
                          </a:solidFill>
                        </a:defRPr>
                      </a:pPr>
                      <a:r>
                        <a:t>Robust SE</a:t>
                      </a:r>
                    </a:p>
                  </a:txBody>
                  <a:tcPr anchor="ctr">
                    <a:solidFill>
                      <a:srgbClr val="172B4D"/>
                    </a:solidFill>
                  </a:tcPr>
                </a:tc>
                <a:tc>
                  <a:txBody>
                    <a:bodyPr/>
                    <a:lstStyle/>
                    <a:p>
                      <a:pPr>
                        <a:defRPr sz="1350" b="1">
                          <a:solidFill>
                            <a:srgbClr val="FFFFFF"/>
                          </a:solidFill>
                        </a:defRPr>
                      </a:pPr>
                      <a:r>
                        <a:t>t-Stat</a:t>
                      </a:r>
                    </a:p>
                  </a:txBody>
                  <a:tcPr anchor="ctr">
                    <a:solidFill>
                      <a:srgbClr val="172B4D"/>
                    </a:solidFill>
                  </a:tcPr>
                </a:tc>
                <a:tc>
                  <a:txBody>
                    <a:bodyPr/>
                    <a:lstStyle/>
                    <a:p>
                      <a:pPr>
                        <a:defRPr sz="1350" b="1">
                          <a:solidFill>
                            <a:srgbClr val="FFFFFF"/>
                          </a:solidFill>
                        </a:defRPr>
                      </a:pPr>
                      <a:r>
                        <a:t>p-Value</a:t>
                      </a:r>
                    </a:p>
                  </a:txBody>
                  <a:tcPr anchor="ctr">
                    <a:solidFill>
                      <a:srgbClr val="172B4D"/>
                    </a:solidFill>
                  </a:tcPr>
                </a:tc>
                <a:tc>
                  <a:txBody>
                    <a:bodyPr/>
                    <a:lstStyle/>
                    <a:p>
                      <a:pPr>
                        <a:defRPr sz="1350" b="1">
                          <a:solidFill>
                            <a:srgbClr val="FFFFFF"/>
                          </a:solidFill>
                        </a:defRPr>
                      </a:pPr>
                      <a:r>
                        <a:t>Within R² (N)</a:t>
                      </a:r>
                    </a:p>
                  </a:txBody>
                  <a:tcPr anchor="ctr">
                    <a:solidFill>
                      <a:srgbClr val="172B4D"/>
                    </a:solidFill>
                  </a:tcPr>
                </a:tc>
              </a:tr>
              <a:tr h="586740">
                <a:tc>
                  <a:txBody>
                    <a:bodyPr/>
                    <a:lstStyle/>
                    <a:p>
                      <a:pPr>
                        <a:defRPr sz="1350" b="1">
                          <a:solidFill>
                            <a:srgbClr val="172B4D"/>
                          </a:solidFill>
                        </a:defRPr>
                      </a:pPr>
                      <a:r>
                        <a:t>Model 1: Contemporaneous ART</a:t>
                      </a:r>
                    </a:p>
                  </a:txBody>
                  <a:tcPr anchor="ctr">
                    <a:solidFill>
                      <a:srgbClr val="FFFFFF"/>
                    </a:solidFill>
                  </a:tcPr>
                </a:tc>
                <a:tc>
                  <a:txBody>
                    <a:bodyPr/>
                    <a:lstStyle/>
                    <a:p>
                      <a:pPr>
                        <a:defRPr sz="1350" b="0">
                          <a:solidFill>
                            <a:srgbClr val="0F172A"/>
                          </a:solidFill>
                        </a:defRPr>
                      </a:pPr>
                      <a:r>
                        <a:t>ART Coverage (t)</a:t>
                      </a:r>
                    </a:p>
                  </a:txBody>
                  <a:tcPr anchor="ctr">
                    <a:solidFill>
                      <a:srgbClr val="FFFFFF"/>
                    </a:solidFill>
                  </a:tcPr>
                </a:tc>
                <a:tc>
                  <a:txBody>
                    <a:bodyPr/>
                    <a:lstStyle/>
                    <a:p>
                      <a:pPr>
                        <a:defRPr sz="1350" b="1">
                          <a:solidFill>
                            <a:srgbClr val="0F172A"/>
                          </a:solidFill>
                        </a:defRPr>
                      </a:pPr>
                      <a:r>
                        <a:t>-0.0514</a:t>
                      </a:r>
                    </a:p>
                  </a:txBody>
                  <a:tcPr anchor="ctr">
                    <a:solidFill>
                      <a:srgbClr val="FFFFFF"/>
                    </a:solidFill>
                  </a:tcPr>
                </a:tc>
                <a:tc>
                  <a:txBody>
                    <a:bodyPr/>
                    <a:lstStyle/>
                    <a:p>
                      <a:pPr>
                        <a:defRPr sz="1350" b="0">
                          <a:solidFill>
                            <a:srgbClr val="0F172A"/>
                          </a:solidFill>
                        </a:defRPr>
                      </a:pPr>
                      <a:r>
                        <a:t>0.0036</a:t>
                      </a:r>
                    </a:p>
                  </a:txBody>
                  <a:tcPr anchor="ctr">
                    <a:solidFill>
                      <a:srgbClr val="FFFFFF"/>
                    </a:solidFill>
                  </a:tcPr>
                </a:tc>
                <a:tc>
                  <a:txBody>
                    <a:bodyPr/>
                    <a:lstStyle/>
                    <a:p>
                      <a:pPr>
                        <a:defRPr sz="1350" b="0">
                          <a:solidFill>
                            <a:srgbClr val="0F172A"/>
                          </a:solidFill>
                        </a:defRPr>
                      </a:pPr>
                      <a:r>
                        <a:t>-14.344</a:t>
                      </a:r>
                    </a:p>
                  </a:txBody>
                  <a:tcPr anchor="ctr">
                    <a:solidFill>
                      <a:srgbClr val="FFFFFF"/>
                    </a:solidFill>
                  </a:tcPr>
                </a:tc>
                <a:tc>
                  <a:txBody>
                    <a:bodyPr/>
                    <a:lstStyle/>
                    <a:p>
                      <a:pPr>
                        <a:defRPr sz="1350" b="1">
                          <a:solidFill>
                            <a:srgbClr val="0F172A"/>
                          </a:solidFill>
                        </a:defRPr>
                      </a:pPr>
                      <a:r>
                        <a:t>&lt; 0.00001</a:t>
                      </a:r>
                    </a:p>
                  </a:txBody>
                  <a:tcPr anchor="ctr">
                    <a:solidFill>
                      <a:srgbClr val="FFFFFF"/>
                    </a:solidFill>
                  </a:tcPr>
                </a:tc>
                <a:tc>
                  <a:txBody>
                    <a:bodyPr/>
                    <a:lstStyle/>
                    <a:p>
                      <a:pPr>
                        <a:defRPr sz="1350" b="0">
                          <a:solidFill>
                            <a:srgbClr val="0F172A"/>
                          </a:solidFill>
                        </a:defRPr>
                      </a:pPr>
                      <a:r>
                        <a:t>0.6868 (N=144)</a:t>
                      </a:r>
                    </a:p>
                  </a:txBody>
                  <a:tcPr anchor="ctr">
                    <a:solidFill>
                      <a:srgbClr val="FFFFFF"/>
                    </a:solidFill>
                  </a:tcPr>
                </a:tc>
              </a:tr>
              <a:tr h="586740">
                <a:tc>
                  <a:txBody>
                    <a:bodyPr/>
                    <a:lstStyle/>
                    <a:p>
                      <a:pPr>
                        <a:defRPr sz="1350" b="1">
                          <a:solidFill>
                            <a:srgbClr val="0D6E66"/>
                          </a:solidFill>
                        </a:defRPr>
                      </a:pPr>
                      <a:r>
                        <a:t>Model 2: 1-Year Lagged ART [Primary]</a:t>
                      </a:r>
                    </a:p>
                  </a:txBody>
                  <a:tcPr anchor="ctr">
                    <a:solidFill>
                      <a:srgbClr val="F0FDFA"/>
                    </a:solidFill>
                  </a:tcPr>
                </a:tc>
                <a:tc>
                  <a:txBody>
                    <a:bodyPr/>
                    <a:lstStyle/>
                    <a:p>
                      <a:pPr>
                        <a:defRPr sz="1350" b="1">
                          <a:solidFill>
                            <a:srgbClr val="0F172A"/>
                          </a:solidFill>
                        </a:defRPr>
                      </a:pPr>
                      <a:r>
                        <a:t>ART Coverage (t-1)</a:t>
                      </a:r>
                    </a:p>
                  </a:txBody>
                  <a:tcPr anchor="ctr">
                    <a:solidFill>
                      <a:srgbClr val="F0FDFA"/>
                    </a:solidFill>
                  </a:tcPr>
                </a:tc>
                <a:tc>
                  <a:txBody>
                    <a:bodyPr/>
                    <a:lstStyle/>
                    <a:p>
                      <a:pPr>
                        <a:defRPr sz="1350" b="1">
                          <a:solidFill>
                            <a:srgbClr val="0D6E66"/>
                          </a:solidFill>
                        </a:defRPr>
                      </a:pPr>
                      <a:r>
                        <a:t>-0.0491</a:t>
                      </a:r>
                    </a:p>
                  </a:txBody>
                  <a:tcPr anchor="ctr">
                    <a:solidFill>
                      <a:srgbClr val="F0FDFA"/>
                    </a:solidFill>
                  </a:tcPr>
                </a:tc>
                <a:tc>
                  <a:txBody>
                    <a:bodyPr/>
                    <a:lstStyle/>
                    <a:p>
                      <a:pPr>
                        <a:defRPr sz="1350" b="1">
                          <a:solidFill>
                            <a:srgbClr val="0F172A"/>
                          </a:solidFill>
                        </a:defRPr>
                      </a:pPr>
                      <a:r>
                        <a:t>0.0035</a:t>
                      </a:r>
                    </a:p>
                  </a:txBody>
                  <a:tcPr anchor="ctr">
                    <a:solidFill>
                      <a:srgbClr val="F0FDFA"/>
                    </a:solidFill>
                  </a:tcPr>
                </a:tc>
                <a:tc>
                  <a:txBody>
                    <a:bodyPr/>
                    <a:lstStyle/>
                    <a:p>
                      <a:pPr>
                        <a:defRPr sz="1350" b="1">
                          <a:solidFill>
                            <a:srgbClr val="0F172A"/>
                          </a:solidFill>
                        </a:defRPr>
                      </a:pPr>
                      <a:r>
                        <a:t>-14.202</a:t>
                      </a:r>
                    </a:p>
                  </a:txBody>
                  <a:tcPr anchor="ctr">
                    <a:solidFill>
                      <a:srgbClr val="F0FDFA"/>
                    </a:solidFill>
                  </a:tcPr>
                </a:tc>
                <a:tc>
                  <a:txBody>
                    <a:bodyPr/>
                    <a:lstStyle/>
                    <a:p>
                      <a:pPr>
                        <a:defRPr sz="1350" b="1">
                          <a:solidFill>
                            <a:srgbClr val="0D6E66"/>
                          </a:solidFill>
                        </a:defRPr>
                      </a:pPr>
                      <a:r>
                        <a:t>&lt; 0.00001</a:t>
                      </a:r>
                    </a:p>
                  </a:txBody>
                  <a:tcPr anchor="ctr">
                    <a:solidFill>
                      <a:srgbClr val="F0FDFA"/>
                    </a:solidFill>
                  </a:tcPr>
                </a:tc>
                <a:tc>
                  <a:txBody>
                    <a:bodyPr/>
                    <a:lstStyle/>
                    <a:p>
                      <a:pPr>
                        <a:defRPr sz="1350" b="1">
                          <a:solidFill>
                            <a:srgbClr val="0F172A"/>
                          </a:solidFill>
                        </a:defRPr>
                      </a:pPr>
                      <a:r>
                        <a:t>0.6874 (N=135)</a:t>
                      </a:r>
                    </a:p>
                  </a:txBody>
                  <a:tcPr anchor="ctr">
                    <a:solidFill>
                      <a:srgbClr val="F0FDFA"/>
                    </a:solidFill>
                  </a:tcPr>
                </a:tc>
              </a:tr>
              <a:tr h="586740">
                <a:tc>
                  <a:txBody>
                    <a:bodyPr/>
                    <a:lstStyle/>
                    <a:p>
                      <a:pPr>
                        <a:defRPr sz="1350" b="1">
                          <a:solidFill>
                            <a:srgbClr val="172B4D"/>
                          </a:solidFill>
                        </a:defRPr>
                      </a:pPr>
                      <a:r>
                        <a:t>Model 3: 2-Year Lagged ART</a:t>
                      </a:r>
                    </a:p>
                  </a:txBody>
                  <a:tcPr anchor="ctr">
                    <a:solidFill>
                      <a:srgbClr val="FFFFFF"/>
                    </a:solidFill>
                  </a:tcPr>
                </a:tc>
                <a:tc>
                  <a:txBody>
                    <a:bodyPr/>
                    <a:lstStyle/>
                    <a:p>
                      <a:pPr>
                        <a:defRPr sz="1350" b="0">
                          <a:solidFill>
                            <a:srgbClr val="0F172A"/>
                          </a:solidFill>
                        </a:defRPr>
                      </a:pPr>
                      <a:r>
                        <a:t>ART Coverage (t-2)</a:t>
                      </a:r>
                    </a:p>
                  </a:txBody>
                  <a:tcPr anchor="ctr">
                    <a:solidFill>
                      <a:srgbClr val="FFFFFF"/>
                    </a:solidFill>
                  </a:tcPr>
                </a:tc>
                <a:tc>
                  <a:txBody>
                    <a:bodyPr/>
                    <a:lstStyle/>
                    <a:p>
                      <a:pPr>
                        <a:defRPr sz="1350" b="1">
                          <a:solidFill>
                            <a:srgbClr val="0F172A"/>
                          </a:solidFill>
                        </a:defRPr>
                      </a:pPr>
                      <a:r>
                        <a:t>-0.0462</a:t>
                      </a:r>
                    </a:p>
                  </a:txBody>
                  <a:tcPr anchor="ctr">
                    <a:solidFill>
                      <a:srgbClr val="FFFFFF"/>
                    </a:solidFill>
                  </a:tcPr>
                </a:tc>
                <a:tc>
                  <a:txBody>
                    <a:bodyPr/>
                    <a:lstStyle/>
                    <a:p>
                      <a:pPr>
                        <a:defRPr sz="1350" b="0">
                          <a:solidFill>
                            <a:srgbClr val="0F172A"/>
                          </a:solidFill>
                        </a:defRPr>
                      </a:pPr>
                      <a:r>
                        <a:t>0.0035</a:t>
                      </a:r>
                    </a:p>
                  </a:txBody>
                  <a:tcPr anchor="ctr">
                    <a:solidFill>
                      <a:srgbClr val="FFFFFF"/>
                    </a:solidFill>
                  </a:tcPr>
                </a:tc>
                <a:tc>
                  <a:txBody>
                    <a:bodyPr/>
                    <a:lstStyle/>
                    <a:p>
                      <a:pPr>
                        <a:defRPr sz="1350" b="0">
                          <a:solidFill>
                            <a:srgbClr val="0F172A"/>
                          </a:solidFill>
                        </a:defRPr>
                      </a:pPr>
                      <a:r>
                        <a:t>-13.302</a:t>
                      </a:r>
                    </a:p>
                  </a:txBody>
                  <a:tcPr anchor="ctr">
                    <a:solidFill>
                      <a:srgbClr val="FFFFFF"/>
                    </a:solidFill>
                  </a:tcPr>
                </a:tc>
                <a:tc>
                  <a:txBody>
                    <a:bodyPr/>
                    <a:lstStyle/>
                    <a:p>
                      <a:pPr>
                        <a:defRPr sz="1350" b="1">
                          <a:solidFill>
                            <a:srgbClr val="0F172A"/>
                          </a:solidFill>
                        </a:defRPr>
                      </a:pPr>
                      <a:r>
                        <a:t>&lt; 0.00001</a:t>
                      </a:r>
                    </a:p>
                  </a:txBody>
                  <a:tcPr anchor="ctr">
                    <a:solidFill>
                      <a:srgbClr val="FFFFFF"/>
                    </a:solidFill>
                  </a:tcPr>
                </a:tc>
                <a:tc>
                  <a:txBody>
                    <a:bodyPr/>
                    <a:lstStyle/>
                    <a:p>
                      <a:pPr>
                        <a:defRPr sz="1350" b="0">
                          <a:solidFill>
                            <a:srgbClr val="0F172A"/>
                          </a:solidFill>
                        </a:defRPr>
                      </a:pPr>
                      <a:r>
                        <a:t>0.6674 (N=126)</a:t>
                      </a:r>
                    </a:p>
                  </a:txBody>
                  <a:tcPr anchor="ctr">
                    <a:solidFill>
                      <a:srgbClr val="FFFFFF"/>
                    </a:solidFill>
                  </a:tcPr>
                </a:tc>
              </a:tr>
              <a:tr h="586740">
                <a:tc>
                  <a:txBody>
                    <a:bodyPr/>
                    <a:lstStyle/>
                    <a:p>
                      <a:pPr>
                        <a:defRPr sz="1350" b="1">
                          <a:solidFill>
                            <a:srgbClr val="172B4D"/>
                          </a:solidFill>
                        </a:defRPr>
                      </a:pPr>
                      <a:r>
                        <a:t>Model 4: Lagged ART + Macro Control</a:t>
                      </a:r>
                    </a:p>
                  </a:txBody>
                  <a:tcPr anchor="ctr">
                    <a:solidFill>
                      <a:srgbClr val="F8FAFC"/>
                    </a:solidFill>
                  </a:tcPr>
                </a:tc>
                <a:tc>
                  <a:txBody>
                    <a:bodyPr/>
                    <a:lstStyle/>
                    <a:p>
                      <a:pPr>
                        <a:defRPr sz="1350" b="0">
                          <a:solidFill>
                            <a:srgbClr val="0F172A"/>
                          </a:solidFill>
                        </a:defRPr>
                      </a:pPr>
                      <a:r>
                        <a:t>ART Coverage (t-1)</a:t>
                      </a:r>
                    </a:p>
                  </a:txBody>
                  <a:tcPr anchor="ctr">
                    <a:solidFill>
                      <a:srgbClr val="F8FAFC"/>
                    </a:solidFill>
                  </a:tcPr>
                </a:tc>
                <a:tc>
                  <a:txBody>
                    <a:bodyPr/>
                    <a:lstStyle/>
                    <a:p>
                      <a:pPr>
                        <a:defRPr sz="1350" b="1">
                          <a:solidFill>
                            <a:srgbClr val="0F172A"/>
                          </a:solidFill>
                        </a:defRPr>
                      </a:pPr>
                      <a:r>
                        <a:t>-0.0624</a:t>
                      </a:r>
                    </a:p>
                  </a:txBody>
                  <a:tcPr anchor="ctr">
                    <a:solidFill>
                      <a:srgbClr val="F8FAFC"/>
                    </a:solidFill>
                  </a:tcPr>
                </a:tc>
                <a:tc>
                  <a:txBody>
                    <a:bodyPr/>
                    <a:lstStyle/>
                    <a:p>
                      <a:pPr>
                        <a:defRPr sz="1350" b="0">
                          <a:solidFill>
                            <a:srgbClr val="0F172A"/>
                          </a:solidFill>
                        </a:defRPr>
                      </a:pPr>
                      <a:r>
                        <a:t>0.0049</a:t>
                      </a:r>
                    </a:p>
                  </a:txBody>
                  <a:tcPr anchor="ctr">
                    <a:solidFill>
                      <a:srgbClr val="F8FAFC"/>
                    </a:solidFill>
                  </a:tcPr>
                </a:tc>
                <a:tc>
                  <a:txBody>
                    <a:bodyPr/>
                    <a:lstStyle/>
                    <a:p>
                      <a:pPr>
                        <a:defRPr sz="1350" b="0">
                          <a:solidFill>
                            <a:srgbClr val="0F172A"/>
                          </a:solidFill>
                        </a:defRPr>
                      </a:pPr>
                      <a:r>
                        <a:t>-12.830</a:t>
                      </a:r>
                    </a:p>
                  </a:txBody>
                  <a:tcPr anchor="ctr">
                    <a:solidFill>
                      <a:srgbClr val="F8FAFC"/>
                    </a:solidFill>
                  </a:tcPr>
                </a:tc>
                <a:tc>
                  <a:txBody>
                    <a:bodyPr/>
                    <a:lstStyle/>
                    <a:p>
                      <a:pPr>
                        <a:defRPr sz="1350" b="1">
                          <a:solidFill>
                            <a:srgbClr val="0F172A"/>
                          </a:solidFill>
                        </a:defRPr>
                      </a:pPr>
                      <a:r>
                        <a:t>&lt; 0.00001</a:t>
                      </a:r>
                    </a:p>
                  </a:txBody>
                  <a:tcPr anchor="ctr">
                    <a:solidFill>
                      <a:srgbClr val="F8FAFC"/>
                    </a:solidFill>
                  </a:tcPr>
                </a:tc>
                <a:tc>
                  <a:txBody>
                    <a:bodyPr/>
                    <a:lstStyle/>
                    <a:p>
                      <a:pPr>
                        <a:defRPr sz="1350" b="0">
                          <a:solidFill>
                            <a:srgbClr val="0F172A"/>
                          </a:solidFill>
                        </a:defRPr>
                      </a:pPr>
                      <a:r>
                        <a:t>0.7307 (N=135)</a:t>
                      </a:r>
                    </a:p>
                  </a:txBody>
                  <a:tcPr anchor="ctr">
                    <a:solidFill>
                      <a:srgbClr val="F8FAFC"/>
                    </a:solidFill>
                  </a:tcPr>
                </a:tc>
              </a:tr>
              <a:tr h="586740">
                <a:tc>
                  <a:txBody>
                    <a:bodyPr/>
                    <a:lstStyle/>
                    <a:p>
                      <a:pPr>
                        <a:defRPr sz="1350" b="1">
                          <a:solidFill>
                            <a:srgbClr val="172B4D"/>
                          </a:solidFill>
                        </a:defRPr>
                      </a:pPr>
                      <a:r>
                        <a:t>Model 4: Lagged ART + Macro Control</a:t>
                      </a:r>
                    </a:p>
                  </a:txBody>
                  <a:tcPr anchor="ctr">
                    <a:solidFill>
                      <a:srgbClr val="FFFFFF"/>
                    </a:solidFill>
                  </a:tcPr>
                </a:tc>
                <a:tc>
                  <a:txBody>
                    <a:bodyPr/>
                    <a:lstStyle/>
                    <a:p>
                      <a:pPr>
                        <a:defRPr sz="1350" b="0">
                          <a:solidFill>
                            <a:srgbClr val="0F172A"/>
                          </a:solidFill>
                        </a:defRPr>
                      </a:pPr>
                      <a:r>
                        <a:t>log(GDP PPP)</a:t>
                      </a:r>
                    </a:p>
                  </a:txBody>
                  <a:tcPr anchor="ctr">
                    <a:solidFill>
                      <a:srgbClr val="FFFFFF"/>
                    </a:solidFill>
                  </a:tcPr>
                </a:tc>
                <a:tc>
                  <a:txBody>
                    <a:bodyPr/>
                    <a:lstStyle/>
                    <a:p>
                      <a:pPr>
                        <a:defRPr sz="1350" b="1">
                          <a:solidFill>
                            <a:srgbClr val="0F172A"/>
                          </a:solidFill>
                        </a:defRPr>
                      </a:pPr>
                      <a:r>
                        <a:t>+1.8376</a:t>
                      </a:r>
                    </a:p>
                  </a:txBody>
                  <a:tcPr anchor="ctr">
                    <a:solidFill>
                      <a:srgbClr val="FFFFFF"/>
                    </a:solidFill>
                  </a:tcPr>
                </a:tc>
                <a:tc>
                  <a:txBody>
                    <a:bodyPr/>
                    <a:lstStyle/>
                    <a:p>
                      <a:pPr>
                        <a:defRPr sz="1350" b="0">
                          <a:solidFill>
                            <a:srgbClr val="0F172A"/>
                          </a:solidFill>
                        </a:defRPr>
                      </a:pPr>
                      <a:r>
                        <a:t>0.5688</a:t>
                      </a:r>
                    </a:p>
                  </a:txBody>
                  <a:tcPr anchor="ctr">
                    <a:solidFill>
                      <a:srgbClr val="FFFFFF"/>
                    </a:solidFill>
                  </a:tcPr>
                </a:tc>
                <a:tc>
                  <a:txBody>
                    <a:bodyPr/>
                    <a:lstStyle/>
                    <a:p>
                      <a:pPr>
                        <a:defRPr sz="1350" b="0">
                          <a:solidFill>
                            <a:srgbClr val="0F172A"/>
                          </a:solidFill>
                        </a:defRPr>
                      </a:pPr>
                      <a:r>
                        <a:t>+3.231</a:t>
                      </a:r>
                    </a:p>
                  </a:txBody>
                  <a:tcPr anchor="ctr">
                    <a:solidFill>
                      <a:srgbClr val="FFFFFF"/>
                    </a:solidFill>
                  </a:tcPr>
                </a:tc>
                <a:tc>
                  <a:txBody>
                    <a:bodyPr/>
                    <a:lstStyle/>
                    <a:p>
                      <a:pPr>
                        <a:defRPr sz="1350" b="1">
                          <a:solidFill>
                            <a:srgbClr val="0F172A"/>
                          </a:solidFill>
                        </a:defRPr>
                      </a:pPr>
                      <a:r>
                        <a:t>0.00123</a:t>
                      </a:r>
                    </a:p>
                  </a:txBody>
                  <a:tcPr anchor="ctr">
                    <a:solidFill>
                      <a:srgbClr val="FFFFFF"/>
                    </a:solidFill>
                  </a:tcPr>
                </a:tc>
                <a:tc>
                  <a:txBody>
                    <a:bodyPr/>
                    <a:lstStyle/>
                    <a:p>
                      <a:pPr>
                        <a:defRPr sz="1350" b="0">
                          <a:solidFill>
                            <a:srgbClr val="0F172A"/>
                          </a:solidFill>
                        </a:defRPr>
                      </a:pPr>
                      <a:r>
                        <a:t>0.7307 (N=135)</a:t>
                      </a:r>
                    </a:p>
                  </a:txBody>
                  <a:tcPr anchor="ctr">
                    <a:solidFill>
                      <a:srgbClr val="FFFFFF"/>
                    </a:solidFill>
                  </a:tcPr>
                </a:tc>
              </a:tr>
            </a:tbl>
          </a:graphicData>
        </a:graphic>
      </p:graphicFrame>
      <p:sp>
        <p:nvSpPr>
          <p:cNvPr id="6" name="Rectangle 5"/>
          <p:cNvSpPr/>
          <p:nvPr/>
        </p:nvSpPr>
        <p:spPr>
          <a:xfrm>
            <a:off x="640080" y="4956048"/>
            <a:ext cx="10908792" cy="1316736"/>
          </a:xfrm>
          <a:prstGeom prst="rect">
            <a:avLst/>
          </a:prstGeom>
          <a:solidFill>
            <a:srgbClr val="F0FDFA"/>
          </a:solidFill>
          <a:ln w="12700">
            <a:solidFill>
              <a:srgbClr val="0D6E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4956048"/>
            <a:ext cx="91440" cy="1316736"/>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5029200"/>
            <a:ext cx="10506456" cy="1170431"/>
          </a:xfrm>
          <a:prstGeom prst="rect">
            <a:avLst/>
          </a:prstGeom>
          <a:noFill/>
        </p:spPr>
        <p:txBody>
          <a:bodyPr wrap="square" anchor="t" lIns="0" tIns="0" rIns="0" bIns="0">
            <a:spAutoFit/>
          </a:bodyPr>
          <a:lstStyle/>
          <a:p>
            <a:pPr>
              <a:spcAft>
                <a:spcPts val="400"/>
              </a:spcAft>
              <a:defRPr sz="1450" b="1">
                <a:solidFill>
                  <a:srgbClr val="0D6E66"/>
                </a:solidFill>
              </a:defRPr>
            </a:pPr>
            <a:r>
              <a:t>CLINICAL EFFECT SIZE TRANSLATION (MODEL 2 &amp; MODEL 4)</a:t>
            </a:r>
          </a:p>
          <a:p>
            <a:pPr>
              <a:defRPr sz="1400">
                <a:solidFill>
                  <a:srgbClr val="0F172A"/>
                </a:solidFill>
              </a:defRPr>
            </a:pPr>
            <a:r>
              <a:t>Every +10 percentage point expansion in lagged ART coverage reduces the PLHIV mortality rate by 0.49 percentage points (or 0.62 pp controlling for log GDP PPP). In Myanmar's cohort of 310,000 PLHIV, each +10 pp ART gain averts ~1,520 AIDS deaths annually.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INTERVIEW DEFENSE GUIDE FOR HEALTHCARE ANALYTICS</a:t>
            </a:r>
          </a:p>
          <a:p>
            <a:pPr>
              <a:spcBef>
                <a:spcPts val="200"/>
              </a:spcBef>
              <a:defRPr sz="2400" b="1">
                <a:solidFill>
                  <a:srgbClr val="172B4D"/>
                </a:solidFill>
              </a:defRPr>
            </a:pPr>
            <a:r>
              <a:t>Methodological Defense: Fixed Effects &amp; Lag Structure</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17 of 22</a:t>
            </a:r>
          </a:p>
        </p:txBody>
      </p:sp>
      <p:sp>
        <p:nvSpPr>
          <p:cNvPr id="5" name="Rectangle 4"/>
          <p:cNvSpPr/>
          <p:nvPr/>
        </p:nvSpPr>
        <p:spPr>
          <a:xfrm>
            <a:off x="640080" y="1261872"/>
            <a:ext cx="534924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261872"/>
            <a:ext cx="5349240" cy="91440"/>
          </a:xfrm>
          <a:prstGeom prst="rect">
            <a:avLst/>
          </a:prstGeom>
          <a:solidFill>
            <a:srgbClr val="3730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481328"/>
            <a:ext cx="4983480" cy="4608576"/>
          </a:xfrm>
          <a:prstGeom prst="rect">
            <a:avLst/>
          </a:prstGeom>
          <a:noFill/>
        </p:spPr>
        <p:txBody>
          <a:bodyPr wrap="square" anchor="t" lIns="0" tIns="0" rIns="0" bIns="0">
            <a:spAutoFit/>
          </a:bodyPr>
          <a:lstStyle/>
          <a:p>
            <a:pPr>
              <a:spcAft>
                <a:spcPts val="400"/>
              </a:spcAft>
              <a:defRPr sz="1650" b="1">
                <a:solidFill>
                  <a:srgbClr val="3730A3"/>
                </a:solidFill>
              </a:defRPr>
            </a:pPr>
            <a:r>
              <a:t>1. WHY FIXED EFFECTS BEAT POOLED OLS</a:t>
            </a:r>
          </a:p>
          <a:p>
            <a:pPr>
              <a:spcAft>
                <a:spcPts val="1400"/>
              </a:spcAft>
              <a:defRPr sz="1400" b="1">
                <a:solidFill>
                  <a:srgbClr val="475569"/>
                </a:solidFill>
              </a:defRPr>
            </a:pPr>
            <a:r>
              <a:t>Eliminating Omitted Variable Bias (Figure 4A vs 4B)</a:t>
            </a:r>
          </a:p>
          <a:p>
            <a:pPr>
              <a:spcAft>
                <a:spcPts val="1200"/>
              </a:spcAft>
              <a:defRPr sz="1500">
                <a:solidFill>
                  <a:srgbClr val="0F172A"/>
                </a:solidFill>
              </a:defRPr>
            </a:pPr>
            <a:r>
              <a:t>•  In raw pooled data (Figure 4A), the Philippines has low mortality (~1%) despite low ART (5%–41%).</a:t>
            </a:r>
          </a:p>
          <a:p>
            <a:pPr>
              <a:spcAft>
                <a:spcPts val="1200"/>
              </a:spcAft>
              <a:defRPr sz="1500">
                <a:solidFill>
                  <a:srgbClr val="0F172A"/>
                </a:solidFill>
              </a:defRPr>
            </a:pPr>
            <a:r>
              <a:t>•  Reason: The Philippine cohort is newly infected and young, not yet at late-stage AIDS.</a:t>
            </a:r>
          </a:p>
          <a:p>
            <a:pPr>
              <a:spcAft>
                <a:spcPts val="1200"/>
              </a:spcAft>
              <a:defRPr sz="1500">
                <a:solidFill>
                  <a:srgbClr val="0F172A"/>
                </a:solidFill>
              </a:defRPr>
            </a:pPr>
            <a:r>
              <a:t>•  Within-country Fixed Effects (Figure 4B) demean each country by its own baseline, isolating the true survival slope (β = -0.0491).</a:t>
            </a:r>
          </a:p>
        </p:txBody>
      </p:sp>
      <p:sp>
        <p:nvSpPr>
          <p:cNvPr id="8" name="Rectangle 7"/>
          <p:cNvSpPr/>
          <p:nvPr/>
        </p:nvSpPr>
        <p:spPr>
          <a:xfrm>
            <a:off x="6199632" y="1261872"/>
            <a:ext cx="534924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99632" y="1261872"/>
            <a:ext cx="5349240" cy="91440"/>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481328"/>
            <a:ext cx="4983480" cy="4608576"/>
          </a:xfrm>
          <a:prstGeom prst="rect">
            <a:avLst/>
          </a:prstGeom>
          <a:noFill/>
        </p:spPr>
        <p:txBody>
          <a:bodyPr wrap="square" anchor="t" lIns="0" tIns="0" rIns="0" bIns="0">
            <a:spAutoFit/>
          </a:bodyPr>
          <a:lstStyle/>
          <a:p>
            <a:pPr>
              <a:spcAft>
                <a:spcPts val="400"/>
              </a:spcAft>
              <a:defRPr sz="1650" b="1">
                <a:solidFill>
                  <a:srgbClr val="0D6E66"/>
                </a:solidFill>
              </a:defRPr>
            </a:pPr>
            <a:r>
              <a:t>2. WHY GDP CONTROL SHARPENED THE SLOPE</a:t>
            </a:r>
          </a:p>
          <a:p>
            <a:pPr>
              <a:spcAft>
                <a:spcPts val="1400"/>
              </a:spcAft>
              <a:defRPr sz="1400" b="1">
                <a:solidFill>
                  <a:srgbClr val="475569"/>
                </a:solidFill>
              </a:defRPr>
            </a:pPr>
            <a:r>
              <a:t>Understanding Model 4 (β = -0.0624, R² = 73.1%)</a:t>
            </a:r>
          </a:p>
          <a:p>
            <a:pPr>
              <a:spcAft>
                <a:spcPts val="1200"/>
              </a:spcAft>
              <a:defRPr sz="1500">
                <a:solidFill>
                  <a:srgbClr val="0F172A"/>
                </a:solidFill>
              </a:defRPr>
            </a:pPr>
            <a:r>
              <a:t>•  From 2010 to 2025, GDP grew across all SEA nations, including Indonesia and the Philippines where deaths rose.</a:t>
            </a:r>
          </a:p>
          <a:p>
            <a:pPr>
              <a:spcAft>
                <a:spcPts val="1200"/>
              </a:spcAft>
              <a:defRPr sz="1500">
                <a:solidFill>
                  <a:srgbClr val="0F172A"/>
                </a:solidFill>
              </a:defRPr>
            </a:pPr>
            <a:r>
              <a:t>•  Controlling for log(GDP PPP) separates secular economic growth from programmatic ART scale-up.</a:t>
            </a:r>
          </a:p>
          <a:p>
            <a:pPr>
              <a:spcAft>
                <a:spcPts val="1200"/>
              </a:spcAft>
              <a:defRPr sz="1500">
                <a:solidFill>
                  <a:srgbClr val="0F172A"/>
                </a:solidFill>
              </a:defRPr>
            </a:pPr>
            <a:r>
              <a:t>•  White's robust standard errors (HC1) account for heteroskedasticity across country sizes.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SOCIOECONOMIC DETERMINANTS • FIGURE 5 VISUALIZATION</a:t>
            </a:r>
          </a:p>
          <a:p>
            <a:pPr>
              <a:spcBef>
                <a:spcPts val="200"/>
              </a:spcBef>
              <a:defRPr sz="2400" b="1">
                <a:solidFill>
                  <a:srgbClr val="172B4D"/>
                </a:solidFill>
              </a:defRPr>
            </a:pPr>
            <a:r>
              <a:t>Macroeconomic Wealth vs. ART Coverage in SEA (2025)</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18 of 22</a:t>
            </a:r>
          </a:p>
        </p:txBody>
      </p:sp>
      <p:sp>
        <p:nvSpPr>
          <p:cNvPr id="5" name="Rectangle 4"/>
          <p:cNvSpPr/>
          <p:nvPr/>
        </p:nvSpPr>
        <p:spPr>
          <a:xfrm>
            <a:off x="640080" y="1170432"/>
            <a:ext cx="10908792" cy="658368"/>
          </a:xfrm>
          <a:prstGeom prst="rect">
            <a:avLst/>
          </a:prstGeom>
          <a:solidFill>
            <a:srgbClr val="F0FDFA"/>
          </a:solidFill>
          <a:ln w="12700">
            <a:solidFill>
              <a:srgbClr val="0D6E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170432"/>
            <a:ext cx="91440" cy="658368"/>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43584"/>
            <a:ext cx="10506456" cy="512064"/>
          </a:xfrm>
          <a:prstGeom prst="rect">
            <a:avLst/>
          </a:prstGeom>
          <a:noFill/>
        </p:spPr>
        <p:txBody>
          <a:bodyPr wrap="square" anchor="ctr" lIns="0" tIns="0" rIns="0" bIns="0">
            <a:spAutoFit/>
          </a:bodyPr>
          <a:lstStyle/>
          <a:p>
            <a:pPr>
              <a:defRPr sz="1400" b="1">
                <a:solidFill>
                  <a:srgbClr val="0F172A"/>
                </a:solidFill>
              </a:defRPr>
            </a:pPr>
            <a:r>
              <a:t>TAKEAWAY: Cross-sectional correlation between GDP per capita (PPP) and ART coverage is weak (r = +0.149), proving policy outweighs wealth.</a:t>
            </a:r>
          </a:p>
        </p:txBody>
      </p:sp>
      <p:pic>
        <p:nvPicPr>
          <p:cNvPr id="8" name="Picture 7" descr="fig5_gdp_vs_art_coverage_disparity.png"/>
          <p:cNvPicPr>
            <a:picLocks noChangeAspect="1"/>
          </p:cNvPicPr>
          <p:nvPr/>
        </p:nvPicPr>
        <p:blipFill>
          <a:blip r:embed="rId2"/>
          <a:stretch>
            <a:fillRect/>
          </a:stretch>
        </p:blipFill>
        <p:spPr>
          <a:xfrm>
            <a:off x="2918125" y="1920240"/>
            <a:ext cx="6355445" cy="440740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POLITICAL ECONOMY OF HIV SERVICE DELIVERY IN SOUTHEAST ASIA</a:t>
            </a:r>
          </a:p>
          <a:p>
            <a:pPr>
              <a:spcBef>
                <a:spcPts val="200"/>
              </a:spcBef>
              <a:defRPr sz="2400" b="1">
                <a:solidFill>
                  <a:srgbClr val="172B4D"/>
                </a:solidFill>
              </a:defRPr>
            </a:pPr>
            <a:r>
              <a:t>The Health Financing Paradox: Why Policy Beats GDP</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19 of 22</a:t>
            </a:r>
          </a:p>
        </p:txBody>
      </p:sp>
      <p:sp>
        <p:nvSpPr>
          <p:cNvPr id="5" name="Rectangle 4"/>
          <p:cNvSpPr/>
          <p:nvPr/>
        </p:nvSpPr>
        <p:spPr>
          <a:xfrm>
            <a:off x="640080"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261872"/>
            <a:ext cx="3474720" cy="91440"/>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481328"/>
            <a:ext cx="3108959" cy="4608576"/>
          </a:xfrm>
          <a:prstGeom prst="rect">
            <a:avLst/>
          </a:prstGeom>
          <a:noFill/>
        </p:spPr>
        <p:txBody>
          <a:bodyPr wrap="square" anchor="t" lIns="0" tIns="0" rIns="0" bIns="0">
            <a:spAutoFit/>
          </a:bodyPr>
          <a:lstStyle/>
          <a:p>
            <a:pPr>
              <a:spcAft>
                <a:spcPts val="400"/>
              </a:spcAft>
              <a:defRPr sz="1600" b="1">
                <a:solidFill>
                  <a:srgbClr val="0D6E66"/>
                </a:solidFill>
              </a:defRPr>
            </a:pPr>
            <a:r>
              <a:t>1. LOW-INCOME OVERACHIEVERS</a:t>
            </a:r>
          </a:p>
          <a:p>
            <a:pPr>
              <a:spcAft>
                <a:spcPts val="1400"/>
              </a:spcAft>
              <a:defRPr sz="1400" b="1">
                <a:solidFill>
                  <a:srgbClr val="475569"/>
                </a:solidFill>
              </a:defRPr>
            </a:pPr>
            <a:r>
              <a:t>Cambodia ($7,300) &amp; Myanmar ($5,137)</a:t>
            </a:r>
          </a:p>
          <a:p>
            <a:pPr>
              <a:spcAft>
                <a:spcPts val="1200"/>
              </a:spcAft>
              <a:defRPr sz="1480">
                <a:solidFill>
                  <a:srgbClr val="0F172A"/>
                </a:solidFill>
              </a:defRPr>
            </a:pPr>
            <a:r>
              <a:t>•  Despite lower-middle income status, Cambodia (95% ART) and Myanmar (73% ART) beat wealthier peers.</a:t>
            </a:r>
          </a:p>
          <a:p>
            <a:pPr>
              <a:spcAft>
                <a:spcPts val="1200"/>
              </a:spcAft>
              <a:defRPr sz="1480">
                <a:solidFill>
                  <a:srgbClr val="0F172A"/>
                </a:solidFill>
              </a:defRPr>
            </a:pPr>
            <a:r>
              <a:t>•  Driven by Global Fund/PEPFAR grants, centralized procurement, and NGO-community clinics.</a:t>
            </a:r>
          </a:p>
          <a:p>
            <a:pPr>
              <a:spcAft>
                <a:spcPts val="1200"/>
              </a:spcAft>
              <a:defRPr sz="1480">
                <a:solidFill>
                  <a:srgbClr val="0F172A"/>
                </a:solidFill>
              </a:defRPr>
            </a:pPr>
            <a:r>
              <a:t>•  Proves donor-backed vertical execution can overcome low national GDP.</a:t>
            </a:r>
          </a:p>
        </p:txBody>
      </p:sp>
      <p:sp>
        <p:nvSpPr>
          <p:cNvPr id="8" name="Rectangle 7"/>
          <p:cNvSpPr/>
          <p:nvPr/>
        </p:nvSpPr>
        <p:spPr>
          <a:xfrm>
            <a:off x="4352544"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52544" y="1261872"/>
            <a:ext cx="3474720" cy="914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3712" y="1481328"/>
            <a:ext cx="3108959" cy="4608576"/>
          </a:xfrm>
          <a:prstGeom prst="rect">
            <a:avLst/>
          </a:prstGeom>
          <a:noFill/>
        </p:spPr>
        <p:txBody>
          <a:bodyPr wrap="square" anchor="t" lIns="0" tIns="0" rIns="0" bIns="0">
            <a:spAutoFit/>
          </a:bodyPr>
          <a:lstStyle/>
          <a:p>
            <a:pPr>
              <a:spcAft>
                <a:spcPts val="400"/>
              </a:spcAft>
              <a:defRPr sz="1600" b="1">
                <a:solidFill>
                  <a:srgbClr val="B91C1C"/>
                </a:solidFill>
              </a:defRPr>
            </a:pPr>
            <a:r>
              <a:t>2. MIDDLE-INCOME LAGGARDS</a:t>
            </a:r>
          </a:p>
          <a:p>
            <a:pPr>
              <a:spcAft>
                <a:spcPts val="1400"/>
              </a:spcAft>
              <a:defRPr sz="1400" b="1">
                <a:solidFill>
                  <a:srgbClr val="475569"/>
                </a:solidFill>
              </a:defRPr>
            </a:pPr>
            <a:r>
              <a:t>Indonesia ($15,091) &amp; Philippines ($10,748)</a:t>
            </a:r>
          </a:p>
          <a:p>
            <a:pPr>
              <a:spcAft>
                <a:spcPts val="1200"/>
              </a:spcAft>
              <a:defRPr sz="1480">
                <a:solidFill>
                  <a:srgbClr val="0F172A"/>
                </a:solidFill>
              </a:defRPr>
            </a:pPr>
            <a:r>
              <a:t>•  Higher national GDP does not automatically reach marginalized key populations.</a:t>
            </a:r>
          </a:p>
          <a:p>
            <a:pPr>
              <a:spcAft>
                <a:spcPts val="1200"/>
              </a:spcAft>
              <a:defRPr sz="1480">
                <a:solidFill>
                  <a:srgbClr val="0F172A"/>
                </a:solidFill>
              </a:defRPr>
            </a:pPr>
            <a:r>
              <a:t>•  Decentralized municipal health financing and stigma against MSM/PWID impede linkage.</a:t>
            </a:r>
          </a:p>
          <a:p>
            <a:pPr>
              <a:spcAft>
                <a:spcPts val="1200"/>
              </a:spcAft>
              <a:defRPr sz="1480">
                <a:solidFill>
                  <a:srgbClr val="0F172A"/>
                </a:solidFill>
              </a:defRPr>
            </a:pPr>
            <a:r>
              <a:t>•  Result: &gt;50% of PLHIV remain untreated despite strong macroeconomic growth.</a:t>
            </a:r>
          </a:p>
        </p:txBody>
      </p:sp>
      <p:sp>
        <p:nvSpPr>
          <p:cNvPr id="11" name="Rectangle 10"/>
          <p:cNvSpPr/>
          <p:nvPr/>
        </p:nvSpPr>
        <p:spPr>
          <a:xfrm>
            <a:off x="8065007"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65007" y="1261872"/>
            <a:ext cx="3474720" cy="91440"/>
          </a:xfrm>
          <a:prstGeom prst="rect">
            <a:avLst/>
          </a:prstGeom>
          <a:solidFill>
            <a:srgbClr val="17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5" y="1481328"/>
            <a:ext cx="3108959" cy="4608576"/>
          </a:xfrm>
          <a:prstGeom prst="rect">
            <a:avLst/>
          </a:prstGeom>
          <a:noFill/>
        </p:spPr>
        <p:txBody>
          <a:bodyPr wrap="square" anchor="t" lIns="0" tIns="0" rIns="0" bIns="0">
            <a:spAutoFit/>
          </a:bodyPr>
          <a:lstStyle/>
          <a:p>
            <a:pPr>
              <a:spcAft>
                <a:spcPts val="400"/>
              </a:spcAft>
              <a:defRPr sz="1600" b="1">
                <a:solidFill>
                  <a:srgbClr val="172B4D"/>
                </a:solidFill>
              </a:defRPr>
            </a:pPr>
            <a:r>
              <a:t>3. DOMESTIC UHC BENCHMARK</a:t>
            </a:r>
          </a:p>
          <a:p>
            <a:pPr>
              <a:spcAft>
                <a:spcPts val="1400"/>
              </a:spcAft>
              <a:defRPr sz="1400" b="1">
                <a:solidFill>
                  <a:srgbClr val="475569"/>
                </a:solidFill>
              </a:defRPr>
            </a:pPr>
            <a:r>
              <a:t>Thailand ($22,432) vs. Malaysia ($35,461)</a:t>
            </a:r>
          </a:p>
          <a:p>
            <a:pPr>
              <a:spcAft>
                <a:spcPts val="1200"/>
              </a:spcAft>
              <a:defRPr sz="1480">
                <a:solidFill>
                  <a:srgbClr val="0F172A"/>
                </a:solidFill>
              </a:defRPr>
            </a:pPr>
            <a:r>
              <a:t>•  Thailand embedded universal ART into its domestic Universal Coverage Scheme (82% ART).</a:t>
            </a:r>
          </a:p>
          <a:p>
            <a:pPr>
              <a:spcAft>
                <a:spcPts val="1200"/>
              </a:spcAft>
              <a:defRPr sz="1480">
                <a:solidFill>
                  <a:srgbClr val="0F172A"/>
                </a:solidFill>
              </a:defRPr>
            </a:pPr>
            <a:r>
              <a:t>•  Malaysia ($35,461 PPP) succeeded in PWID harm reduction but lags in 1st-95 testing (66%).</a:t>
            </a:r>
          </a:p>
          <a:p>
            <a:pPr>
              <a:spcAft>
                <a:spcPts val="1200"/>
              </a:spcAft>
              <a:defRPr sz="1480">
                <a:solidFill>
                  <a:srgbClr val="0F172A"/>
                </a:solidFill>
              </a:defRPr>
            </a:pPr>
            <a:r>
              <a:t>•  Lesson: Domestic UHC financing + stigma-free testing is the gold standard.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SCIENTIFIC TRANSPARENCY &amp; EPIDEMIOLOGICAL RIGOR</a:t>
            </a:r>
          </a:p>
          <a:p>
            <a:pPr>
              <a:spcBef>
                <a:spcPts val="200"/>
              </a:spcBef>
              <a:defRPr sz="2400" b="1">
                <a:solidFill>
                  <a:srgbClr val="172B4D"/>
                </a:solidFill>
              </a:defRPr>
            </a:pPr>
            <a:r>
              <a:t>Methodological Boundaries &amp; Surveillance Limitations</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20 of 22</a:t>
            </a:r>
          </a:p>
        </p:txBody>
      </p:sp>
      <p:sp>
        <p:nvSpPr>
          <p:cNvPr id="5" name="Rectangle 4"/>
          <p:cNvSpPr/>
          <p:nvPr/>
        </p:nvSpPr>
        <p:spPr>
          <a:xfrm>
            <a:off x="640080" y="1261872"/>
            <a:ext cx="5349240" cy="2331720"/>
          </a:xfrm>
          <a:prstGeom prst="rect">
            <a:avLst/>
          </a:prstGeom>
          <a:solidFill>
            <a:srgbClr val="EEF2FF"/>
          </a:solidFill>
          <a:ln w="12700">
            <a:solidFill>
              <a:srgbClr val="172B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261872"/>
            <a:ext cx="109728" cy="2331720"/>
          </a:xfrm>
          <a:prstGeom prst="rect">
            <a:avLst/>
          </a:prstGeom>
          <a:solidFill>
            <a:srgbClr val="17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426463"/>
            <a:ext cx="4928616" cy="2039111"/>
          </a:xfrm>
          <a:prstGeom prst="rect">
            <a:avLst/>
          </a:prstGeom>
          <a:noFill/>
        </p:spPr>
        <p:txBody>
          <a:bodyPr wrap="square" anchor="t" lIns="0" tIns="0" rIns="0" bIns="0">
            <a:spAutoFit/>
          </a:bodyPr>
          <a:lstStyle/>
          <a:p>
            <a:pPr>
              <a:spcAft>
                <a:spcPts val="800"/>
              </a:spcAft>
              <a:defRPr sz="1550" b="1">
                <a:solidFill>
                  <a:srgbClr val="172B4D"/>
                </a:solidFill>
              </a:defRPr>
            </a:pPr>
            <a:r>
              <a:t>1. SPECTRUM / EPP MODELED ESTIMATES</a:t>
            </a:r>
          </a:p>
          <a:p>
            <a:pPr>
              <a:defRPr sz="1450">
                <a:solidFill>
                  <a:srgbClr val="0F172A"/>
                </a:solidFill>
              </a:defRPr>
            </a:pPr>
            <a:r>
              <a:t>National HIV counts are compartmental model outputs calibrated to sentinel surveys, not raw census tallies. Regression slopes reflect both empirical surveillance and structural survival parameters.</a:t>
            </a:r>
          </a:p>
        </p:txBody>
      </p:sp>
      <p:sp>
        <p:nvSpPr>
          <p:cNvPr id="8" name="Rectangle 7"/>
          <p:cNvSpPr/>
          <p:nvPr/>
        </p:nvSpPr>
        <p:spPr>
          <a:xfrm>
            <a:off x="6199632" y="1261872"/>
            <a:ext cx="5349240" cy="2331720"/>
          </a:xfrm>
          <a:prstGeom prst="rect">
            <a:avLst/>
          </a:prstGeom>
          <a:solidFill>
            <a:srgbClr val="FEF2F2"/>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99632" y="1261872"/>
            <a:ext cx="109728" cy="233172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55664" y="1426463"/>
            <a:ext cx="4928616" cy="2039111"/>
          </a:xfrm>
          <a:prstGeom prst="rect">
            <a:avLst/>
          </a:prstGeom>
          <a:noFill/>
        </p:spPr>
        <p:txBody>
          <a:bodyPr wrap="square" anchor="t" lIns="0" tIns="0" rIns="0" bIns="0">
            <a:spAutoFit/>
          </a:bodyPr>
          <a:lstStyle/>
          <a:p>
            <a:pPr>
              <a:spcAft>
                <a:spcPts val="800"/>
              </a:spcAft>
              <a:defRPr sz="1550" b="1">
                <a:solidFill>
                  <a:srgbClr val="B91C1C"/>
                </a:solidFill>
              </a:defRPr>
            </a:pPr>
            <a:r>
              <a:t>2. ECOLOGICAL FALLACY BOUNDARY</a:t>
            </a:r>
          </a:p>
          <a:p>
            <a:pPr>
              <a:defRPr sz="1450">
                <a:solidFill>
                  <a:srgbClr val="0F172A"/>
                </a:solidFill>
              </a:defRPr>
            </a:pPr>
            <a:r>
              <a:t>Our unit of analysis is the country-year (N = 144). Associations demonstrate population-level health-system effectiveness and must not be extrapolated to individual patient hazard ratios.</a:t>
            </a:r>
          </a:p>
        </p:txBody>
      </p:sp>
      <p:sp>
        <p:nvSpPr>
          <p:cNvPr id="11" name="Rectangle 10"/>
          <p:cNvSpPr/>
          <p:nvPr/>
        </p:nvSpPr>
        <p:spPr>
          <a:xfrm>
            <a:off x="640080" y="3803904"/>
            <a:ext cx="5349240" cy="2331720"/>
          </a:xfrm>
          <a:prstGeom prst="rect">
            <a:avLst/>
          </a:prstGeom>
          <a:solidFill>
            <a:srgbClr val="F0FDFA"/>
          </a:solidFill>
          <a:ln w="12700">
            <a:solidFill>
              <a:srgbClr val="0D6E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803904"/>
            <a:ext cx="109728" cy="2331720"/>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968496"/>
            <a:ext cx="4928616" cy="2039111"/>
          </a:xfrm>
          <a:prstGeom prst="rect">
            <a:avLst/>
          </a:prstGeom>
          <a:noFill/>
        </p:spPr>
        <p:txBody>
          <a:bodyPr wrap="square" anchor="t" lIns="0" tIns="0" rIns="0" bIns="0">
            <a:spAutoFit/>
          </a:bodyPr>
          <a:lstStyle/>
          <a:p>
            <a:pPr>
              <a:spcAft>
                <a:spcPts val="800"/>
              </a:spcAft>
              <a:defRPr sz="1550" b="1">
                <a:solidFill>
                  <a:srgbClr val="0D6E66"/>
                </a:solidFill>
              </a:defRPr>
            </a:pPr>
            <a:r>
              <a:t>3. CENSORING &amp; MICROSTATE SUPPRESSION</a:t>
            </a:r>
          </a:p>
          <a:p>
            <a:pPr>
              <a:defRPr sz="1450">
                <a:solidFill>
                  <a:srgbClr val="0F172A"/>
                </a:solidFill>
              </a:defRPr>
            </a:pPr>
            <a:r>
              <a:t>Bounded strings ('&lt;100', '&lt;0.1%', '&gt;98%') are parsed at their numeric threshold, and suppressed microstate cells (Brunei '...', Singapore cascade) are excluded without synthetic imputation.</a:t>
            </a:r>
          </a:p>
        </p:txBody>
      </p:sp>
      <p:sp>
        <p:nvSpPr>
          <p:cNvPr id="14" name="Rectangle 13"/>
          <p:cNvSpPr/>
          <p:nvPr/>
        </p:nvSpPr>
        <p:spPr>
          <a:xfrm>
            <a:off x="6199632" y="3803904"/>
            <a:ext cx="5349240" cy="2331720"/>
          </a:xfrm>
          <a:prstGeom prst="rect">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3803904"/>
            <a:ext cx="109728" cy="2331720"/>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5664" y="3968496"/>
            <a:ext cx="4928616" cy="2039111"/>
          </a:xfrm>
          <a:prstGeom prst="rect">
            <a:avLst/>
          </a:prstGeom>
          <a:noFill/>
        </p:spPr>
        <p:txBody>
          <a:bodyPr wrap="square" anchor="t" lIns="0" tIns="0" rIns="0" bIns="0">
            <a:spAutoFit/>
          </a:bodyPr>
          <a:lstStyle/>
          <a:p>
            <a:pPr>
              <a:spcAft>
                <a:spcPts val="800"/>
              </a:spcAft>
              <a:defRPr sz="1550" b="1">
                <a:solidFill>
                  <a:srgbClr val="B45309"/>
                </a:solidFill>
              </a:defRPr>
            </a:pPr>
            <a:r>
              <a:t>4. SUB-NATIONAL CONFLICT HETEROGENEITY</a:t>
            </a:r>
          </a:p>
          <a:p>
            <a:pPr>
              <a:defRPr sz="1450">
                <a:solidFill>
                  <a:srgbClr val="0F172A"/>
                </a:solidFill>
              </a:defRPr>
            </a:pPr>
            <a:r>
              <a:t>National aggregates for Myanmar mask disparities between urban centers (Yangon, Mandalay) and conflict-affected border states (Kachin, Shan, Sagaing) where clinic disruptions are sharpest.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37744"/>
            <a:ext cx="10908792" cy="841248"/>
          </a:xfrm>
          <a:prstGeom prst="rect">
            <a:avLst/>
          </a:prstGeom>
          <a:noFill/>
        </p:spPr>
        <p:txBody>
          <a:bodyPr wrap="square" lIns="0" tIns="0" rIns="0" bIns="0">
            <a:spAutoFit/>
          </a:bodyPr>
          <a:lstStyle/>
          <a:p>
            <a:pPr>
              <a:defRPr sz="1100" b="1">
                <a:solidFill>
                  <a:srgbClr val="B91C1C"/>
                </a:solidFill>
              </a:defRPr>
            </a:pPr>
            <a:r>
              <a:t>EVIDENCE-BASED INTERVENTIONS BY EPIDEMIOLOGICAL ARCHETYPE</a:t>
            </a:r>
          </a:p>
          <a:p>
            <a:pPr>
              <a:spcBef>
                <a:spcPts val="200"/>
              </a:spcBef>
              <a:defRPr sz="2400" b="1">
                <a:solidFill>
                  <a:srgbClr val="172B4D"/>
                </a:solidFill>
              </a:defRPr>
            </a:pPr>
            <a:r>
              <a:t>Actionable Public-Health &amp; Clinical Recommendations</a:t>
            </a:r>
          </a:p>
        </p:txBody>
      </p:sp>
      <p:sp>
        <p:nvSpPr>
          <p:cNvPr id="3" name="Rectangle 2"/>
          <p:cNvSpPr/>
          <p:nvPr/>
        </p:nvSpPr>
        <p:spPr>
          <a:xfrm>
            <a:off x="640080" y="1078992"/>
            <a:ext cx="10908792"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92240"/>
            <a:ext cx="10908792" cy="274320"/>
          </a:xfrm>
          <a:prstGeom prst="rect">
            <a:avLst/>
          </a:prstGeom>
          <a:noFill/>
        </p:spPr>
        <p:txBody>
          <a:bodyPr wrap="none" lIns="0" tIns="0" rIns="0" bIns="0">
            <a:spAutoFit/>
          </a:bodyPr>
          <a:lstStyle/>
          <a:p>
            <a:pPr>
              <a:defRPr sz="1050">
                <a:solidFill>
                  <a:srgbClr val="475569"/>
                </a:solidFill>
              </a:defRPr>
            </a:pPr>
            <a:r>
              <a:t>HIV Epidemiological Trends &amp; Treatment Disparities in Southeast Asia (1990–2025)   |   UNAIDS 2026 • WHO GHO • World Bank WDI   |   Slide 21 of 22</a:t>
            </a:r>
          </a:p>
        </p:txBody>
      </p:sp>
      <p:sp>
        <p:nvSpPr>
          <p:cNvPr id="5" name="Rectangle 4"/>
          <p:cNvSpPr/>
          <p:nvPr/>
        </p:nvSpPr>
        <p:spPr>
          <a:xfrm>
            <a:off x="640080"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261872"/>
            <a:ext cx="3474720" cy="9144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481328"/>
            <a:ext cx="3108959" cy="4608576"/>
          </a:xfrm>
          <a:prstGeom prst="rect">
            <a:avLst/>
          </a:prstGeom>
          <a:noFill/>
        </p:spPr>
        <p:txBody>
          <a:bodyPr wrap="square" anchor="t" lIns="0" tIns="0" rIns="0" bIns="0">
            <a:spAutoFit/>
          </a:bodyPr>
          <a:lstStyle/>
          <a:p>
            <a:pPr>
              <a:spcAft>
                <a:spcPts val="400"/>
              </a:spcAft>
              <a:defRPr sz="1600" b="1">
                <a:solidFill>
                  <a:srgbClr val="B91C1C"/>
                </a:solidFill>
              </a:defRPr>
            </a:pPr>
            <a:r>
              <a:t>1. MYANMAR (ARCHETYPE B)</a:t>
            </a:r>
          </a:p>
          <a:p>
            <a:pPr>
              <a:spcAft>
                <a:spcPts val="1400"/>
              </a:spcAft>
              <a:defRPr sz="1400" b="1">
                <a:solidFill>
                  <a:srgbClr val="475569"/>
                </a:solidFill>
              </a:defRPr>
            </a:pPr>
            <a:r>
              <a:t>Conflict-Resilient HIV Care</a:t>
            </a:r>
          </a:p>
          <a:p>
            <a:pPr>
              <a:spcAft>
                <a:spcPts val="1200"/>
              </a:spcAft>
              <a:defRPr sz="1480">
                <a:solidFill>
                  <a:srgbClr val="0F172A"/>
                </a:solidFill>
              </a:defRPr>
            </a:pPr>
            <a:r>
              <a:t>•  Scale 6-month Multi-Month Dispensing (MMD) of TLD to buffer supply-chain shocks.</a:t>
            </a:r>
          </a:p>
          <a:p>
            <a:pPr>
              <a:spcAft>
                <a:spcPts val="1200"/>
              </a:spcAft>
              <a:defRPr sz="1480">
                <a:solidFill>
                  <a:srgbClr val="0F172A"/>
                </a:solidFill>
              </a:defRPr>
            </a:pPr>
            <a:r>
              <a:t>•  Expand mobile NGO and peer-led ART delivery in conflict zones (Kachin, Shan, Sagaing).</a:t>
            </a:r>
          </a:p>
          <a:p>
            <a:pPr>
              <a:spcAft>
                <a:spcPts val="1200"/>
              </a:spcAft>
              <a:defRPr sz="1480">
                <a:solidFill>
                  <a:srgbClr val="0F172A"/>
                </a:solidFill>
              </a:defRPr>
            </a:pPr>
            <a:r>
              <a:t>•  Deploy portable patient records for internally displaced PLHIV.</a:t>
            </a:r>
          </a:p>
        </p:txBody>
      </p:sp>
      <p:sp>
        <p:nvSpPr>
          <p:cNvPr id="8" name="Rectangle 7"/>
          <p:cNvSpPr/>
          <p:nvPr/>
        </p:nvSpPr>
        <p:spPr>
          <a:xfrm>
            <a:off x="4352544"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52544" y="1261872"/>
            <a:ext cx="3474720" cy="91440"/>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3712" y="1481328"/>
            <a:ext cx="3108959" cy="4608576"/>
          </a:xfrm>
          <a:prstGeom prst="rect">
            <a:avLst/>
          </a:prstGeom>
          <a:noFill/>
        </p:spPr>
        <p:txBody>
          <a:bodyPr wrap="square" anchor="t" lIns="0" tIns="0" rIns="0" bIns="0">
            <a:spAutoFit/>
          </a:bodyPr>
          <a:lstStyle/>
          <a:p>
            <a:pPr>
              <a:spcAft>
                <a:spcPts val="400"/>
              </a:spcAft>
              <a:defRPr sz="1600" b="1">
                <a:solidFill>
                  <a:srgbClr val="B45309"/>
                </a:solidFill>
              </a:defRPr>
            </a:pPr>
            <a:r>
              <a:t>2. PHILIPPINES &amp; INDONESIA</a:t>
            </a:r>
          </a:p>
          <a:p>
            <a:pPr>
              <a:spcAft>
                <a:spcPts val="1400"/>
              </a:spcAft>
              <a:defRPr sz="1400" b="1">
                <a:solidFill>
                  <a:srgbClr val="475569"/>
                </a:solidFill>
              </a:defRPr>
            </a:pPr>
            <a:r>
              <a:t>Emergency Testing &amp; Linkage</a:t>
            </a:r>
          </a:p>
          <a:p>
            <a:pPr>
              <a:spcAft>
                <a:spcPts val="1200"/>
              </a:spcAft>
              <a:defRPr sz="1480">
                <a:solidFill>
                  <a:srgbClr val="0F172A"/>
                </a:solidFill>
              </a:defRPr>
            </a:pPr>
            <a:r>
              <a:t>•  Remove adolescent consent barriers and scale up HIV self-testing &amp; PrEP in the Philippines.</a:t>
            </a:r>
          </a:p>
          <a:p>
            <a:pPr>
              <a:spcAft>
                <a:spcPts val="1200"/>
              </a:spcAft>
              <a:defRPr sz="1480">
                <a:solidFill>
                  <a:srgbClr val="0F172A"/>
                </a:solidFill>
              </a:defRPr>
            </a:pPr>
            <a:r>
              <a:t>•  Mandate Same-Day ART Initiation to close Indonesia's 28% linkage gap.</a:t>
            </a:r>
          </a:p>
          <a:p>
            <a:pPr>
              <a:spcAft>
                <a:spcPts val="1200"/>
              </a:spcAft>
              <a:defRPr sz="1480">
                <a:solidFill>
                  <a:srgbClr val="0F172A"/>
                </a:solidFill>
              </a:defRPr>
            </a:pPr>
            <a:r>
              <a:t>•  Prioritize the 438,700 untreated PLHIV across both countries.</a:t>
            </a:r>
          </a:p>
        </p:txBody>
      </p:sp>
      <p:sp>
        <p:nvSpPr>
          <p:cNvPr id="11" name="Rectangle 10"/>
          <p:cNvSpPr/>
          <p:nvPr/>
        </p:nvSpPr>
        <p:spPr>
          <a:xfrm>
            <a:off x="8065007" y="1261872"/>
            <a:ext cx="3474720" cy="4956048"/>
          </a:xfrm>
          <a:prstGeom prst="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65007" y="1261872"/>
            <a:ext cx="3474720" cy="91440"/>
          </a:xfrm>
          <a:prstGeom prst="rect">
            <a:avLst/>
          </a:prstGeom>
          <a:solidFill>
            <a:srgbClr val="0D6E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5" y="1481328"/>
            <a:ext cx="3108959" cy="4608576"/>
          </a:xfrm>
          <a:prstGeom prst="rect">
            <a:avLst/>
          </a:prstGeom>
          <a:noFill/>
        </p:spPr>
        <p:txBody>
          <a:bodyPr wrap="square" anchor="t" lIns="0" tIns="0" rIns="0" bIns="0">
            <a:spAutoFit/>
          </a:bodyPr>
          <a:lstStyle/>
          <a:p>
            <a:pPr>
              <a:spcAft>
                <a:spcPts val="400"/>
              </a:spcAft>
              <a:defRPr sz="1600" b="1">
                <a:solidFill>
                  <a:srgbClr val="0D6E66"/>
                </a:solidFill>
              </a:defRPr>
            </a:pPr>
            <a:r>
              <a:t>3. THAILAND, CAMBODIA &amp; VIET NAM</a:t>
            </a:r>
          </a:p>
          <a:p>
            <a:pPr>
              <a:spcAft>
                <a:spcPts val="1400"/>
              </a:spcAft>
              <a:defRPr sz="1400" b="1">
                <a:solidFill>
                  <a:srgbClr val="475569"/>
                </a:solidFill>
              </a:defRPr>
            </a:pPr>
            <a:r>
              <a:t>Last-Mile Elimination &amp; UHC</a:t>
            </a:r>
          </a:p>
          <a:p>
            <a:pPr>
              <a:spcAft>
                <a:spcPts val="1200"/>
              </a:spcAft>
              <a:defRPr sz="1480">
                <a:solidFill>
                  <a:srgbClr val="0F172A"/>
                </a:solidFill>
              </a:defRPr>
            </a:pPr>
            <a:r>
              <a:t>•  Transition donor-funded key-population clinics into domestic UHC budgets.</a:t>
            </a:r>
          </a:p>
          <a:p>
            <a:pPr>
              <a:spcAft>
                <a:spcPts val="1200"/>
              </a:spcAft>
              <a:defRPr sz="1480">
                <a:solidFill>
                  <a:srgbClr val="0F172A"/>
                </a:solidFill>
              </a:defRPr>
            </a:pPr>
            <a:r>
              <a:t>•  Deploy index-partner testing and long-acting injectable PrEP (CAB-LA).</a:t>
            </a:r>
          </a:p>
          <a:p>
            <a:pPr>
              <a:spcAft>
                <a:spcPts val="1200"/>
              </a:spcAft>
              <a:defRPr sz="1480">
                <a:solidFill>
                  <a:srgbClr val="0F172A"/>
                </a:solidFill>
              </a:defRPr>
            </a:pPr>
            <a:r>
              <a:t>•  Institutionalize ASEAN cross-border surveillance exchanges.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1143000"/>
          </a:xfrm>
          <a:prstGeom prst="rect">
            <a:avLst/>
          </a:prstGeom>
          <a:noFill/>
        </p:spPr>
        <p:txBody>
          <a:bodyPr wrap="square">
            <a:spAutoFit/>
          </a:bodyPr>
          <a:lstStyle/>
          <a:p>
            <a:pPr>
              <a:spcAft>
                <a:spcPts val="400"/>
              </a:spcAft>
              <a:defRPr sz="1350" b="1">
                <a:solidFill>
                  <a:srgbClr val="5EEAD4"/>
                </a:solidFill>
              </a:defRPr>
            </a:pPr>
            <a:r>
              <a:t>EXECUTIVE SUMMARY &amp; PORTFOLIO TAKEAWAYS</a:t>
            </a:r>
          </a:p>
          <a:p>
            <a:pPr>
              <a:defRPr sz="2600" b="1">
                <a:solidFill>
                  <a:srgbClr val="FFFFFF"/>
                </a:solidFill>
              </a:defRPr>
            </a:pPr>
            <a:r>
              <a:t>Bridging Clinical Medicine, Surveillance &amp; Data Engineering</a:t>
            </a:r>
          </a:p>
        </p:txBody>
      </p:sp>
      <p:sp>
        <p:nvSpPr>
          <p:cNvPr id="4" name="Rectangle 3"/>
          <p:cNvSpPr/>
          <p:nvPr/>
        </p:nvSpPr>
        <p:spPr>
          <a:xfrm>
            <a:off x="685800" y="1737360"/>
            <a:ext cx="5285232" cy="1901952"/>
          </a:xfrm>
          <a:prstGeom prst="rect">
            <a:avLst/>
          </a:prstGeom>
          <a:solidFill>
            <a:srgbClr val="1B365D"/>
          </a:solidFill>
          <a:ln w="1524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a:lstStyle/>
          <a:p>
            <a:pPr algn="ctr">
              <a:spcAft>
                <a:spcPts val="300"/>
              </a:spcAft>
              <a:defRPr sz="1350" b="1">
                <a:solidFill>
                  <a:srgbClr val="F87171"/>
                </a:solidFill>
              </a:defRPr>
            </a:pPr>
            <a:r>
              <a:t>1. VERIFIED MULTI-SOURCE PIPELINE</a:t>
            </a:r>
          </a:p>
          <a:p>
            <a:pPr>
              <a:spcAft>
                <a:spcPts val="500"/>
              </a:spcAft>
              <a:defRPr sz="1650" b="1">
                <a:solidFill>
                  <a:srgbClr val="5EEAD4"/>
                </a:solidFill>
              </a:defRPr>
            </a:pPr>
            <a:r>
              <a:t>6,624 Global Country-Years (1990–2025)</a:t>
            </a:r>
          </a:p>
          <a:p>
            <a:pPr>
              <a:defRPr sz="1380">
                <a:solidFill>
                  <a:srgbClr val="E2E8F0"/>
                </a:solidFill>
              </a:defRPr>
            </a:pPr>
            <a:r>
              <a:t>End-to-end Python &amp; SQLite star-schema pipeline integrating UNAIDS 2026, WHO GHO, and World Bank WDI with 100% programmatic reconciliation.</a:t>
            </a:r>
          </a:p>
        </p:txBody>
      </p:sp>
      <p:sp>
        <p:nvSpPr>
          <p:cNvPr id="5" name="Rectangle 4"/>
          <p:cNvSpPr/>
          <p:nvPr/>
        </p:nvSpPr>
        <p:spPr>
          <a:xfrm>
            <a:off x="6208776" y="1737360"/>
            <a:ext cx="5285232" cy="1901952"/>
          </a:xfrm>
          <a:prstGeom prst="rect">
            <a:avLst/>
          </a:prstGeom>
          <a:solidFill>
            <a:srgbClr val="1B365D"/>
          </a:solidFill>
          <a:ln w="1524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a:lstStyle/>
          <a:p>
            <a:pPr algn="ctr">
              <a:spcAft>
                <a:spcPts val="300"/>
              </a:spcAft>
              <a:defRPr sz="1350" b="1">
                <a:solidFill>
                  <a:srgbClr val="F87171"/>
                </a:solidFill>
              </a:defRPr>
            </a:pPr>
            <a:r>
              <a:t>2. MYANMAR'S TRIUMPH &amp; FRAGILITY</a:t>
            </a:r>
          </a:p>
          <a:p>
            <a:pPr>
              <a:spcAft>
                <a:spcPts val="500"/>
              </a:spcAft>
              <a:defRPr sz="1650" b="1">
                <a:solidFill>
                  <a:srgbClr val="5EEAD4"/>
                </a:solidFill>
              </a:defRPr>
            </a:pPr>
            <a:r>
              <a:t>-63.3% Deaths (2010–25) | +11.6% Crisis Spike (2022)</a:t>
            </a:r>
          </a:p>
          <a:p>
            <a:pPr>
              <a:defRPr sz="1380">
                <a:solidFill>
                  <a:srgbClr val="E2E8F0"/>
                </a:solidFill>
              </a:defRPr>
            </a:pPr>
            <a:r>
              <a:t>Rapid ART expansion (12% → 73%) saved tens of thousands of lives, while the 2021–2022 rebound proves uninterrupted ART supply chains are vital.</a:t>
            </a:r>
          </a:p>
        </p:txBody>
      </p:sp>
      <p:sp>
        <p:nvSpPr>
          <p:cNvPr id="6" name="Rectangle 5"/>
          <p:cNvSpPr/>
          <p:nvPr/>
        </p:nvSpPr>
        <p:spPr>
          <a:xfrm>
            <a:off x="685800" y="3858768"/>
            <a:ext cx="5285232" cy="1901952"/>
          </a:xfrm>
          <a:prstGeom prst="rect">
            <a:avLst/>
          </a:prstGeom>
          <a:solidFill>
            <a:srgbClr val="1B365D"/>
          </a:solidFill>
          <a:ln w="1524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a:lstStyle/>
          <a:p>
            <a:pPr algn="ctr">
              <a:spcAft>
                <a:spcPts val="300"/>
              </a:spcAft>
              <a:defRPr sz="1350" b="1">
                <a:solidFill>
                  <a:srgbClr val="F87171"/>
                </a:solidFill>
              </a:defRPr>
            </a:pPr>
            <a:r>
              <a:t>3. REGIONAL BIFURCATION</a:t>
            </a:r>
          </a:p>
          <a:p>
            <a:pPr>
              <a:spcAft>
                <a:spcPts val="500"/>
              </a:spcAft>
              <a:defRPr sz="1650" b="1">
                <a:solidFill>
                  <a:srgbClr val="5EEAD4"/>
                </a:solidFill>
              </a:defRPr>
            </a:pPr>
            <a:r>
              <a:t>58.8% of Untreated HIV in Indonesia &amp; Philippines</a:t>
            </a:r>
          </a:p>
          <a:p>
            <a:pPr>
              <a:defRPr sz="1380">
                <a:solidFill>
                  <a:srgbClr val="E2E8F0"/>
                </a:solidFill>
              </a:defRPr>
            </a:pPr>
            <a:r>
              <a:t>While Cambodia (95% ART) and Thailand (82% ART) near epidemic control, the Philippines (+639% new infections) and Indonesia (291.2k untreated) lag.</a:t>
            </a:r>
          </a:p>
        </p:txBody>
      </p:sp>
      <p:sp>
        <p:nvSpPr>
          <p:cNvPr id="7" name="Rectangle 6"/>
          <p:cNvSpPr/>
          <p:nvPr/>
        </p:nvSpPr>
        <p:spPr>
          <a:xfrm>
            <a:off x="6208776" y="3858768"/>
            <a:ext cx="5285232" cy="1901952"/>
          </a:xfrm>
          <a:prstGeom prst="rect">
            <a:avLst/>
          </a:prstGeom>
          <a:solidFill>
            <a:srgbClr val="1B365D"/>
          </a:solidFill>
          <a:ln w="1524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a:lstStyle/>
          <a:p>
            <a:pPr algn="ctr">
              <a:spcAft>
                <a:spcPts val="300"/>
              </a:spcAft>
              <a:defRPr sz="1350" b="1">
                <a:solidFill>
                  <a:srgbClr val="F87171"/>
                </a:solidFill>
              </a:defRPr>
            </a:pPr>
            <a:r>
              <a:t>4. ECONOMETRIC PROOF OF ART IMPACT</a:t>
            </a:r>
          </a:p>
          <a:p>
            <a:pPr>
              <a:spcAft>
                <a:spcPts val="500"/>
              </a:spcAft>
              <a:defRPr sz="1650" b="1">
                <a:solidFill>
                  <a:srgbClr val="5EEAD4"/>
                </a:solidFill>
              </a:defRPr>
            </a:pPr>
            <a:r>
              <a:t>β = -0.0491 (p &lt; 0.00001, Within R² = 68.7%)</a:t>
            </a:r>
          </a:p>
          <a:p>
            <a:pPr>
              <a:defRPr sz="1380">
                <a:solidFill>
                  <a:srgbClr val="E2E8F0"/>
                </a:solidFill>
              </a:defRPr>
            </a:pPr>
            <a:r>
              <a:t>Fixed-effects panel modeling proves that within-country ART expansion—not aggregate GDP per capita (r = +0.149)—drives AIDS survival.</a:t>
            </a:r>
          </a:p>
        </p:txBody>
      </p:sp>
      <p:sp>
        <p:nvSpPr>
          <p:cNvPr id="8" name="TextBox 7"/>
          <p:cNvSpPr txBox="1"/>
          <p:nvPr/>
        </p:nvSpPr>
        <p:spPr>
          <a:xfrm>
            <a:off x="685800" y="6172200"/>
            <a:ext cx="10817352" cy="411480"/>
          </a:xfrm>
          <a:prstGeom prst="rect">
            <a:avLst/>
          </a:prstGeom>
          <a:noFill/>
        </p:spPr>
        <p:txBody>
          <a:bodyPr wrap="none">
            <a:spAutoFit/>
          </a:bodyPr>
          <a:lstStyle/>
          <a:p>
            <a:pPr>
              <a:defRPr sz="1400" b="1">
                <a:solidFill>
                  <a:srgbClr val="FFFFFF"/>
                </a:solidFill>
              </a:defRPr>
            </a:pPr>
            <a:r>
              <a:t>Thank You  •  Clinical &amp; Epidemiological Research Portfolio  •  Slide 22 of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